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521" r:id="rId2"/>
    <p:sldId id="478" r:id="rId3"/>
    <p:sldId id="479" r:id="rId4"/>
    <p:sldId id="480" r:id="rId5"/>
    <p:sldId id="481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89" r:id="rId14"/>
    <p:sldId id="490" r:id="rId15"/>
    <p:sldId id="491" r:id="rId16"/>
    <p:sldId id="492" r:id="rId17"/>
    <p:sldId id="493" r:id="rId18"/>
    <p:sldId id="494" r:id="rId19"/>
    <p:sldId id="495" r:id="rId20"/>
    <p:sldId id="496" r:id="rId21"/>
    <p:sldId id="497" r:id="rId22"/>
    <p:sldId id="498" r:id="rId23"/>
    <p:sldId id="499" r:id="rId24"/>
    <p:sldId id="500" r:id="rId25"/>
    <p:sldId id="501" r:id="rId26"/>
    <p:sldId id="502" r:id="rId27"/>
    <p:sldId id="503" r:id="rId28"/>
    <p:sldId id="504" r:id="rId29"/>
    <p:sldId id="505" r:id="rId30"/>
    <p:sldId id="506" r:id="rId31"/>
    <p:sldId id="507" r:id="rId32"/>
    <p:sldId id="508" r:id="rId33"/>
    <p:sldId id="509" r:id="rId34"/>
    <p:sldId id="510" r:id="rId35"/>
    <p:sldId id="511" r:id="rId36"/>
    <p:sldId id="512" r:id="rId37"/>
    <p:sldId id="513" r:id="rId38"/>
    <p:sldId id="514" r:id="rId39"/>
  </p:sldIdLst>
  <p:sldSz cx="9144000" cy="6858000" type="screen4x3"/>
  <p:notesSz cx="6815138" cy="99425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758FB7-9AC5-4552-8A53-C91805E547F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3827" autoAdjust="0"/>
  </p:normalViewPr>
  <p:slideViewPr>
    <p:cSldViewPr>
      <p:cViewPr varScale="1">
        <p:scale>
          <a:sx n="70" d="100"/>
          <a:sy n="70" d="100"/>
        </p:scale>
        <p:origin x="14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10" y="-114"/>
      </p:cViewPr>
      <p:guideLst>
        <p:guide orient="horz" pos="3131"/>
        <p:guide pos="214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5B97CBE-4E16-4847-B690-C4A90BEDF99F}" type="datetimeFigureOut">
              <a:rPr lang="en-US"/>
              <a:pPr>
                <a:defRPr/>
              </a:pPr>
              <a:t>9/11/2019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C9E4FAF-225F-412F-8374-FF413E4C94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759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D30CD00E-197B-463E-98AE-2C100BF06E5A}" type="datetimeFigureOut">
              <a:rPr lang="en-US"/>
              <a:pPr>
                <a:defRPr/>
              </a:pPr>
              <a:t>9/11/2019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6E1937E-5A24-47FD-8723-8D8583C981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1953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710D-18EA-4B2B-BFF6-FDFE3B66D46A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294EA-8315-48A7-A93E-CA235213E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A98A5-6492-456E-824E-9937D8089036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1929E-A8FD-45A2-A0DC-D0F6D11D0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B4927-7867-47B8-871E-8CBD1F5BF23E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53AF5-9321-4270-93A4-0B3674DC44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3218E-25A8-43A0-8475-7D4F74DD46AC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4E1C7-0DBB-4CD3-A326-A1676FFE5B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DD393-6574-4C72-BA1B-E07E807F20E4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4EF39-34DA-4529-BB8B-64C86B369F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17A19-BAC2-4937-B433-B1F4A32EE257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B736A-8B19-4EDA-B036-C53F4ACDA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60645-E957-4302-B5A0-3EAD58BD9A66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65CB7-4666-4C76-84AA-03CBB0B143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76F0E-04ED-42C8-B888-08182102C158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CD3-5BAD-4D2F-B6B0-76E8F28E7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4FE17-045E-4442-975E-9BCB75A1EE02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DF9BC-1917-4353-A2C5-73A856FAD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DA54E-838B-47FB-B688-0A024F7A6C91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17AFE-5348-4F7E-98F6-A120818F4E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464C9-1FD5-4C33-BE3A-62C8B418C5B6}" type="datetime1">
              <a:rPr lang="en-US"/>
              <a:pPr>
                <a:defRPr/>
              </a:pPr>
              <a:t>9/11/2019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02E8E-4BB1-4FD2-9235-7318FC91C5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IGIS slide background 1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3E491C9F-E0CF-443B-A670-78CC14DAD356}" type="datetime1">
              <a:rPr lang="en-US"/>
              <a:pPr>
                <a:defRPr/>
              </a:pPr>
              <a:t>9/11/2019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75200" y="6446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Slide  No. </a:t>
            </a:r>
            <a:fld id="{B7E96A8C-FD68-4D1C-BC68-17641CD21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ransition>
    <p:strips dir="r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8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edc.usgs.gov/products/satellite/avhrr.html" TargetMode="External"/><Relationship Id="rId2" Type="http://schemas.openxmlformats.org/officeDocument/2006/relationships/hyperlink" Target="http://landsat.usgs.go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pot.com/html/SICORP/_401_.php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topomaps.usgs.gov/dr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6.png"/><Relationship Id="rId4" Type="http://schemas.openxmlformats.org/officeDocument/2006/relationships/oleObject" Target="../embeddings/oleObject13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i="1" dirty="0"/>
              <a:t>Lec02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GIS Database Concepts</a:t>
            </a:r>
          </a:p>
        </p:txBody>
      </p:sp>
    </p:spTree>
    <p:extLst>
      <p:ext uri="{BB962C8B-B14F-4D97-AF65-F5344CB8AC3E}">
        <p14:creationId xmlns:p14="http://schemas.microsoft.com/office/powerpoint/2010/main" val="2011049258"/>
      </p:ext>
    </p:extLst>
  </p:cSld>
  <p:clrMapOvr>
    <a:masterClrMapping/>
  </p:clrMapOvr>
  <p:transition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50" y="785813"/>
            <a:ext cx="478425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700" dirty="0">
                <a:solidFill>
                  <a:schemeClr val="bg1"/>
                </a:solidFill>
                <a:latin typeface="+mn-lt"/>
                <a:cs typeface="+mn-cs"/>
              </a:rPr>
              <a:t>GIS are driven by spatial data......</a:t>
            </a:r>
          </a:p>
        </p:txBody>
      </p:sp>
      <p:sp>
        <p:nvSpPr>
          <p:cNvPr id="7171" name="TextBox 2"/>
          <p:cNvSpPr txBox="1">
            <a:spLocks noChangeArrowheads="1"/>
          </p:cNvSpPr>
          <p:nvPr/>
        </p:nvSpPr>
        <p:spPr bwMode="auto">
          <a:xfrm>
            <a:off x="928688" y="1571625"/>
            <a:ext cx="73229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400">
                <a:solidFill>
                  <a:schemeClr val="bg1"/>
                </a:solidFill>
                <a:latin typeface="Calibri" panose="020F0502020204030204" pitchFamily="34" charset="0"/>
              </a:rPr>
              <a:t>Two basic spatial(coordinate/geometric) data model exist</a:t>
            </a: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1357313" y="2286000"/>
            <a:ext cx="3822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VECTOR</a:t>
            </a: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:  BASED ON GEOMETRY OF </a:t>
            </a:r>
          </a:p>
        </p:txBody>
      </p:sp>
      <p:sp>
        <p:nvSpPr>
          <p:cNvPr id="7173" name="TextBox 5"/>
          <p:cNvSpPr txBox="1">
            <a:spLocks noChangeArrowheads="1"/>
          </p:cNvSpPr>
          <p:nvPr/>
        </p:nvSpPr>
        <p:spPr bwMode="auto">
          <a:xfrm>
            <a:off x="2303070" y="2747963"/>
            <a:ext cx="149938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CA" altLang="en-US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Points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Lines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Polygons</a:t>
            </a:r>
          </a:p>
        </p:txBody>
      </p:sp>
      <p:sp>
        <p:nvSpPr>
          <p:cNvPr id="7174" name="TextBox 6"/>
          <p:cNvSpPr txBox="1">
            <a:spLocks noChangeArrowheads="1"/>
          </p:cNvSpPr>
          <p:nvPr/>
        </p:nvSpPr>
        <p:spPr bwMode="auto">
          <a:xfrm>
            <a:off x="1384300" y="4516437"/>
            <a:ext cx="3390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RASTER</a:t>
            </a: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: based on geometry of</a:t>
            </a:r>
          </a:p>
          <a:p>
            <a:pPr eaLnBrk="1" hangingPunct="1"/>
            <a:endParaRPr lang="en-CA" altLang="en-US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7175" name="TextBox 7"/>
          <p:cNvSpPr txBox="1">
            <a:spLocks noChangeArrowheads="1"/>
          </p:cNvSpPr>
          <p:nvPr/>
        </p:nvSpPr>
        <p:spPr bwMode="auto">
          <a:xfrm>
            <a:off x="2262062" y="5061080"/>
            <a:ext cx="45696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latin typeface="Calibri" panose="020F0502020204030204" pitchFamily="34" charset="0"/>
              </a:rPr>
              <a:t> </a:t>
            </a:r>
            <a:r>
              <a:rPr lang="en-CA" altLang="en-US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Grid cells 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(images, bitmaps, DEM)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CA" altLang="en-US" sz="2400" dirty="0">
              <a:latin typeface="Calibri" panose="020F050202020403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04B595-80EC-4619-B6D4-CD867FD7435D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80879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171" grpId="0"/>
      <p:bldP spid="7172" grpId="0"/>
      <p:bldP spid="7173" grpId="0"/>
      <p:bldP spid="7174" grpId="0"/>
      <p:bldP spid="71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3214688" y="214313"/>
            <a:ext cx="33161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Vector data model</a:t>
            </a:r>
          </a:p>
        </p:txBody>
      </p:sp>
      <p:pic>
        <p:nvPicPr>
          <p:cNvPr id="819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9187"/>
            <a:ext cx="5589588" cy="307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Vector data model exampl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86375" y="1190625"/>
            <a:ext cx="3857625" cy="2962275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667CA3C-BBEE-4520-9D4D-55314165C2D8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71718" y="4718754"/>
            <a:ext cx="77816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chemeClr val="bg1"/>
                </a:solidFill>
              </a:rPr>
              <a:t>Discrete</a:t>
            </a:r>
            <a:r>
              <a:rPr lang="en-US" altLang="en-US" sz="2400" dirty="0">
                <a:solidFill>
                  <a:schemeClr val="bg1"/>
                </a:solidFill>
              </a:rPr>
              <a:t> - Boundaries are well defined (</a:t>
            </a:r>
            <a:r>
              <a:rPr lang="en-US" altLang="en-US" sz="2400" dirty="0" err="1">
                <a:solidFill>
                  <a:schemeClr val="bg1"/>
                </a:solidFill>
              </a:rPr>
              <a:t>x,y</a:t>
            </a:r>
            <a:r>
              <a:rPr lang="en-US" altLang="en-US" sz="2400" dirty="0">
                <a:solidFill>
                  <a:schemeClr val="bg1"/>
                </a:solidFill>
              </a:rPr>
              <a:t> coordinates)</a:t>
            </a:r>
          </a:p>
          <a:p>
            <a:pPr eaLnBrk="1" hangingPunct="1"/>
            <a:endParaRPr lang="en-CA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24293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35A74B8-7F36-4E82-A961-FA67216B5A87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133600"/>
            <a:ext cx="8705850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09600" y="533400"/>
            <a:ext cx="1800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600" b="1" dirty="0">
                <a:solidFill>
                  <a:schemeClr val="bg1"/>
                </a:solidFill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244811111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55BD8D-53C4-44DF-97EC-FD749CBDBEE1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41438"/>
            <a:ext cx="638333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55650" y="333375"/>
            <a:ext cx="1204913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3600" b="1" dirty="0">
                <a:solidFill>
                  <a:schemeClr val="bg1"/>
                </a:solidFill>
                <a:latin typeface="+mn-lt"/>
                <a:cs typeface="+mn-cs"/>
              </a:rPr>
              <a:t>Line :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95288" y="4797425"/>
            <a:ext cx="85693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Line stars and end at nodes –here Line #1 goes from node #2 to #1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Vertices determines shape of line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Nodes and vertices are stored as coordinate pairs</a:t>
            </a:r>
          </a:p>
        </p:txBody>
      </p:sp>
    </p:spTree>
    <p:extLst>
      <p:ext uri="{BB962C8B-B14F-4D97-AF65-F5344CB8AC3E}">
        <p14:creationId xmlns:p14="http://schemas.microsoft.com/office/powerpoint/2010/main" val="22701721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41438"/>
            <a:ext cx="7704138" cy="485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14400" y="404813"/>
            <a:ext cx="1709738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3600" b="1" dirty="0">
                <a:solidFill>
                  <a:schemeClr val="bg1"/>
                </a:solidFill>
                <a:latin typeface="+mn-lt"/>
                <a:cs typeface="+mn-cs"/>
              </a:rPr>
              <a:t>Polygon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97D5EEC-BA14-4CCF-83C0-A70F389B8F6C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78163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6" y="228600"/>
            <a:ext cx="9120554" cy="5523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607FFF-EFBE-4D5B-A685-AFEA0D4DD064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6999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CA" b="1" dirty="0">
                <a:latin typeface="Arial" charset="0"/>
              </a:rPr>
              <a:t>POINT REPRESENTATION</a:t>
            </a:r>
            <a:br>
              <a:rPr lang="en-CA" b="1" dirty="0">
                <a:latin typeface="Arial" charset="0"/>
              </a:rPr>
            </a:br>
            <a:r>
              <a:rPr lang="en-CA" sz="2000" b="1" dirty="0">
                <a:solidFill>
                  <a:srgbClr val="FF0000"/>
                </a:solidFill>
                <a:latin typeface="Arial" charset="0"/>
              </a:rPr>
              <a:t>VECTOR DATA...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E920683-50C7-45B8-82C0-177B169F0286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7" name="Rectangle 3"/>
          <p:cNvSpPr txBox="1">
            <a:spLocks noChangeArrowheads="1"/>
          </p:cNvSpPr>
          <p:nvPr/>
        </p:nvSpPr>
        <p:spPr bwMode="auto">
          <a:xfrm>
            <a:off x="6024489" y="1138237"/>
            <a:ext cx="2890911" cy="503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Nature of the feature: the reality suggests a point (it is not linear in nature, does not occupy an area):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GPS Location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hydrant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rare plant location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seep location…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Typically used for small scale representation.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Relative positioning and density of features is important.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Polygons can be represented as centroids --a special kind of point.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CA" altLang="en-US" sz="2800" dirty="0">
              <a:solidFill>
                <a:schemeClr val="bg1"/>
              </a:solidFill>
            </a:endParaRPr>
          </a:p>
        </p:txBody>
      </p:sp>
      <p:pic>
        <p:nvPicPr>
          <p:cNvPr id="11268" name="Picture 5" descr="C:\Teaching\Centennial\473678_map2000lessons1-4\waterquality_dec20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" y="1371600"/>
            <a:ext cx="6019800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110008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2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357188"/>
            <a:ext cx="7772400" cy="1143000"/>
          </a:xfrm>
        </p:spPr>
        <p:txBody>
          <a:bodyPr/>
          <a:lstStyle/>
          <a:p>
            <a:pPr algn="l" eaLnBrk="1" hangingPunct="1"/>
            <a:r>
              <a:rPr lang="en-CA" altLang="en-US" b="1">
                <a:latin typeface="Arial" panose="020B0604020202020204" pitchFamily="34" charset="0"/>
              </a:rPr>
              <a:t>LINE REPRESENTATION</a:t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VECTOR DATA...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CD2DB3-BF76-431C-B599-E652706C0D8B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420050"/>
              </p:ext>
            </p:extLst>
          </p:nvPr>
        </p:nvGraphicFramePr>
        <p:xfrm>
          <a:off x="0" y="1880553"/>
          <a:ext cx="5638800" cy="421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Slide" r:id="rId3" imgW="5373360" imgH="4018680" progId="PowerPoint.Slide.8">
                  <p:embed/>
                </p:oleObj>
              </mc:Choice>
              <mc:Fallback>
                <p:oleObj name="Slide" r:id="rId3" imgW="5373360" imgH="4018680" progId="PowerPoint.Slide.8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80553"/>
                        <a:ext cx="5638800" cy="421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4"/>
          <p:cNvSpPr txBox="1">
            <a:spLocks noChangeArrowheads="1"/>
          </p:cNvSpPr>
          <p:nvPr/>
        </p:nvSpPr>
        <p:spPr bwMode="auto">
          <a:xfrm>
            <a:off x="5715000" y="1143000"/>
            <a:ext cx="3276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Nature of the feature, the reality is the feature is linear: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 smtClean="0">
                <a:solidFill>
                  <a:schemeClr val="bg1"/>
                </a:solidFill>
              </a:rPr>
              <a:t>GPS </a:t>
            </a:r>
            <a:r>
              <a:rPr lang="en-CA" altLang="en-US" sz="1400" dirty="0">
                <a:solidFill>
                  <a:schemeClr val="bg1"/>
                </a:solidFill>
              </a:rPr>
              <a:t>Path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extent of rare plant community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seep drainage …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Used at all scales, although may appear as a point at extreme small scales.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Networks are typically represented as single lines with events associated with segments of the network, e.g. Capital Works Projects associated with street segments.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Networks typically have traces performed to determine paths and routes.</a:t>
            </a:r>
          </a:p>
        </p:txBody>
      </p:sp>
    </p:spTree>
    <p:extLst>
      <p:ext uri="{BB962C8B-B14F-4D97-AF65-F5344CB8AC3E}">
        <p14:creationId xmlns:p14="http://schemas.microsoft.com/office/powerpoint/2010/main" val="8015740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  <p:bldP spid="10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pPr algn="l" eaLnBrk="1" hangingPunct="1"/>
            <a:r>
              <a:rPr lang="en-CA" altLang="en-US" sz="3600" b="1">
                <a:latin typeface="Arial" panose="020B0604020202020204" pitchFamily="34" charset="0"/>
              </a:rPr>
              <a:t>POLYGON REPRESENTATION</a:t>
            </a:r>
            <a:r>
              <a:rPr lang="en-CA" altLang="en-US" b="1">
                <a:latin typeface="Arial" panose="020B0604020202020204" pitchFamily="34" charset="0"/>
              </a:rPr>
              <a:t/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VECTOR DATA...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DACDDE-5103-421D-BB8B-9601B3A51012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28600" y="1676400"/>
          <a:ext cx="5715000" cy="444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Clip" r:id="rId3" imgW="9600000" imgH="7466667" progId="">
                  <p:embed/>
                </p:oleObj>
              </mc:Choice>
              <mc:Fallback>
                <p:oleObj name="Clip" r:id="rId3" imgW="9600000" imgH="7466667" progId="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76400"/>
                        <a:ext cx="5715000" cy="4446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 txBox="1">
            <a:spLocks noChangeArrowheads="1"/>
          </p:cNvSpPr>
          <p:nvPr/>
        </p:nvSpPr>
        <p:spPr bwMode="auto">
          <a:xfrm>
            <a:off x="6019800" y="838200"/>
            <a:ext cx="2971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400" dirty="0">
                <a:solidFill>
                  <a:schemeClr val="bg1"/>
                </a:solidFill>
              </a:rPr>
              <a:t>Nature of the feature, it occupies an area.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GPS Location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rare plant community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1400" dirty="0">
                <a:solidFill>
                  <a:schemeClr val="bg1"/>
                </a:solidFill>
              </a:rPr>
              <a:t>area of seepage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600" dirty="0">
                <a:solidFill>
                  <a:schemeClr val="bg1"/>
                </a:solidFill>
              </a:rPr>
              <a:t>Typically used at mid to large scales (dependent on the size of the feature/polygon).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600" dirty="0">
                <a:solidFill>
                  <a:schemeClr val="bg1"/>
                </a:solidFill>
              </a:rPr>
              <a:t>Often the relative location of a second feature is important, e.g. hydrants (points) located in a road allowance (polygon).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1600" dirty="0">
                <a:solidFill>
                  <a:schemeClr val="bg1"/>
                </a:solidFill>
              </a:rPr>
              <a:t>Polygons can be represented as </a:t>
            </a:r>
            <a:r>
              <a:rPr lang="en-CA" altLang="en-US" sz="1400" dirty="0">
                <a:solidFill>
                  <a:schemeClr val="bg1"/>
                </a:solidFill>
              </a:rPr>
              <a:t>centroids --a special kind of point.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CA" altLang="en-US" sz="28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6751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/>
      <p:bldP spid="20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381000" y="333375"/>
            <a:ext cx="8453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Major types (formats) of vector data available in ArcGIS</a:t>
            </a:r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685800" y="1548348"/>
            <a:ext cx="709453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ArcView shape file (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shp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,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dbf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,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shx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,  together)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ESRI Geodatabase (personal,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ArcSDE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ESRI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Filegeodatabase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(New for 9.2 and above)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ArcInfo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Coverage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CAD files (AutoCAD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dWG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, DXF, </a:t>
            </a:r>
            <a:r>
              <a:rPr lang="en-CA" altLang="en-US" sz="2400" dirty="0" err="1">
                <a:solidFill>
                  <a:schemeClr val="bg1"/>
                </a:solidFill>
                <a:latin typeface="Calibri" panose="020F0502020204030204" pitchFamily="34" charset="0"/>
              </a:rPr>
              <a:t>MicroStation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DGN)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Street map files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Spatial Database Engine (SDE) data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ASC11 point coordinate data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Linear measure (route) data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CA" altLang="en-US" sz="24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CBB8D64-F955-48BA-B40E-CCF28CCD2667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2189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685800" y="609600"/>
            <a:ext cx="280320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600" b="1" dirty="0">
                <a:solidFill>
                  <a:schemeClr val="bg1"/>
                </a:solidFill>
                <a:latin typeface="Calibri" panose="020F0502020204030204" pitchFamily="34" charset="0"/>
              </a:rPr>
              <a:t>ArcView shapefiles</a:t>
            </a: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685800" y="1181100"/>
            <a:ext cx="491013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Preferred vector format in ArcView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Display quickly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Fully editable (coordinate and tabular) in ArcView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Simple in structure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Data sets are either point or line or polygon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681037" y="4041775"/>
            <a:ext cx="26773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600" b="1" dirty="0">
                <a:solidFill>
                  <a:schemeClr val="bg1"/>
                </a:solidFill>
                <a:latin typeface="Calibri" panose="020F0502020204030204" pitchFamily="34" charset="0"/>
              </a:rPr>
              <a:t>ESRI Geodatabase</a:t>
            </a:r>
          </a:p>
        </p:txBody>
      </p:sp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609600" y="4541837"/>
            <a:ext cx="609758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Based on shapefile data model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Multiple data sets stored in a relational database file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Stored in MS Access database or higher-end database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Separate points, line, and polygon data sets are stored within 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  <a:latin typeface="Calibri" panose="020F0502020204030204" pitchFamily="34" charset="0"/>
              </a:rPr>
              <a:t>   the same Geodatabase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52E6C5-6F78-4197-A494-9B0E806FE6C3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8441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912" y="4827587"/>
            <a:ext cx="20002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63" y="895350"/>
            <a:ext cx="26860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500207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/>
      <p:bldP spid="13316" grpId="0"/>
      <p:bldP spid="133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 txBox="1">
            <a:spLocks noChangeArrowheads="1"/>
          </p:cNvSpPr>
          <p:nvPr/>
        </p:nvSpPr>
        <p:spPr bwMode="auto">
          <a:xfrm>
            <a:off x="971550" y="476250"/>
            <a:ext cx="70770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Characteristics of the vector data model:</a:t>
            </a:r>
          </a:p>
        </p:txBody>
      </p:sp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141288" y="1412875"/>
            <a:ext cx="900271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+ Features are positioned accurately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+ Shape of features can be represented correctly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+ Features are represented discretely (no fuzzy boundaries</a:t>
            </a:r>
            <a:r>
              <a:rPr lang="en-CA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179388" y="3317875"/>
            <a:ext cx="8964612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- Not good for representing spatially continues phenomena</a:t>
            </a:r>
          </a:p>
          <a:p>
            <a:pPr eaLnBrk="1" hangingPunct="1"/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    ex: precipitation measurement,  forest cover, animal </a:t>
            </a:r>
          </a:p>
          <a:p>
            <a:pPr eaLnBrk="1" hangingPunct="1"/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    home range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- Potential complex data structure (specially for polygons</a:t>
            </a:r>
          </a:p>
          <a:p>
            <a:pPr eaLnBrk="1" hangingPunct="1"/>
            <a:r>
              <a:rPr lang="en-CA" altLang="en-US" sz="2800" dirty="0">
                <a:solidFill>
                  <a:schemeClr val="bg1"/>
                </a:solidFill>
                <a:latin typeface="Calibri" panose="020F0502020204030204" pitchFamily="34" charset="0"/>
              </a:rPr>
              <a:t>     can lead to long processing time for analytical operations)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FCA0ED1-8E68-45AE-AB14-EF68EC5E6D8C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33051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  <p:bldP spid="143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Raster Data Model</a:t>
            </a:r>
          </a:p>
        </p:txBody>
      </p:sp>
      <p:pic>
        <p:nvPicPr>
          <p:cNvPr id="6" name="Picture 4" descr="Raster data model exampl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0" y="3859189"/>
            <a:ext cx="3467100" cy="1943100"/>
          </a:xfr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BEC7F69-ADFF-4A87-8B1F-54E52BB5ECDA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Object 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105400" y="2060575"/>
          <a:ext cx="4038600" cy="153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Bitmap Image" r:id="rId4" imgW="6125430" imgH="2324424" progId="PBrush">
                  <p:embed/>
                </p:oleObj>
              </mc:Choice>
              <mc:Fallback>
                <p:oleObj name="Bitmap Image" r:id="rId4" imgW="6125430" imgH="2324424" progId="PBrush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060575"/>
                        <a:ext cx="4038600" cy="153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1905000"/>
            <a:ext cx="4705350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The world is composed of cells/pixels arranged in a grid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Each cell/pixel is assigned a numeric  value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Integer – (no decimal)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Floating-point (decimal)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400" dirty="0">
                <a:solidFill>
                  <a:schemeClr val="bg1"/>
                </a:solidFill>
                <a:latin typeface="Arial" charset="0"/>
                <a:cs typeface="+mn-cs"/>
              </a:rPr>
              <a:t>(However data may be represented by codes)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The size of the cell/pixel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	determines the resolution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2512" y="6096000"/>
            <a:ext cx="35060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b="1" i="1" dirty="0">
                <a:solidFill>
                  <a:srgbClr val="FFFF00"/>
                </a:solidFill>
              </a:rPr>
              <a:t>Every location given an object</a:t>
            </a:r>
          </a:p>
          <a:p>
            <a:pPr eaLnBrk="1" hangingPunct="1"/>
            <a:endParaRPr lang="en-US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81740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4800" y="228600"/>
            <a:ext cx="83820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rPr>
              <a:t>DATA MODEL OF RASTER AND VECTOR</a:t>
            </a:r>
          </a:p>
        </p:txBody>
      </p:sp>
      <p:grpSp>
        <p:nvGrpSpPr>
          <p:cNvPr id="4108" name="Group 129"/>
          <p:cNvGrpSpPr>
            <a:grpSpLocks/>
          </p:cNvGrpSpPr>
          <p:nvPr/>
        </p:nvGrpSpPr>
        <p:grpSpPr bwMode="auto">
          <a:xfrm>
            <a:off x="457200" y="990600"/>
            <a:ext cx="8382000" cy="5676900"/>
            <a:chOff x="457200" y="990600"/>
            <a:chExt cx="8382000" cy="5676900"/>
          </a:xfrm>
        </p:grpSpPr>
        <p:sp>
          <p:nvSpPr>
            <p:cNvPr id="4110" name="AutoShape 2"/>
            <p:cNvSpPr>
              <a:spLocks noChangeArrowheads="1"/>
            </p:cNvSpPr>
            <p:nvPr/>
          </p:nvSpPr>
          <p:spPr bwMode="auto">
            <a:xfrm>
              <a:off x="1676400" y="1219200"/>
              <a:ext cx="5638800" cy="990600"/>
            </a:xfrm>
            <a:prstGeom prst="flowChartInputOutput">
              <a:avLst/>
            </a:prstGeom>
            <a:solidFill>
              <a:srgbClr val="C4B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graphicFrame>
          <p:nvGraphicFramePr>
            <p:cNvPr id="4098" name="Object 4"/>
            <p:cNvGraphicFramePr>
              <a:graphicFrameLocks noChangeAspect="1"/>
            </p:cNvGraphicFramePr>
            <p:nvPr/>
          </p:nvGraphicFramePr>
          <p:xfrm>
            <a:off x="6172200" y="9906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7" name="Package" r:id="rId3" imgW="380880" imgH="485640" progId="Package">
                    <p:embed/>
                  </p:oleObj>
                </mc:Choice>
                <mc:Fallback>
                  <p:oleObj name="Package" r:id="rId3" imgW="380880" imgH="485640" progId="Package">
                    <p:embed/>
                    <p:pic>
                      <p:nvPicPr>
                        <p:cNvPr id="409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00" y="9906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" name="Object 5"/>
            <p:cNvGraphicFramePr>
              <a:graphicFrameLocks noChangeAspect="1"/>
            </p:cNvGraphicFramePr>
            <p:nvPr/>
          </p:nvGraphicFramePr>
          <p:xfrm>
            <a:off x="4876800" y="14478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8" name="Package" r:id="rId5" imgW="380880" imgH="485640" progId="Package">
                    <p:embed/>
                  </p:oleObj>
                </mc:Choice>
                <mc:Fallback>
                  <p:oleObj name="Package" r:id="rId5" imgW="380880" imgH="485640" progId="Package">
                    <p:embed/>
                    <p:pic>
                      <p:nvPicPr>
                        <p:cNvPr id="409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800" y="14478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6"/>
            <p:cNvGraphicFramePr>
              <a:graphicFrameLocks noChangeAspect="1"/>
            </p:cNvGraphicFramePr>
            <p:nvPr/>
          </p:nvGraphicFramePr>
          <p:xfrm>
            <a:off x="4648200" y="14478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9" name="Package" r:id="rId7" imgW="380880" imgH="485640" progId="Package">
                    <p:embed/>
                  </p:oleObj>
                </mc:Choice>
                <mc:Fallback>
                  <p:oleObj name="Package" r:id="rId7" imgW="380880" imgH="485640" progId="Package">
                    <p:embed/>
                    <p:pic>
                      <p:nvPicPr>
                        <p:cNvPr id="410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200" y="14478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" name="Object 7"/>
            <p:cNvGraphicFramePr>
              <a:graphicFrameLocks noChangeAspect="1"/>
            </p:cNvGraphicFramePr>
            <p:nvPr/>
          </p:nvGraphicFramePr>
          <p:xfrm>
            <a:off x="5105400" y="13716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0" name="Package" r:id="rId9" imgW="380880" imgH="485640" progId="Package">
                    <p:embed/>
                  </p:oleObj>
                </mc:Choice>
                <mc:Fallback>
                  <p:oleObj name="Package" r:id="rId9" imgW="380880" imgH="485640" progId="Package">
                    <p:embed/>
                    <p:pic>
                      <p:nvPicPr>
                        <p:cNvPr id="410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5400" y="13716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2" name="Object 8"/>
            <p:cNvGraphicFramePr>
              <a:graphicFrameLocks noChangeAspect="1"/>
            </p:cNvGraphicFramePr>
            <p:nvPr/>
          </p:nvGraphicFramePr>
          <p:xfrm>
            <a:off x="5257800" y="13716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1" name="Package" r:id="rId10" imgW="380880" imgH="485640" progId="Package">
                    <p:embed/>
                  </p:oleObj>
                </mc:Choice>
                <mc:Fallback>
                  <p:oleObj name="Package" r:id="rId10" imgW="380880" imgH="485640" progId="Package">
                    <p:embed/>
                    <p:pic>
                      <p:nvPicPr>
                        <p:cNvPr id="410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13716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3" name="Object 9"/>
            <p:cNvGraphicFramePr>
              <a:graphicFrameLocks noChangeAspect="1"/>
            </p:cNvGraphicFramePr>
            <p:nvPr/>
          </p:nvGraphicFramePr>
          <p:xfrm>
            <a:off x="6477000" y="9906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2" name="Package" r:id="rId11" imgW="380880" imgH="485640" progId="Package">
                    <p:embed/>
                  </p:oleObj>
                </mc:Choice>
                <mc:Fallback>
                  <p:oleObj name="Package" r:id="rId11" imgW="380880" imgH="485640" progId="Package">
                    <p:embed/>
                    <p:pic>
                      <p:nvPicPr>
                        <p:cNvPr id="410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7000" y="9906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1" name="Freeform 10"/>
            <p:cNvSpPr>
              <a:spLocks/>
            </p:cNvSpPr>
            <p:nvPr/>
          </p:nvSpPr>
          <p:spPr bwMode="auto">
            <a:xfrm>
              <a:off x="3048000" y="1219200"/>
              <a:ext cx="2209800" cy="990600"/>
            </a:xfrm>
            <a:custGeom>
              <a:avLst/>
              <a:gdLst>
                <a:gd name="T0" fmla="*/ 0 w 1392"/>
                <a:gd name="T1" fmla="*/ 2147483647 h 624"/>
                <a:gd name="T2" fmla="*/ 2147483647 w 1392"/>
                <a:gd name="T3" fmla="*/ 2147483647 h 624"/>
                <a:gd name="T4" fmla="*/ 2147483647 w 1392"/>
                <a:gd name="T5" fmla="*/ 2147483647 h 624"/>
                <a:gd name="T6" fmla="*/ 2147483647 w 1392"/>
                <a:gd name="T7" fmla="*/ 2147483647 h 624"/>
                <a:gd name="T8" fmla="*/ 2147483647 w 1392"/>
                <a:gd name="T9" fmla="*/ 2147483647 h 624"/>
                <a:gd name="T10" fmla="*/ 2147483647 w 1392"/>
                <a:gd name="T11" fmla="*/ 2147483647 h 624"/>
                <a:gd name="T12" fmla="*/ 2147483647 w 1392"/>
                <a:gd name="T13" fmla="*/ 2147483647 h 624"/>
                <a:gd name="T14" fmla="*/ 2147483647 w 1392"/>
                <a:gd name="T15" fmla="*/ 0 h 6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92"/>
                <a:gd name="T25" fmla="*/ 0 h 624"/>
                <a:gd name="T26" fmla="*/ 1392 w 1392"/>
                <a:gd name="T27" fmla="*/ 624 h 6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92" h="624">
                  <a:moveTo>
                    <a:pt x="0" y="624"/>
                  </a:moveTo>
                  <a:cubicBezTo>
                    <a:pt x="168" y="588"/>
                    <a:pt x="336" y="552"/>
                    <a:pt x="384" y="528"/>
                  </a:cubicBezTo>
                  <a:cubicBezTo>
                    <a:pt x="432" y="504"/>
                    <a:pt x="288" y="504"/>
                    <a:pt x="288" y="480"/>
                  </a:cubicBezTo>
                  <a:cubicBezTo>
                    <a:pt x="288" y="456"/>
                    <a:pt x="336" y="416"/>
                    <a:pt x="384" y="384"/>
                  </a:cubicBezTo>
                  <a:cubicBezTo>
                    <a:pt x="432" y="352"/>
                    <a:pt x="480" y="320"/>
                    <a:pt x="576" y="288"/>
                  </a:cubicBezTo>
                  <a:cubicBezTo>
                    <a:pt x="672" y="256"/>
                    <a:pt x="872" y="224"/>
                    <a:pt x="960" y="192"/>
                  </a:cubicBezTo>
                  <a:cubicBezTo>
                    <a:pt x="1048" y="160"/>
                    <a:pt x="1032" y="128"/>
                    <a:pt x="1104" y="96"/>
                  </a:cubicBezTo>
                  <a:cubicBezTo>
                    <a:pt x="1176" y="64"/>
                    <a:pt x="1344" y="16"/>
                    <a:pt x="1392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Freeform 11"/>
            <p:cNvSpPr>
              <a:spLocks/>
            </p:cNvSpPr>
            <p:nvPr/>
          </p:nvSpPr>
          <p:spPr bwMode="auto">
            <a:xfrm>
              <a:off x="2743200" y="1219200"/>
              <a:ext cx="2209800" cy="990600"/>
            </a:xfrm>
            <a:custGeom>
              <a:avLst/>
              <a:gdLst>
                <a:gd name="T0" fmla="*/ 0 w 1392"/>
                <a:gd name="T1" fmla="*/ 2147483647 h 624"/>
                <a:gd name="T2" fmla="*/ 2147483647 w 1392"/>
                <a:gd name="T3" fmla="*/ 2147483647 h 624"/>
                <a:gd name="T4" fmla="*/ 2147483647 w 1392"/>
                <a:gd name="T5" fmla="*/ 2147483647 h 624"/>
                <a:gd name="T6" fmla="*/ 2147483647 w 1392"/>
                <a:gd name="T7" fmla="*/ 2147483647 h 624"/>
                <a:gd name="T8" fmla="*/ 2147483647 w 1392"/>
                <a:gd name="T9" fmla="*/ 2147483647 h 624"/>
                <a:gd name="T10" fmla="*/ 2147483647 w 1392"/>
                <a:gd name="T11" fmla="*/ 2147483647 h 624"/>
                <a:gd name="T12" fmla="*/ 2147483647 w 1392"/>
                <a:gd name="T13" fmla="*/ 2147483647 h 624"/>
                <a:gd name="T14" fmla="*/ 2147483647 w 1392"/>
                <a:gd name="T15" fmla="*/ 0 h 6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92"/>
                <a:gd name="T25" fmla="*/ 0 h 624"/>
                <a:gd name="T26" fmla="*/ 1392 w 1392"/>
                <a:gd name="T27" fmla="*/ 624 h 6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92" h="624">
                  <a:moveTo>
                    <a:pt x="0" y="624"/>
                  </a:moveTo>
                  <a:cubicBezTo>
                    <a:pt x="168" y="588"/>
                    <a:pt x="336" y="552"/>
                    <a:pt x="384" y="528"/>
                  </a:cubicBezTo>
                  <a:cubicBezTo>
                    <a:pt x="432" y="504"/>
                    <a:pt x="288" y="504"/>
                    <a:pt x="288" y="480"/>
                  </a:cubicBezTo>
                  <a:cubicBezTo>
                    <a:pt x="288" y="456"/>
                    <a:pt x="336" y="416"/>
                    <a:pt x="384" y="384"/>
                  </a:cubicBezTo>
                  <a:cubicBezTo>
                    <a:pt x="432" y="352"/>
                    <a:pt x="480" y="320"/>
                    <a:pt x="576" y="288"/>
                  </a:cubicBezTo>
                  <a:cubicBezTo>
                    <a:pt x="672" y="256"/>
                    <a:pt x="872" y="224"/>
                    <a:pt x="960" y="192"/>
                  </a:cubicBezTo>
                  <a:cubicBezTo>
                    <a:pt x="1048" y="160"/>
                    <a:pt x="1032" y="128"/>
                    <a:pt x="1104" y="96"/>
                  </a:cubicBezTo>
                  <a:cubicBezTo>
                    <a:pt x="1176" y="64"/>
                    <a:pt x="1344" y="16"/>
                    <a:pt x="1392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104" name="Object 12"/>
            <p:cNvGraphicFramePr>
              <a:graphicFrameLocks noChangeAspect="1"/>
            </p:cNvGraphicFramePr>
            <p:nvPr/>
          </p:nvGraphicFramePr>
          <p:xfrm>
            <a:off x="4572000" y="1524000"/>
            <a:ext cx="41275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3" name="Package" r:id="rId12" imgW="380880" imgH="485640" progId="Package">
                    <p:embed/>
                  </p:oleObj>
                </mc:Choice>
                <mc:Fallback>
                  <p:oleObj name="Package" r:id="rId12" imgW="380880" imgH="485640" progId="Package">
                    <p:embed/>
                    <p:pic>
                      <p:nvPicPr>
                        <p:cNvPr id="410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1524000"/>
                          <a:ext cx="41275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5" name="Object 13"/>
            <p:cNvGraphicFramePr>
              <a:graphicFrameLocks noChangeAspect="1"/>
            </p:cNvGraphicFramePr>
            <p:nvPr/>
          </p:nvGraphicFramePr>
          <p:xfrm>
            <a:off x="5715000" y="1371600"/>
            <a:ext cx="8382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4" name="Clip" r:id="rId13" imgW="1200000" imgH="676012" progId="">
                    <p:embed/>
                  </p:oleObj>
                </mc:Choice>
                <mc:Fallback>
                  <p:oleObj name="Clip" r:id="rId13" imgW="1200000" imgH="676012" progId="">
                    <p:embed/>
                    <p:pic>
                      <p:nvPicPr>
                        <p:cNvPr id="410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0" y="1371600"/>
                          <a:ext cx="838200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" name="Object 14"/>
            <p:cNvGraphicFramePr>
              <a:graphicFrameLocks noChangeAspect="1"/>
            </p:cNvGraphicFramePr>
            <p:nvPr/>
          </p:nvGraphicFramePr>
          <p:xfrm>
            <a:off x="2667000" y="1143000"/>
            <a:ext cx="8382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5" name="Clip" r:id="rId15" imgW="1200000" imgH="676012" progId="">
                    <p:embed/>
                  </p:oleObj>
                </mc:Choice>
                <mc:Fallback>
                  <p:oleObj name="Clip" r:id="rId15" imgW="1200000" imgH="676012" progId="">
                    <p:embed/>
                    <p:pic>
                      <p:nvPicPr>
                        <p:cNvPr id="410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1143000"/>
                          <a:ext cx="838200" cy="473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3" name="Rectangle 15"/>
            <p:cNvSpPr>
              <a:spLocks noChangeArrowheads="1"/>
            </p:cNvSpPr>
            <p:nvPr/>
          </p:nvSpPr>
          <p:spPr bwMode="auto">
            <a:xfrm>
              <a:off x="4953000" y="2895600"/>
              <a:ext cx="3886200" cy="3276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4114" name="Freeform 16"/>
            <p:cNvSpPr>
              <a:spLocks/>
            </p:cNvSpPr>
            <p:nvPr/>
          </p:nvSpPr>
          <p:spPr bwMode="auto">
            <a:xfrm>
              <a:off x="5257800" y="2895600"/>
              <a:ext cx="2286000" cy="3276600"/>
            </a:xfrm>
            <a:custGeom>
              <a:avLst/>
              <a:gdLst>
                <a:gd name="T0" fmla="*/ 0 w 1288"/>
                <a:gd name="T1" fmla="*/ 2147483647 h 1536"/>
                <a:gd name="T2" fmla="*/ 2147483647 w 1288"/>
                <a:gd name="T3" fmla="*/ 2147483647 h 1536"/>
                <a:gd name="T4" fmla="*/ 2147483647 w 1288"/>
                <a:gd name="T5" fmla="*/ 2147483647 h 1536"/>
                <a:gd name="T6" fmla="*/ 2147483647 w 1288"/>
                <a:gd name="T7" fmla="*/ 2147483647 h 1536"/>
                <a:gd name="T8" fmla="*/ 2147483647 w 1288"/>
                <a:gd name="T9" fmla="*/ 2147483647 h 1536"/>
                <a:gd name="T10" fmla="*/ 2147483647 w 1288"/>
                <a:gd name="T11" fmla="*/ 2147483647 h 1536"/>
                <a:gd name="T12" fmla="*/ 2147483647 w 1288"/>
                <a:gd name="T13" fmla="*/ 2147483647 h 1536"/>
                <a:gd name="T14" fmla="*/ 2147483647 w 1288"/>
                <a:gd name="T15" fmla="*/ 2147483647 h 1536"/>
                <a:gd name="T16" fmla="*/ 2147483647 w 1288"/>
                <a:gd name="T17" fmla="*/ 2147483647 h 1536"/>
                <a:gd name="T18" fmla="*/ 2147483647 w 1288"/>
                <a:gd name="T19" fmla="*/ 0 h 1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88"/>
                <a:gd name="T31" fmla="*/ 0 h 1536"/>
                <a:gd name="T32" fmla="*/ 1288 w 1288"/>
                <a:gd name="T33" fmla="*/ 1536 h 1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88" h="1536">
                  <a:moveTo>
                    <a:pt x="0" y="1536"/>
                  </a:moveTo>
                  <a:cubicBezTo>
                    <a:pt x="200" y="1492"/>
                    <a:pt x="400" y="1448"/>
                    <a:pt x="480" y="1392"/>
                  </a:cubicBezTo>
                  <a:cubicBezTo>
                    <a:pt x="560" y="1336"/>
                    <a:pt x="392" y="1280"/>
                    <a:pt x="480" y="1200"/>
                  </a:cubicBezTo>
                  <a:cubicBezTo>
                    <a:pt x="568" y="1120"/>
                    <a:pt x="880" y="984"/>
                    <a:pt x="1008" y="912"/>
                  </a:cubicBezTo>
                  <a:cubicBezTo>
                    <a:pt x="1136" y="840"/>
                    <a:pt x="1208" y="816"/>
                    <a:pt x="1248" y="768"/>
                  </a:cubicBezTo>
                  <a:cubicBezTo>
                    <a:pt x="1288" y="720"/>
                    <a:pt x="1256" y="672"/>
                    <a:pt x="1248" y="624"/>
                  </a:cubicBezTo>
                  <a:cubicBezTo>
                    <a:pt x="1240" y="576"/>
                    <a:pt x="1216" y="536"/>
                    <a:pt x="1200" y="480"/>
                  </a:cubicBezTo>
                  <a:cubicBezTo>
                    <a:pt x="1184" y="424"/>
                    <a:pt x="1160" y="344"/>
                    <a:pt x="1152" y="288"/>
                  </a:cubicBezTo>
                  <a:cubicBezTo>
                    <a:pt x="1144" y="232"/>
                    <a:pt x="1144" y="192"/>
                    <a:pt x="1152" y="144"/>
                  </a:cubicBezTo>
                  <a:cubicBezTo>
                    <a:pt x="1160" y="96"/>
                    <a:pt x="1180" y="48"/>
                    <a:pt x="1200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Freeform 17"/>
            <p:cNvSpPr>
              <a:spLocks/>
            </p:cNvSpPr>
            <p:nvPr/>
          </p:nvSpPr>
          <p:spPr bwMode="auto">
            <a:xfrm>
              <a:off x="7620000" y="3886200"/>
              <a:ext cx="552450" cy="874713"/>
            </a:xfrm>
            <a:custGeom>
              <a:avLst/>
              <a:gdLst>
                <a:gd name="T0" fmla="*/ 2147483647 w 348"/>
                <a:gd name="T1" fmla="*/ 2147483647 h 551"/>
                <a:gd name="T2" fmla="*/ 2147483647 w 348"/>
                <a:gd name="T3" fmla="*/ 2147483647 h 551"/>
                <a:gd name="T4" fmla="*/ 2147483647 w 348"/>
                <a:gd name="T5" fmla="*/ 2147483647 h 551"/>
                <a:gd name="T6" fmla="*/ 2147483647 w 348"/>
                <a:gd name="T7" fmla="*/ 2147483647 h 551"/>
                <a:gd name="T8" fmla="*/ 2147483647 w 348"/>
                <a:gd name="T9" fmla="*/ 2147483647 h 551"/>
                <a:gd name="T10" fmla="*/ 2147483647 w 348"/>
                <a:gd name="T11" fmla="*/ 2147483647 h 551"/>
                <a:gd name="T12" fmla="*/ 2147483647 w 348"/>
                <a:gd name="T13" fmla="*/ 2147483647 h 551"/>
                <a:gd name="T14" fmla="*/ 2147483647 w 348"/>
                <a:gd name="T15" fmla="*/ 2147483647 h 551"/>
                <a:gd name="T16" fmla="*/ 2147483647 w 348"/>
                <a:gd name="T17" fmla="*/ 2147483647 h 551"/>
                <a:gd name="T18" fmla="*/ 2147483647 w 348"/>
                <a:gd name="T19" fmla="*/ 2147483647 h 551"/>
                <a:gd name="T20" fmla="*/ 2147483647 w 348"/>
                <a:gd name="T21" fmla="*/ 2147483647 h 551"/>
                <a:gd name="T22" fmla="*/ 2147483647 w 348"/>
                <a:gd name="T23" fmla="*/ 2147483647 h 551"/>
                <a:gd name="T24" fmla="*/ 0 w 348"/>
                <a:gd name="T25" fmla="*/ 2147483647 h 551"/>
                <a:gd name="T26" fmla="*/ 2147483647 w 348"/>
                <a:gd name="T27" fmla="*/ 2147483647 h 551"/>
                <a:gd name="T28" fmla="*/ 2147483647 w 348"/>
                <a:gd name="T29" fmla="*/ 2147483647 h 55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8"/>
                <a:gd name="T46" fmla="*/ 0 h 551"/>
                <a:gd name="T47" fmla="*/ 348 w 348"/>
                <a:gd name="T48" fmla="*/ 551 h 55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8" h="551">
                  <a:moveTo>
                    <a:pt x="168" y="495"/>
                  </a:moveTo>
                  <a:cubicBezTo>
                    <a:pt x="180" y="487"/>
                    <a:pt x="196" y="483"/>
                    <a:pt x="204" y="471"/>
                  </a:cubicBezTo>
                  <a:cubicBezTo>
                    <a:pt x="217" y="450"/>
                    <a:pt x="228" y="399"/>
                    <a:pt x="228" y="399"/>
                  </a:cubicBezTo>
                  <a:cubicBezTo>
                    <a:pt x="246" y="154"/>
                    <a:pt x="214" y="290"/>
                    <a:pt x="312" y="159"/>
                  </a:cubicBezTo>
                  <a:cubicBezTo>
                    <a:pt x="316" y="143"/>
                    <a:pt x="319" y="127"/>
                    <a:pt x="324" y="111"/>
                  </a:cubicBezTo>
                  <a:cubicBezTo>
                    <a:pt x="331" y="87"/>
                    <a:pt x="348" y="39"/>
                    <a:pt x="348" y="39"/>
                  </a:cubicBezTo>
                  <a:cubicBezTo>
                    <a:pt x="344" y="27"/>
                    <a:pt x="348" y="8"/>
                    <a:pt x="336" y="3"/>
                  </a:cubicBezTo>
                  <a:cubicBezTo>
                    <a:pt x="329" y="0"/>
                    <a:pt x="263" y="23"/>
                    <a:pt x="252" y="27"/>
                  </a:cubicBezTo>
                  <a:cubicBezTo>
                    <a:pt x="248" y="39"/>
                    <a:pt x="243" y="51"/>
                    <a:pt x="240" y="63"/>
                  </a:cubicBezTo>
                  <a:cubicBezTo>
                    <a:pt x="235" y="83"/>
                    <a:pt x="246" y="114"/>
                    <a:pt x="228" y="123"/>
                  </a:cubicBezTo>
                  <a:cubicBezTo>
                    <a:pt x="214" y="130"/>
                    <a:pt x="121" y="105"/>
                    <a:pt x="96" y="99"/>
                  </a:cubicBezTo>
                  <a:cubicBezTo>
                    <a:pt x="48" y="111"/>
                    <a:pt x="45" y="100"/>
                    <a:pt x="24" y="147"/>
                  </a:cubicBezTo>
                  <a:cubicBezTo>
                    <a:pt x="14" y="170"/>
                    <a:pt x="0" y="219"/>
                    <a:pt x="0" y="219"/>
                  </a:cubicBezTo>
                  <a:cubicBezTo>
                    <a:pt x="15" y="342"/>
                    <a:pt x="27" y="356"/>
                    <a:pt x="96" y="459"/>
                  </a:cubicBezTo>
                  <a:cubicBezTo>
                    <a:pt x="113" y="485"/>
                    <a:pt x="140" y="551"/>
                    <a:pt x="168" y="495"/>
                  </a:cubicBez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Freeform 18"/>
            <p:cNvSpPr>
              <a:spLocks/>
            </p:cNvSpPr>
            <p:nvPr/>
          </p:nvSpPr>
          <p:spPr bwMode="auto">
            <a:xfrm>
              <a:off x="8077200" y="2895600"/>
              <a:ext cx="571500" cy="430213"/>
            </a:xfrm>
            <a:custGeom>
              <a:avLst/>
              <a:gdLst>
                <a:gd name="T0" fmla="*/ 0 w 444"/>
                <a:gd name="T1" fmla="*/ 2147483647 h 309"/>
                <a:gd name="T2" fmla="*/ 2147483647 w 444"/>
                <a:gd name="T3" fmla="*/ 2147483647 h 309"/>
                <a:gd name="T4" fmla="*/ 2147483647 w 444"/>
                <a:gd name="T5" fmla="*/ 2147483647 h 309"/>
                <a:gd name="T6" fmla="*/ 2147483647 w 444"/>
                <a:gd name="T7" fmla="*/ 2147483647 h 309"/>
                <a:gd name="T8" fmla="*/ 2147483647 w 444"/>
                <a:gd name="T9" fmla="*/ 2147483647 h 309"/>
                <a:gd name="T10" fmla="*/ 2147483647 w 444"/>
                <a:gd name="T11" fmla="*/ 2147483647 h 309"/>
                <a:gd name="T12" fmla="*/ 2147483647 w 444"/>
                <a:gd name="T13" fmla="*/ 2147483647 h 309"/>
                <a:gd name="T14" fmla="*/ 2147483647 w 444"/>
                <a:gd name="T15" fmla="*/ 2147483647 h 309"/>
                <a:gd name="T16" fmla="*/ 0 w 444"/>
                <a:gd name="T17" fmla="*/ 2147483647 h 3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44"/>
                <a:gd name="T28" fmla="*/ 0 h 309"/>
                <a:gd name="T29" fmla="*/ 444 w 444"/>
                <a:gd name="T30" fmla="*/ 309 h 30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44" h="309">
                  <a:moveTo>
                    <a:pt x="0" y="139"/>
                  </a:moveTo>
                  <a:cubicBezTo>
                    <a:pt x="8" y="115"/>
                    <a:pt x="16" y="91"/>
                    <a:pt x="24" y="67"/>
                  </a:cubicBezTo>
                  <a:cubicBezTo>
                    <a:pt x="32" y="43"/>
                    <a:pt x="72" y="51"/>
                    <a:pt x="96" y="43"/>
                  </a:cubicBezTo>
                  <a:cubicBezTo>
                    <a:pt x="108" y="39"/>
                    <a:pt x="132" y="31"/>
                    <a:pt x="132" y="31"/>
                  </a:cubicBezTo>
                  <a:cubicBezTo>
                    <a:pt x="180" y="34"/>
                    <a:pt x="352" y="0"/>
                    <a:pt x="408" y="79"/>
                  </a:cubicBezTo>
                  <a:cubicBezTo>
                    <a:pt x="426" y="104"/>
                    <a:pt x="427" y="138"/>
                    <a:pt x="444" y="163"/>
                  </a:cubicBezTo>
                  <a:cubicBezTo>
                    <a:pt x="423" y="309"/>
                    <a:pt x="420" y="281"/>
                    <a:pt x="264" y="295"/>
                  </a:cubicBezTo>
                  <a:cubicBezTo>
                    <a:pt x="166" y="286"/>
                    <a:pt x="132" y="295"/>
                    <a:pt x="60" y="247"/>
                  </a:cubicBezTo>
                  <a:cubicBezTo>
                    <a:pt x="5" y="164"/>
                    <a:pt x="21" y="202"/>
                    <a:pt x="0" y="139"/>
                  </a:cubicBez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Rectangle 19"/>
            <p:cNvSpPr>
              <a:spLocks noChangeArrowheads="1"/>
            </p:cNvSpPr>
            <p:nvPr/>
          </p:nvSpPr>
          <p:spPr bwMode="auto">
            <a:xfrm>
              <a:off x="5562600" y="3657600"/>
              <a:ext cx="152400" cy="1524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4118" name="Rectangle 20"/>
            <p:cNvSpPr>
              <a:spLocks noChangeArrowheads="1"/>
            </p:cNvSpPr>
            <p:nvPr/>
          </p:nvSpPr>
          <p:spPr bwMode="auto">
            <a:xfrm>
              <a:off x="8458200" y="4343400"/>
              <a:ext cx="152400" cy="1524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4119" name="AutoShape 21"/>
            <p:cNvSpPr>
              <a:spLocks noChangeArrowheads="1"/>
            </p:cNvSpPr>
            <p:nvPr/>
          </p:nvSpPr>
          <p:spPr bwMode="auto">
            <a:xfrm rot="2700000">
              <a:off x="866775" y="1512888"/>
              <a:ext cx="762000" cy="1016000"/>
            </a:xfrm>
            <a:prstGeom prst="curvedRightArrow">
              <a:avLst>
                <a:gd name="adj1" fmla="val 26667"/>
                <a:gd name="adj2" fmla="val 53333"/>
                <a:gd name="adj3" fmla="val 33333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4120" name="AutoShape 22"/>
            <p:cNvSpPr>
              <a:spLocks noChangeArrowheads="1"/>
            </p:cNvSpPr>
            <p:nvPr/>
          </p:nvSpPr>
          <p:spPr bwMode="auto">
            <a:xfrm rot="2700000">
              <a:off x="6926263" y="1608137"/>
              <a:ext cx="971550" cy="803275"/>
            </a:xfrm>
            <a:prstGeom prst="curvedDownArrow">
              <a:avLst>
                <a:gd name="adj1" fmla="val 24190"/>
                <a:gd name="adj2" fmla="val 48379"/>
                <a:gd name="adj3" fmla="val 33333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4121" name="Text Box 23"/>
            <p:cNvSpPr txBox="1">
              <a:spLocks noChangeArrowheads="1"/>
            </p:cNvSpPr>
            <p:nvPr/>
          </p:nvSpPr>
          <p:spPr bwMode="auto">
            <a:xfrm>
              <a:off x="3157538" y="2209800"/>
              <a:ext cx="22494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b="1">
                  <a:latin typeface="Calibri" panose="020F0502020204030204" pitchFamily="34" charset="0"/>
                </a:rPr>
                <a:t>REAL WORLD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22" name="Text Box 24"/>
            <p:cNvSpPr txBox="1">
              <a:spLocks noChangeArrowheads="1"/>
            </p:cNvSpPr>
            <p:nvPr/>
          </p:nvSpPr>
          <p:spPr bwMode="auto">
            <a:xfrm>
              <a:off x="1889125" y="2705100"/>
              <a:ext cx="184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23" name="Text Box 25"/>
            <p:cNvSpPr txBox="1">
              <a:spLocks noChangeArrowheads="1"/>
            </p:cNvSpPr>
            <p:nvPr/>
          </p:nvSpPr>
          <p:spPr bwMode="auto">
            <a:xfrm>
              <a:off x="457200" y="2597150"/>
              <a:ext cx="4343400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300">
                  <a:latin typeface="Calibri" panose="020F0502020204030204" pitchFamily="34" charset="0"/>
                </a:rPr>
                <a:t> 1        2        3       4       5       6       7       8       9      10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124" name="Text Box 27"/>
            <p:cNvSpPr txBox="1">
              <a:spLocks noChangeArrowheads="1"/>
            </p:cNvSpPr>
            <p:nvPr/>
          </p:nvSpPr>
          <p:spPr bwMode="auto">
            <a:xfrm>
              <a:off x="1317625" y="6172200"/>
              <a:ext cx="22844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b="1">
                  <a:latin typeface="Calibri" panose="020F0502020204030204" pitchFamily="34" charset="0"/>
                </a:rPr>
                <a:t>GRID RASTER</a:t>
              </a:r>
              <a:endParaRPr lang="en-US" altLang="en-US" sz="2400">
                <a:latin typeface="Calibri" panose="020F0502020204030204" pitchFamily="34" charset="0"/>
              </a:endParaRPr>
            </a:p>
          </p:txBody>
        </p:sp>
        <p:sp>
          <p:nvSpPr>
            <p:cNvPr id="4125" name="Text Box 28"/>
            <p:cNvSpPr txBox="1">
              <a:spLocks noChangeArrowheads="1"/>
            </p:cNvSpPr>
            <p:nvPr/>
          </p:nvSpPr>
          <p:spPr bwMode="auto">
            <a:xfrm>
              <a:off x="6440488" y="6210300"/>
              <a:ext cx="1454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b="1">
                  <a:latin typeface="Calibri" panose="020F0502020204030204" pitchFamily="34" charset="0"/>
                </a:rPr>
                <a:t>VECTOR</a:t>
              </a:r>
            </a:p>
          </p:txBody>
        </p:sp>
        <p:grpSp>
          <p:nvGrpSpPr>
            <p:cNvPr id="4126" name="Group 29"/>
            <p:cNvGrpSpPr>
              <a:grpSpLocks/>
            </p:cNvGrpSpPr>
            <p:nvPr/>
          </p:nvGrpSpPr>
          <p:grpSpPr bwMode="auto">
            <a:xfrm>
              <a:off x="457200" y="2895600"/>
              <a:ext cx="4114800" cy="3352800"/>
              <a:chOff x="288" y="1824"/>
              <a:chExt cx="2592" cy="2112"/>
            </a:xfrm>
          </p:grpSpPr>
          <p:sp>
            <p:nvSpPr>
              <p:cNvPr id="4127" name="Rectangle 30"/>
              <p:cNvSpPr>
                <a:spLocks noChangeArrowheads="1"/>
              </p:cNvSpPr>
              <p:nvPr/>
            </p:nvSpPr>
            <p:spPr bwMode="auto">
              <a:xfrm>
                <a:off x="288" y="182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28" name="Rectangle 31"/>
              <p:cNvSpPr>
                <a:spLocks noChangeArrowheads="1"/>
              </p:cNvSpPr>
              <p:nvPr/>
            </p:nvSpPr>
            <p:spPr bwMode="auto">
              <a:xfrm>
                <a:off x="576" y="182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29" name="Rectangle 32"/>
              <p:cNvSpPr>
                <a:spLocks noChangeArrowheads="1"/>
              </p:cNvSpPr>
              <p:nvPr/>
            </p:nvSpPr>
            <p:spPr bwMode="auto">
              <a:xfrm>
                <a:off x="864" y="182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0" name="Rectangle 33"/>
              <p:cNvSpPr>
                <a:spLocks noChangeArrowheads="1"/>
              </p:cNvSpPr>
              <p:nvPr/>
            </p:nvSpPr>
            <p:spPr bwMode="auto">
              <a:xfrm>
                <a:off x="1152" y="182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1" name="Rectangle 34"/>
              <p:cNvSpPr>
                <a:spLocks noChangeArrowheads="1"/>
              </p:cNvSpPr>
              <p:nvPr/>
            </p:nvSpPr>
            <p:spPr bwMode="auto">
              <a:xfrm>
                <a:off x="1440" y="182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2" name="Rectangle 35"/>
              <p:cNvSpPr>
                <a:spLocks noChangeArrowheads="1"/>
              </p:cNvSpPr>
              <p:nvPr/>
            </p:nvSpPr>
            <p:spPr bwMode="auto">
              <a:xfrm>
                <a:off x="1728" y="1824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3" name="Rectangle 36"/>
              <p:cNvSpPr>
                <a:spLocks noChangeArrowheads="1"/>
              </p:cNvSpPr>
              <p:nvPr/>
            </p:nvSpPr>
            <p:spPr bwMode="auto">
              <a:xfrm>
                <a:off x="2016" y="182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4" name="Rectangle 37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5" name="Rectangle 38"/>
              <p:cNvSpPr>
                <a:spLocks noChangeArrowheads="1"/>
              </p:cNvSpPr>
              <p:nvPr/>
            </p:nvSpPr>
            <p:spPr bwMode="auto">
              <a:xfrm>
                <a:off x="2592" y="1824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6" name="Rectangle 39"/>
              <p:cNvSpPr>
                <a:spLocks noChangeArrowheads="1"/>
              </p:cNvSpPr>
              <p:nvPr/>
            </p:nvSpPr>
            <p:spPr bwMode="auto">
              <a:xfrm>
                <a:off x="288" y="201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7" name="Rectangle 40"/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8" name="Rectangle 41"/>
              <p:cNvSpPr>
                <a:spLocks noChangeArrowheads="1"/>
              </p:cNvSpPr>
              <p:nvPr/>
            </p:nvSpPr>
            <p:spPr bwMode="auto">
              <a:xfrm>
                <a:off x="864" y="201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39" name="Rectangle 42"/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0" name="Rectangle 43"/>
              <p:cNvSpPr>
                <a:spLocks noChangeArrowheads="1"/>
              </p:cNvSpPr>
              <p:nvPr/>
            </p:nvSpPr>
            <p:spPr bwMode="auto">
              <a:xfrm>
                <a:off x="1440" y="201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1" name="Rectangle 44"/>
              <p:cNvSpPr>
                <a:spLocks noChangeArrowheads="1"/>
              </p:cNvSpPr>
              <p:nvPr/>
            </p:nvSpPr>
            <p:spPr bwMode="auto">
              <a:xfrm>
                <a:off x="1728" y="2016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2" name="Rectangle 45"/>
              <p:cNvSpPr>
                <a:spLocks noChangeArrowheads="1"/>
              </p:cNvSpPr>
              <p:nvPr/>
            </p:nvSpPr>
            <p:spPr bwMode="auto">
              <a:xfrm>
                <a:off x="2016" y="201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3" name="Rectangle 46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4" name="Rectangle 47"/>
              <p:cNvSpPr>
                <a:spLocks noChangeArrowheads="1"/>
              </p:cNvSpPr>
              <p:nvPr/>
            </p:nvSpPr>
            <p:spPr bwMode="auto">
              <a:xfrm>
                <a:off x="2592" y="2016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5" name="Rectangle 48"/>
              <p:cNvSpPr>
                <a:spLocks noChangeArrowheads="1"/>
              </p:cNvSpPr>
              <p:nvPr/>
            </p:nvSpPr>
            <p:spPr bwMode="auto">
              <a:xfrm>
                <a:off x="288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6" name="Rectangle 49"/>
              <p:cNvSpPr>
                <a:spLocks noChangeArrowheads="1"/>
              </p:cNvSpPr>
              <p:nvPr/>
            </p:nvSpPr>
            <p:spPr bwMode="auto">
              <a:xfrm>
                <a:off x="576" y="2208"/>
                <a:ext cx="288" cy="19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7" name="Rectangle 50"/>
              <p:cNvSpPr>
                <a:spLocks noChangeArrowheads="1"/>
              </p:cNvSpPr>
              <p:nvPr/>
            </p:nvSpPr>
            <p:spPr bwMode="auto">
              <a:xfrm>
                <a:off x="864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8" name="Rectangle 51"/>
              <p:cNvSpPr>
                <a:spLocks noChangeArrowheads="1"/>
              </p:cNvSpPr>
              <p:nvPr/>
            </p:nvSpPr>
            <p:spPr bwMode="auto">
              <a:xfrm>
                <a:off x="1152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49" name="Rectangle 52"/>
              <p:cNvSpPr>
                <a:spLocks noChangeArrowheads="1"/>
              </p:cNvSpPr>
              <p:nvPr/>
            </p:nvSpPr>
            <p:spPr bwMode="auto">
              <a:xfrm>
                <a:off x="1440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0" name="Rectangle 53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1" name="Rectangle 54"/>
              <p:cNvSpPr>
                <a:spLocks noChangeArrowheads="1"/>
              </p:cNvSpPr>
              <p:nvPr/>
            </p:nvSpPr>
            <p:spPr bwMode="auto">
              <a:xfrm>
                <a:off x="2016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2" name="Rectangle 55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3" name="Rectangle 56"/>
              <p:cNvSpPr>
                <a:spLocks noChangeArrowheads="1"/>
              </p:cNvSpPr>
              <p:nvPr/>
            </p:nvSpPr>
            <p:spPr bwMode="auto">
              <a:xfrm>
                <a:off x="2592" y="220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4" name="Rectangle 57"/>
              <p:cNvSpPr>
                <a:spLocks noChangeArrowheads="1"/>
              </p:cNvSpPr>
              <p:nvPr/>
            </p:nvSpPr>
            <p:spPr bwMode="auto">
              <a:xfrm>
                <a:off x="288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5" name="Rectangle 58"/>
              <p:cNvSpPr>
                <a:spLocks noChangeArrowheads="1"/>
              </p:cNvSpPr>
              <p:nvPr/>
            </p:nvSpPr>
            <p:spPr bwMode="auto">
              <a:xfrm>
                <a:off x="576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6" name="Rectangle 59"/>
              <p:cNvSpPr>
                <a:spLocks noChangeArrowheads="1"/>
              </p:cNvSpPr>
              <p:nvPr/>
            </p:nvSpPr>
            <p:spPr bwMode="auto">
              <a:xfrm>
                <a:off x="864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7" name="Rectangle 60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8" name="Rectangle 61"/>
              <p:cNvSpPr>
                <a:spLocks noChangeArrowheads="1"/>
              </p:cNvSpPr>
              <p:nvPr/>
            </p:nvSpPr>
            <p:spPr bwMode="auto">
              <a:xfrm>
                <a:off x="1440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59" name="Rectangle 62"/>
              <p:cNvSpPr>
                <a:spLocks noChangeArrowheads="1"/>
              </p:cNvSpPr>
              <p:nvPr/>
            </p:nvSpPr>
            <p:spPr bwMode="auto">
              <a:xfrm>
                <a:off x="1728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0" name="Rectangle 63"/>
              <p:cNvSpPr>
                <a:spLocks noChangeArrowheads="1"/>
              </p:cNvSpPr>
              <p:nvPr/>
            </p:nvSpPr>
            <p:spPr bwMode="auto">
              <a:xfrm>
                <a:off x="2016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1" name="Rectangle 64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2" name="Rectangle 65"/>
              <p:cNvSpPr>
                <a:spLocks noChangeArrowheads="1"/>
              </p:cNvSpPr>
              <p:nvPr/>
            </p:nvSpPr>
            <p:spPr bwMode="auto">
              <a:xfrm>
                <a:off x="2592" y="240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3" name="Rectangle 66"/>
              <p:cNvSpPr>
                <a:spLocks noChangeArrowheads="1"/>
              </p:cNvSpPr>
              <p:nvPr/>
            </p:nvSpPr>
            <p:spPr bwMode="auto">
              <a:xfrm>
                <a:off x="288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4" name="Rectangle 67"/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5" name="Rectangle 68"/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6" name="Rectangle 69"/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7" name="Rectangle 70"/>
              <p:cNvSpPr>
                <a:spLocks noChangeArrowheads="1"/>
              </p:cNvSpPr>
              <p:nvPr/>
            </p:nvSpPr>
            <p:spPr bwMode="auto">
              <a:xfrm>
                <a:off x="1440" y="2592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8" name="Rectangle 71"/>
              <p:cNvSpPr>
                <a:spLocks noChangeArrowheads="1"/>
              </p:cNvSpPr>
              <p:nvPr/>
            </p:nvSpPr>
            <p:spPr bwMode="auto">
              <a:xfrm>
                <a:off x="1728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69" name="Rectangle 72"/>
              <p:cNvSpPr>
                <a:spLocks noChangeArrowheads="1"/>
              </p:cNvSpPr>
              <p:nvPr/>
            </p:nvSpPr>
            <p:spPr bwMode="auto">
              <a:xfrm>
                <a:off x="2016" y="2592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0" name="Rectangle 73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1" name="Rectangle 74"/>
              <p:cNvSpPr>
                <a:spLocks noChangeArrowheads="1"/>
              </p:cNvSpPr>
              <p:nvPr/>
            </p:nvSpPr>
            <p:spPr bwMode="auto">
              <a:xfrm>
                <a:off x="2592" y="259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2" name="Rectangle 75"/>
              <p:cNvSpPr>
                <a:spLocks noChangeArrowheads="1"/>
              </p:cNvSpPr>
              <p:nvPr/>
            </p:nvSpPr>
            <p:spPr bwMode="auto">
              <a:xfrm>
                <a:off x="288" y="278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3" name="Rectangle 76"/>
              <p:cNvSpPr>
                <a:spLocks noChangeArrowheads="1"/>
              </p:cNvSpPr>
              <p:nvPr/>
            </p:nvSpPr>
            <p:spPr bwMode="auto">
              <a:xfrm>
                <a:off x="576" y="278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4" name="Rectangle 77"/>
              <p:cNvSpPr>
                <a:spLocks noChangeArrowheads="1"/>
              </p:cNvSpPr>
              <p:nvPr/>
            </p:nvSpPr>
            <p:spPr bwMode="auto">
              <a:xfrm>
                <a:off x="864" y="278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5" name="Rectangle 78"/>
              <p:cNvSpPr>
                <a:spLocks noChangeArrowheads="1"/>
              </p:cNvSpPr>
              <p:nvPr/>
            </p:nvSpPr>
            <p:spPr bwMode="auto">
              <a:xfrm>
                <a:off x="1152" y="278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6" name="Rectangle 79"/>
              <p:cNvSpPr>
                <a:spLocks noChangeArrowheads="1"/>
              </p:cNvSpPr>
              <p:nvPr/>
            </p:nvSpPr>
            <p:spPr bwMode="auto">
              <a:xfrm>
                <a:off x="1440" y="2784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7" name="Rectangle 80"/>
              <p:cNvSpPr>
                <a:spLocks noChangeArrowheads="1"/>
              </p:cNvSpPr>
              <p:nvPr/>
            </p:nvSpPr>
            <p:spPr bwMode="auto">
              <a:xfrm>
                <a:off x="1728" y="2784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8" name="Rectangle 81"/>
              <p:cNvSpPr>
                <a:spLocks noChangeArrowheads="1"/>
              </p:cNvSpPr>
              <p:nvPr/>
            </p:nvSpPr>
            <p:spPr bwMode="auto">
              <a:xfrm>
                <a:off x="2016" y="2784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79" name="Rectangle 82"/>
              <p:cNvSpPr>
                <a:spLocks noChangeArrowheads="1"/>
              </p:cNvSpPr>
              <p:nvPr/>
            </p:nvSpPr>
            <p:spPr bwMode="auto">
              <a:xfrm>
                <a:off x="2304" y="278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0" name="Rectangle 83"/>
              <p:cNvSpPr>
                <a:spLocks noChangeArrowheads="1"/>
              </p:cNvSpPr>
              <p:nvPr/>
            </p:nvSpPr>
            <p:spPr bwMode="auto">
              <a:xfrm>
                <a:off x="2592" y="2784"/>
                <a:ext cx="288" cy="19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1" name="Rectangle 84"/>
              <p:cNvSpPr>
                <a:spLocks noChangeArrowheads="1"/>
              </p:cNvSpPr>
              <p:nvPr/>
            </p:nvSpPr>
            <p:spPr bwMode="auto">
              <a:xfrm>
                <a:off x="288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2" name="Rectangle 85"/>
              <p:cNvSpPr>
                <a:spLocks noChangeArrowheads="1"/>
              </p:cNvSpPr>
              <p:nvPr/>
            </p:nvSpPr>
            <p:spPr bwMode="auto">
              <a:xfrm>
                <a:off x="576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3" name="Rectangle 86"/>
              <p:cNvSpPr>
                <a:spLocks noChangeArrowheads="1"/>
              </p:cNvSpPr>
              <p:nvPr/>
            </p:nvSpPr>
            <p:spPr bwMode="auto">
              <a:xfrm>
                <a:off x="864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4" name="Rectangle 87"/>
              <p:cNvSpPr>
                <a:spLocks noChangeArrowheads="1"/>
              </p:cNvSpPr>
              <p:nvPr/>
            </p:nvSpPr>
            <p:spPr bwMode="auto">
              <a:xfrm>
                <a:off x="1152" y="2976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5" name="Rectangle 88"/>
              <p:cNvSpPr>
                <a:spLocks noChangeArrowheads="1"/>
              </p:cNvSpPr>
              <p:nvPr/>
            </p:nvSpPr>
            <p:spPr bwMode="auto">
              <a:xfrm>
                <a:off x="1440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6" name="Rectangle 89"/>
              <p:cNvSpPr>
                <a:spLocks noChangeArrowheads="1"/>
              </p:cNvSpPr>
              <p:nvPr/>
            </p:nvSpPr>
            <p:spPr bwMode="auto">
              <a:xfrm>
                <a:off x="1728" y="2976"/>
                <a:ext cx="288" cy="192"/>
              </a:xfrm>
              <a:prstGeom prst="rect">
                <a:avLst/>
              </a:prstGeom>
              <a:solidFill>
                <a:srgbClr val="DADADA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7" name="Rectangle 90"/>
              <p:cNvSpPr>
                <a:spLocks noChangeArrowheads="1"/>
              </p:cNvSpPr>
              <p:nvPr/>
            </p:nvSpPr>
            <p:spPr bwMode="auto">
              <a:xfrm>
                <a:off x="2016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8" name="Rectangle 91"/>
              <p:cNvSpPr>
                <a:spLocks noChangeArrowheads="1"/>
              </p:cNvSpPr>
              <p:nvPr/>
            </p:nvSpPr>
            <p:spPr bwMode="auto">
              <a:xfrm>
                <a:off x="2304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89" name="Rectangle 92"/>
              <p:cNvSpPr>
                <a:spLocks noChangeArrowheads="1"/>
              </p:cNvSpPr>
              <p:nvPr/>
            </p:nvSpPr>
            <p:spPr bwMode="auto">
              <a:xfrm>
                <a:off x="2592" y="2976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0" name="Rectangle 93"/>
              <p:cNvSpPr>
                <a:spLocks noChangeArrowheads="1"/>
              </p:cNvSpPr>
              <p:nvPr/>
            </p:nvSpPr>
            <p:spPr bwMode="auto">
              <a:xfrm>
                <a:off x="288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1" name="Rectangle 94"/>
              <p:cNvSpPr>
                <a:spLocks noChangeArrowheads="1"/>
              </p:cNvSpPr>
              <p:nvPr/>
            </p:nvSpPr>
            <p:spPr bwMode="auto">
              <a:xfrm>
                <a:off x="576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2" name="Rectangle 95"/>
              <p:cNvSpPr>
                <a:spLocks noChangeArrowheads="1"/>
              </p:cNvSpPr>
              <p:nvPr/>
            </p:nvSpPr>
            <p:spPr bwMode="auto">
              <a:xfrm>
                <a:off x="864" y="3168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3" name="Rectangle 96"/>
              <p:cNvSpPr>
                <a:spLocks noChangeArrowheads="1"/>
              </p:cNvSpPr>
              <p:nvPr/>
            </p:nvSpPr>
            <p:spPr bwMode="auto">
              <a:xfrm>
                <a:off x="1152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4" name="Rectangle 97"/>
              <p:cNvSpPr>
                <a:spLocks noChangeArrowheads="1"/>
              </p:cNvSpPr>
              <p:nvPr/>
            </p:nvSpPr>
            <p:spPr bwMode="auto">
              <a:xfrm>
                <a:off x="1440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5" name="Rectangle 98"/>
              <p:cNvSpPr>
                <a:spLocks noChangeArrowheads="1"/>
              </p:cNvSpPr>
              <p:nvPr/>
            </p:nvSpPr>
            <p:spPr bwMode="auto">
              <a:xfrm>
                <a:off x="1728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6" name="Rectangle 99"/>
              <p:cNvSpPr>
                <a:spLocks noChangeArrowheads="1"/>
              </p:cNvSpPr>
              <p:nvPr/>
            </p:nvSpPr>
            <p:spPr bwMode="auto">
              <a:xfrm>
                <a:off x="2016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7" name="Rectangle 100"/>
              <p:cNvSpPr>
                <a:spLocks noChangeArrowheads="1"/>
              </p:cNvSpPr>
              <p:nvPr/>
            </p:nvSpPr>
            <p:spPr bwMode="auto">
              <a:xfrm>
                <a:off x="2304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8" name="Rectangle 101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199" name="Rectangle 102"/>
              <p:cNvSpPr>
                <a:spLocks noChangeArrowheads="1"/>
              </p:cNvSpPr>
              <p:nvPr/>
            </p:nvSpPr>
            <p:spPr bwMode="auto">
              <a:xfrm>
                <a:off x="288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0" name="Rectangle 103"/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1" name="Rectangle 104"/>
              <p:cNvSpPr>
                <a:spLocks noChangeArrowheads="1"/>
              </p:cNvSpPr>
              <p:nvPr/>
            </p:nvSpPr>
            <p:spPr bwMode="auto">
              <a:xfrm>
                <a:off x="864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2" name="Rectangle 105"/>
              <p:cNvSpPr>
                <a:spLocks noChangeArrowheads="1"/>
              </p:cNvSpPr>
              <p:nvPr/>
            </p:nvSpPr>
            <p:spPr bwMode="auto">
              <a:xfrm>
                <a:off x="1152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3" name="Rectangle 106"/>
              <p:cNvSpPr>
                <a:spLocks noChangeArrowheads="1"/>
              </p:cNvSpPr>
              <p:nvPr/>
            </p:nvSpPr>
            <p:spPr bwMode="auto">
              <a:xfrm>
                <a:off x="1440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4" name="Rectangle 107"/>
              <p:cNvSpPr>
                <a:spLocks noChangeArrowheads="1"/>
              </p:cNvSpPr>
              <p:nvPr/>
            </p:nvSpPr>
            <p:spPr bwMode="auto">
              <a:xfrm>
                <a:off x="1728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5" name="Rectangle 108"/>
              <p:cNvSpPr>
                <a:spLocks noChangeArrowheads="1"/>
              </p:cNvSpPr>
              <p:nvPr/>
            </p:nvSpPr>
            <p:spPr bwMode="auto">
              <a:xfrm>
                <a:off x="2016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6" name="Rectangle 109"/>
              <p:cNvSpPr>
                <a:spLocks noChangeArrowheads="1"/>
              </p:cNvSpPr>
              <p:nvPr/>
            </p:nvSpPr>
            <p:spPr bwMode="auto">
              <a:xfrm>
                <a:off x="2304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7" name="Rectangle 110"/>
              <p:cNvSpPr>
                <a:spLocks noChangeArrowheads="1"/>
              </p:cNvSpPr>
              <p:nvPr/>
            </p:nvSpPr>
            <p:spPr bwMode="auto">
              <a:xfrm>
                <a:off x="2592" y="3360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8" name="Rectangle 111"/>
              <p:cNvSpPr>
                <a:spLocks noChangeArrowheads="1"/>
              </p:cNvSpPr>
              <p:nvPr/>
            </p:nvSpPr>
            <p:spPr bwMode="auto">
              <a:xfrm>
                <a:off x="288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09" name="Rectangle 112"/>
              <p:cNvSpPr>
                <a:spLocks noChangeArrowheads="1"/>
              </p:cNvSpPr>
              <p:nvPr/>
            </p:nvSpPr>
            <p:spPr bwMode="auto">
              <a:xfrm>
                <a:off x="576" y="3552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0" name="Rectangle 113"/>
              <p:cNvSpPr>
                <a:spLocks noChangeArrowheads="1"/>
              </p:cNvSpPr>
              <p:nvPr/>
            </p:nvSpPr>
            <p:spPr bwMode="auto">
              <a:xfrm>
                <a:off x="864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1" name="Rectangle 114"/>
              <p:cNvSpPr>
                <a:spLocks noChangeArrowheads="1"/>
              </p:cNvSpPr>
              <p:nvPr/>
            </p:nvSpPr>
            <p:spPr bwMode="auto">
              <a:xfrm>
                <a:off x="1152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2" name="Rectangle 115"/>
              <p:cNvSpPr>
                <a:spLocks noChangeArrowheads="1"/>
              </p:cNvSpPr>
              <p:nvPr/>
            </p:nvSpPr>
            <p:spPr bwMode="auto">
              <a:xfrm>
                <a:off x="1440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3" name="Rectangle 116"/>
              <p:cNvSpPr>
                <a:spLocks noChangeArrowheads="1"/>
              </p:cNvSpPr>
              <p:nvPr/>
            </p:nvSpPr>
            <p:spPr bwMode="auto">
              <a:xfrm>
                <a:off x="1728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4" name="Rectangle 117"/>
              <p:cNvSpPr>
                <a:spLocks noChangeArrowheads="1"/>
              </p:cNvSpPr>
              <p:nvPr/>
            </p:nvSpPr>
            <p:spPr bwMode="auto">
              <a:xfrm>
                <a:off x="2016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5" name="Rectangle 118"/>
              <p:cNvSpPr>
                <a:spLocks noChangeArrowheads="1"/>
              </p:cNvSpPr>
              <p:nvPr/>
            </p:nvSpPr>
            <p:spPr bwMode="auto">
              <a:xfrm>
                <a:off x="2304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6" name="Rectangle 119"/>
              <p:cNvSpPr>
                <a:spLocks noChangeArrowheads="1"/>
              </p:cNvSpPr>
              <p:nvPr/>
            </p:nvSpPr>
            <p:spPr bwMode="auto">
              <a:xfrm>
                <a:off x="2592" y="3552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7" name="Rectangle 120"/>
              <p:cNvSpPr>
                <a:spLocks noChangeArrowheads="1"/>
              </p:cNvSpPr>
              <p:nvPr/>
            </p:nvSpPr>
            <p:spPr bwMode="auto">
              <a:xfrm>
                <a:off x="288" y="3744"/>
                <a:ext cx="288" cy="192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8" name="Rectangle 121"/>
              <p:cNvSpPr>
                <a:spLocks noChangeArrowheads="1"/>
              </p:cNvSpPr>
              <p:nvPr/>
            </p:nvSpPr>
            <p:spPr bwMode="auto">
              <a:xfrm>
                <a:off x="576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19" name="Rectangle 122"/>
              <p:cNvSpPr>
                <a:spLocks noChangeArrowheads="1"/>
              </p:cNvSpPr>
              <p:nvPr/>
            </p:nvSpPr>
            <p:spPr bwMode="auto">
              <a:xfrm>
                <a:off x="864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20" name="Rectangle 123"/>
              <p:cNvSpPr>
                <a:spLocks noChangeArrowheads="1"/>
              </p:cNvSpPr>
              <p:nvPr/>
            </p:nvSpPr>
            <p:spPr bwMode="auto">
              <a:xfrm>
                <a:off x="1152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21" name="Rectangle 124"/>
              <p:cNvSpPr>
                <a:spLocks noChangeArrowheads="1"/>
              </p:cNvSpPr>
              <p:nvPr/>
            </p:nvSpPr>
            <p:spPr bwMode="auto">
              <a:xfrm>
                <a:off x="1440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22" name="Rectangle 125"/>
              <p:cNvSpPr>
                <a:spLocks noChangeArrowheads="1"/>
              </p:cNvSpPr>
              <p:nvPr/>
            </p:nvSpPr>
            <p:spPr bwMode="auto">
              <a:xfrm>
                <a:off x="1728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23" name="Rectangle 126"/>
              <p:cNvSpPr>
                <a:spLocks noChangeArrowheads="1"/>
              </p:cNvSpPr>
              <p:nvPr/>
            </p:nvSpPr>
            <p:spPr bwMode="auto">
              <a:xfrm>
                <a:off x="2016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24" name="Rectangle 127"/>
              <p:cNvSpPr>
                <a:spLocks noChangeArrowheads="1"/>
              </p:cNvSpPr>
              <p:nvPr/>
            </p:nvSpPr>
            <p:spPr bwMode="auto">
              <a:xfrm>
                <a:off x="2304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4225" name="Rectangle 128"/>
              <p:cNvSpPr>
                <a:spLocks noChangeArrowheads="1"/>
              </p:cNvSpPr>
              <p:nvPr/>
            </p:nvSpPr>
            <p:spPr bwMode="auto">
              <a:xfrm>
                <a:off x="2592" y="3744"/>
                <a:ext cx="28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en-US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30" name="Slide Number Placeholder 1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FD2C0DA-F173-42C7-BDC4-FDD4D9C5A318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4278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2139950" y="234950"/>
            <a:ext cx="2730500" cy="1687309"/>
            <a:chOff x="2139950" y="234950"/>
            <a:chExt cx="2730500" cy="1687309"/>
          </a:xfrm>
        </p:grpSpPr>
        <p:sp>
          <p:nvSpPr>
            <p:cNvPr id="20604" name="Rectangle 15"/>
            <p:cNvSpPr>
              <a:spLocks noChangeArrowheads="1"/>
            </p:cNvSpPr>
            <p:nvPr/>
          </p:nvSpPr>
          <p:spPr bwMode="auto">
            <a:xfrm>
              <a:off x="2139950" y="234950"/>
              <a:ext cx="27305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605" name="Freeform 39"/>
            <p:cNvSpPr>
              <a:spLocks/>
            </p:cNvSpPr>
            <p:nvPr/>
          </p:nvSpPr>
          <p:spPr bwMode="auto">
            <a:xfrm>
              <a:off x="3810000" y="304800"/>
              <a:ext cx="992188" cy="611188"/>
            </a:xfrm>
            <a:custGeom>
              <a:avLst/>
              <a:gdLst>
                <a:gd name="T0" fmla="*/ 2147483647 w 625"/>
                <a:gd name="T1" fmla="*/ 2147483647 h 385"/>
                <a:gd name="T2" fmla="*/ 2147483647 w 625"/>
                <a:gd name="T3" fmla="*/ 2147483647 h 385"/>
                <a:gd name="T4" fmla="*/ 2147483647 w 625"/>
                <a:gd name="T5" fmla="*/ 0 h 385"/>
                <a:gd name="T6" fmla="*/ 2147483647 w 625"/>
                <a:gd name="T7" fmla="*/ 0 h 385"/>
                <a:gd name="T8" fmla="*/ 2147483647 w 625"/>
                <a:gd name="T9" fmla="*/ 2147483647 h 385"/>
                <a:gd name="T10" fmla="*/ 2147483647 w 625"/>
                <a:gd name="T11" fmla="*/ 2147483647 h 385"/>
                <a:gd name="T12" fmla="*/ 2147483647 w 625"/>
                <a:gd name="T13" fmla="*/ 2147483647 h 385"/>
                <a:gd name="T14" fmla="*/ 2147483647 w 625"/>
                <a:gd name="T15" fmla="*/ 2147483647 h 385"/>
                <a:gd name="T16" fmla="*/ 2147483647 w 625"/>
                <a:gd name="T17" fmla="*/ 2147483647 h 385"/>
                <a:gd name="T18" fmla="*/ 2147483647 w 625"/>
                <a:gd name="T19" fmla="*/ 2147483647 h 385"/>
                <a:gd name="T20" fmla="*/ 2147483647 w 625"/>
                <a:gd name="T21" fmla="*/ 2147483647 h 385"/>
                <a:gd name="T22" fmla="*/ 2147483647 w 625"/>
                <a:gd name="T23" fmla="*/ 2147483647 h 385"/>
                <a:gd name="T24" fmla="*/ 0 w 625"/>
                <a:gd name="T25" fmla="*/ 2147483647 h 385"/>
                <a:gd name="T26" fmla="*/ 2147483647 w 625"/>
                <a:gd name="T27" fmla="*/ 2147483647 h 38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25"/>
                <a:gd name="T43" fmla="*/ 0 h 385"/>
                <a:gd name="T44" fmla="*/ 625 w 625"/>
                <a:gd name="T45" fmla="*/ 385 h 38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25" h="385">
                  <a:moveTo>
                    <a:pt x="96" y="144"/>
                  </a:moveTo>
                  <a:lnTo>
                    <a:pt x="240" y="48"/>
                  </a:lnTo>
                  <a:lnTo>
                    <a:pt x="384" y="0"/>
                  </a:lnTo>
                  <a:lnTo>
                    <a:pt x="528" y="0"/>
                  </a:lnTo>
                  <a:lnTo>
                    <a:pt x="576" y="96"/>
                  </a:lnTo>
                  <a:lnTo>
                    <a:pt x="624" y="144"/>
                  </a:lnTo>
                  <a:lnTo>
                    <a:pt x="624" y="240"/>
                  </a:lnTo>
                  <a:lnTo>
                    <a:pt x="528" y="288"/>
                  </a:lnTo>
                  <a:lnTo>
                    <a:pt x="432" y="384"/>
                  </a:lnTo>
                  <a:lnTo>
                    <a:pt x="240" y="384"/>
                  </a:lnTo>
                  <a:lnTo>
                    <a:pt x="144" y="288"/>
                  </a:lnTo>
                  <a:lnTo>
                    <a:pt x="48" y="240"/>
                  </a:lnTo>
                  <a:lnTo>
                    <a:pt x="0" y="144"/>
                  </a:lnTo>
                  <a:lnTo>
                    <a:pt x="96" y="14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40"/>
            <p:cNvSpPr>
              <a:spLocks/>
            </p:cNvSpPr>
            <p:nvPr/>
          </p:nvSpPr>
          <p:spPr bwMode="auto">
            <a:xfrm>
              <a:off x="2286000" y="838200"/>
              <a:ext cx="611188" cy="382588"/>
            </a:xfrm>
            <a:custGeom>
              <a:avLst/>
              <a:gdLst>
                <a:gd name="T0" fmla="*/ 2147483647 w 385"/>
                <a:gd name="T1" fmla="*/ 2147483647 h 241"/>
                <a:gd name="T2" fmla="*/ 2147483647 w 385"/>
                <a:gd name="T3" fmla="*/ 0 h 241"/>
                <a:gd name="T4" fmla="*/ 2147483647 w 385"/>
                <a:gd name="T5" fmla="*/ 2147483647 h 241"/>
                <a:gd name="T6" fmla="*/ 2147483647 w 385"/>
                <a:gd name="T7" fmla="*/ 2147483647 h 241"/>
                <a:gd name="T8" fmla="*/ 2147483647 w 385"/>
                <a:gd name="T9" fmla="*/ 2147483647 h 241"/>
                <a:gd name="T10" fmla="*/ 2147483647 w 385"/>
                <a:gd name="T11" fmla="*/ 2147483647 h 241"/>
                <a:gd name="T12" fmla="*/ 2147483647 w 385"/>
                <a:gd name="T13" fmla="*/ 2147483647 h 241"/>
                <a:gd name="T14" fmla="*/ 0 w 385"/>
                <a:gd name="T15" fmla="*/ 2147483647 h 241"/>
                <a:gd name="T16" fmla="*/ 2147483647 w 385"/>
                <a:gd name="T17" fmla="*/ 2147483647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5"/>
                <a:gd name="T28" fmla="*/ 0 h 241"/>
                <a:gd name="T29" fmla="*/ 385 w 385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5" h="241">
                  <a:moveTo>
                    <a:pt x="48" y="48"/>
                  </a:moveTo>
                  <a:lnTo>
                    <a:pt x="144" y="0"/>
                  </a:lnTo>
                  <a:lnTo>
                    <a:pt x="288" y="48"/>
                  </a:lnTo>
                  <a:lnTo>
                    <a:pt x="384" y="96"/>
                  </a:lnTo>
                  <a:lnTo>
                    <a:pt x="384" y="192"/>
                  </a:lnTo>
                  <a:lnTo>
                    <a:pt x="192" y="240"/>
                  </a:lnTo>
                  <a:lnTo>
                    <a:pt x="96" y="240"/>
                  </a:lnTo>
                  <a:lnTo>
                    <a:pt x="0" y="144"/>
                  </a:lnTo>
                  <a:lnTo>
                    <a:pt x="48" y="4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41"/>
            <p:cNvSpPr>
              <a:spLocks/>
            </p:cNvSpPr>
            <p:nvPr/>
          </p:nvSpPr>
          <p:spPr bwMode="auto">
            <a:xfrm>
              <a:off x="2895600" y="1066800"/>
              <a:ext cx="306388" cy="534988"/>
            </a:xfrm>
            <a:custGeom>
              <a:avLst/>
              <a:gdLst>
                <a:gd name="T0" fmla="*/ 0 w 193"/>
                <a:gd name="T1" fmla="*/ 0 h 337"/>
                <a:gd name="T2" fmla="*/ 2147483647 w 193"/>
                <a:gd name="T3" fmla="*/ 2147483647 h 337"/>
                <a:gd name="T4" fmla="*/ 2147483647 w 193"/>
                <a:gd name="T5" fmla="*/ 2147483647 h 337"/>
                <a:gd name="T6" fmla="*/ 2147483647 w 193"/>
                <a:gd name="T7" fmla="*/ 2147483647 h 337"/>
                <a:gd name="T8" fmla="*/ 2147483647 w 193"/>
                <a:gd name="T9" fmla="*/ 2147483647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337"/>
                <a:gd name="T17" fmla="*/ 193 w 193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337">
                  <a:moveTo>
                    <a:pt x="0" y="0"/>
                  </a:moveTo>
                  <a:lnTo>
                    <a:pt x="96" y="48"/>
                  </a:lnTo>
                  <a:lnTo>
                    <a:pt x="192" y="144"/>
                  </a:lnTo>
                  <a:lnTo>
                    <a:pt x="96" y="240"/>
                  </a:lnTo>
                  <a:lnTo>
                    <a:pt x="48" y="336"/>
                  </a:lnTo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42"/>
            <p:cNvSpPr>
              <a:spLocks/>
            </p:cNvSpPr>
            <p:nvPr/>
          </p:nvSpPr>
          <p:spPr bwMode="auto">
            <a:xfrm>
              <a:off x="3200400" y="762000"/>
              <a:ext cx="839788" cy="534988"/>
            </a:xfrm>
            <a:custGeom>
              <a:avLst/>
              <a:gdLst>
                <a:gd name="T0" fmla="*/ 0 w 529"/>
                <a:gd name="T1" fmla="*/ 2147483647 h 337"/>
                <a:gd name="T2" fmla="*/ 2147483647 w 529"/>
                <a:gd name="T3" fmla="*/ 2147483647 h 337"/>
                <a:gd name="T4" fmla="*/ 2147483647 w 529"/>
                <a:gd name="T5" fmla="*/ 2147483647 h 337"/>
                <a:gd name="T6" fmla="*/ 2147483647 w 529"/>
                <a:gd name="T7" fmla="*/ 2147483647 h 337"/>
                <a:gd name="T8" fmla="*/ 2147483647 w 529"/>
                <a:gd name="T9" fmla="*/ 0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337"/>
                <a:gd name="T17" fmla="*/ 529 w 529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337">
                  <a:moveTo>
                    <a:pt x="0" y="336"/>
                  </a:moveTo>
                  <a:lnTo>
                    <a:pt x="144" y="240"/>
                  </a:lnTo>
                  <a:lnTo>
                    <a:pt x="240" y="144"/>
                  </a:lnTo>
                  <a:lnTo>
                    <a:pt x="336" y="48"/>
                  </a:lnTo>
                  <a:lnTo>
                    <a:pt x="528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Rectangle 43"/>
            <p:cNvSpPr>
              <a:spLocks noChangeArrowheads="1"/>
            </p:cNvSpPr>
            <p:nvPr/>
          </p:nvSpPr>
          <p:spPr bwMode="auto">
            <a:xfrm>
              <a:off x="2347913" y="885825"/>
              <a:ext cx="534987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Pond</a:t>
              </a:r>
            </a:p>
          </p:txBody>
        </p:sp>
        <p:sp>
          <p:nvSpPr>
            <p:cNvPr id="20610" name="Rectangle 44"/>
            <p:cNvSpPr>
              <a:spLocks noChangeArrowheads="1"/>
            </p:cNvSpPr>
            <p:nvPr/>
          </p:nvSpPr>
          <p:spPr bwMode="auto">
            <a:xfrm>
              <a:off x="4176713" y="504825"/>
              <a:ext cx="509587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Lake</a:t>
              </a:r>
            </a:p>
          </p:txBody>
        </p:sp>
        <p:sp>
          <p:nvSpPr>
            <p:cNvPr id="20611" name="Rectangle 45"/>
            <p:cNvSpPr>
              <a:spLocks noChangeArrowheads="1"/>
            </p:cNvSpPr>
            <p:nvPr/>
          </p:nvSpPr>
          <p:spPr bwMode="auto">
            <a:xfrm rot="-2580000">
              <a:off x="3184525" y="804863"/>
              <a:ext cx="534988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River</a:t>
              </a:r>
            </a:p>
          </p:txBody>
        </p:sp>
        <p:sp>
          <p:nvSpPr>
            <p:cNvPr id="20612" name="Rectangle 125"/>
            <p:cNvSpPr>
              <a:spLocks noChangeArrowheads="1"/>
            </p:cNvSpPr>
            <p:nvPr/>
          </p:nvSpPr>
          <p:spPr bwMode="auto">
            <a:xfrm>
              <a:off x="2728913" y="1647825"/>
              <a:ext cx="151945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 dirty="0">
                  <a:solidFill>
                    <a:schemeClr val="bg1"/>
                  </a:solidFill>
                  <a:latin typeface="Calibri" panose="020F0502020204030204" pitchFamily="34" charset="0"/>
                </a:rPr>
                <a:t>Reality - Hydrography</a:t>
              </a:r>
            </a:p>
          </p:txBody>
        </p:sp>
      </p:grpSp>
      <p:grpSp>
        <p:nvGrpSpPr>
          <p:cNvPr id="3" name="Group 129"/>
          <p:cNvGrpSpPr>
            <a:grpSpLocks/>
          </p:cNvGrpSpPr>
          <p:nvPr/>
        </p:nvGrpSpPr>
        <p:grpSpPr bwMode="auto">
          <a:xfrm>
            <a:off x="2139950" y="2292350"/>
            <a:ext cx="2730500" cy="1687309"/>
            <a:chOff x="2139950" y="2292350"/>
            <a:chExt cx="2730500" cy="1687309"/>
          </a:xfrm>
        </p:grpSpPr>
        <p:sp>
          <p:nvSpPr>
            <p:cNvPr id="20578" name="Rectangle 2"/>
            <p:cNvSpPr>
              <a:spLocks noChangeArrowheads="1"/>
            </p:cNvSpPr>
            <p:nvPr/>
          </p:nvSpPr>
          <p:spPr bwMode="auto">
            <a:xfrm>
              <a:off x="21399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79" name="Rectangle 3"/>
            <p:cNvSpPr>
              <a:spLocks noChangeArrowheads="1"/>
            </p:cNvSpPr>
            <p:nvPr/>
          </p:nvSpPr>
          <p:spPr bwMode="auto">
            <a:xfrm>
              <a:off x="23685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0" name="Rectangle 4"/>
            <p:cNvSpPr>
              <a:spLocks noChangeArrowheads="1"/>
            </p:cNvSpPr>
            <p:nvPr/>
          </p:nvSpPr>
          <p:spPr bwMode="auto">
            <a:xfrm>
              <a:off x="25971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1" name="Rectangle 5"/>
            <p:cNvSpPr>
              <a:spLocks noChangeArrowheads="1"/>
            </p:cNvSpPr>
            <p:nvPr/>
          </p:nvSpPr>
          <p:spPr bwMode="auto">
            <a:xfrm>
              <a:off x="28257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2" name="Rectangle 6"/>
            <p:cNvSpPr>
              <a:spLocks noChangeArrowheads="1"/>
            </p:cNvSpPr>
            <p:nvPr/>
          </p:nvSpPr>
          <p:spPr bwMode="auto">
            <a:xfrm>
              <a:off x="30543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3" name="Rectangle 7"/>
            <p:cNvSpPr>
              <a:spLocks noChangeArrowheads="1"/>
            </p:cNvSpPr>
            <p:nvPr/>
          </p:nvSpPr>
          <p:spPr bwMode="auto">
            <a:xfrm>
              <a:off x="32829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4" name="Rectangle 8"/>
            <p:cNvSpPr>
              <a:spLocks noChangeArrowheads="1"/>
            </p:cNvSpPr>
            <p:nvPr/>
          </p:nvSpPr>
          <p:spPr bwMode="auto">
            <a:xfrm>
              <a:off x="35115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5" name="Rectangle 9"/>
            <p:cNvSpPr>
              <a:spLocks noChangeArrowheads="1"/>
            </p:cNvSpPr>
            <p:nvPr/>
          </p:nvSpPr>
          <p:spPr bwMode="auto">
            <a:xfrm>
              <a:off x="37401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6" name="Rectangle 10"/>
            <p:cNvSpPr>
              <a:spLocks noChangeArrowheads="1"/>
            </p:cNvSpPr>
            <p:nvPr/>
          </p:nvSpPr>
          <p:spPr bwMode="auto">
            <a:xfrm>
              <a:off x="39687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7" name="Rectangle 11"/>
            <p:cNvSpPr>
              <a:spLocks noChangeArrowheads="1"/>
            </p:cNvSpPr>
            <p:nvPr/>
          </p:nvSpPr>
          <p:spPr bwMode="auto">
            <a:xfrm>
              <a:off x="44259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8" name="Rectangle 12"/>
            <p:cNvSpPr>
              <a:spLocks noChangeArrowheads="1"/>
            </p:cNvSpPr>
            <p:nvPr/>
          </p:nvSpPr>
          <p:spPr bwMode="auto">
            <a:xfrm>
              <a:off x="41973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89" name="Rectangle 13"/>
            <p:cNvSpPr>
              <a:spLocks noChangeArrowheads="1"/>
            </p:cNvSpPr>
            <p:nvPr/>
          </p:nvSpPr>
          <p:spPr bwMode="auto">
            <a:xfrm>
              <a:off x="4654550" y="22923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0" name="Rectangle 14"/>
            <p:cNvSpPr>
              <a:spLocks noChangeArrowheads="1"/>
            </p:cNvSpPr>
            <p:nvPr/>
          </p:nvSpPr>
          <p:spPr bwMode="auto">
            <a:xfrm>
              <a:off x="2139950" y="22923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1" name="Rectangle 16"/>
            <p:cNvSpPr>
              <a:spLocks noChangeArrowheads="1"/>
            </p:cNvSpPr>
            <p:nvPr/>
          </p:nvSpPr>
          <p:spPr bwMode="auto">
            <a:xfrm>
              <a:off x="2139950" y="25209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2" name="Rectangle 17"/>
            <p:cNvSpPr>
              <a:spLocks noChangeArrowheads="1"/>
            </p:cNvSpPr>
            <p:nvPr/>
          </p:nvSpPr>
          <p:spPr bwMode="auto">
            <a:xfrm>
              <a:off x="2139950" y="27495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3" name="Rectangle 18"/>
            <p:cNvSpPr>
              <a:spLocks noChangeArrowheads="1"/>
            </p:cNvSpPr>
            <p:nvPr/>
          </p:nvSpPr>
          <p:spPr bwMode="auto">
            <a:xfrm>
              <a:off x="2139950" y="29781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4" name="Rectangle 19"/>
            <p:cNvSpPr>
              <a:spLocks noChangeArrowheads="1"/>
            </p:cNvSpPr>
            <p:nvPr/>
          </p:nvSpPr>
          <p:spPr bwMode="auto">
            <a:xfrm>
              <a:off x="2139950" y="32067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5" name="Rectangle 20"/>
            <p:cNvSpPr>
              <a:spLocks noChangeArrowheads="1"/>
            </p:cNvSpPr>
            <p:nvPr/>
          </p:nvSpPr>
          <p:spPr bwMode="auto">
            <a:xfrm>
              <a:off x="2139950" y="34353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96" name="Freeform 46"/>
            <p:cNvSpPr>
              <a:spLocks/>
            </p:cNvSpPr>
            <p:nvPr/>
          </p:nvSpPr>
          <p:spPr bwMode="auto">
            <a:xfrm>
              <a:off x="3810000" y="2362200"/>
              <a:ext cx="992188" cy="611188"/>
            </a:xfrm>
            <a:custGeom>
              <a:avLst/>
              <a:gdLst>
                <a:gd name="T0" fmla="*/ 2147483647 w 625"/>
                <a:gd name="T1" fmla="*/ 2147483647 h 385"/>
                <a:gd name="T2" fmla="*/ 2147483647 w 625"/>
                <a:gd name="T3" fmla="*/ 2147483647 h 385"/>
                <a:gd name="T4" fmla="*/ 2147483647 w 625"/>
                <a:gd name="T5" fmla="*/ 0 h 385"/>
                <a:gd name="T6" fmla="*/ 2147483647 w 625"/>
                <a:gd name="T7" fmla="*/ 0 h 385"/>
                <a:gd name="T8" fmla="*/ 2147483647 w 625"/>
                <a:gd name="T9" fmla="*/ 2147483647 h 385"/>
                <a:gd name="T10" fmla="*/ 2147483647 w 625"/>
                <a:gd name="T11" fmla="*/ 2147483647 h 385"/>
                <a:gd name="T12" fmla="*/ 2147483647 w 625"/>
                <a:gd name="T13" fmla="*/ 2147483647 h 385"/>
                <a:gd name="T14" fmla="*/ 2147483647 w 625"/>
                <a:gd name="T15" fmla="*/ 2147483647 h 385"/>
                <a:gd name="T16" fmla="*/ 2147483647 w 625"/>
                <a:gd name="T17" fmla="*/ 2147483647 h 385"/>
                <a:gd name="T18" fmla="*/ 2147483647 w 625"/>
                <a:gd name="T19" fmla="*/ 2147483647 h 385"/>
                <a:gd name="T20" fmla="*/ 2147483647 w 625"/>
                <a:gd name="T21" fmla="*/ 2147483647 h 385"/>
                <a:gd name="T22" fmla="*/ 2147483647 w 625"/>
                <a:gd name="T23" fmla="*/ 2147483647 h 385"/>
                <a:gd name="T24" fmla="*/ 0 w 625"/>
                <a:gd name="T25" fmla="*/ 2147483647 h 385"/>
                <a:gd name="T26" fmla="*/ 2147483647 w 625"/>
                <a:gd name="T27" fmla="*/ 2147483647 h 38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25"/>
                <a:gd name="T43" fmla="*/ 0 h 385"/>
                <a:gd name="T44" fmla="*/ 625 w 625"/>
                <a:gd name="T45" fmla="*/ 385 h 38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25" h="385">
                  <a:moveTo>
                    <a:pt x="96" y="144"/>
                  </a:moveTo>
                  <a:lnTo>
                    <a:pt x="240" y="48"/>
                  </a:lnTo>
                  <a:lnTo>
                    <a:pt x="384" y="0"/>
                  </a:lnTo>
                  <a:lnTo>
                    <a:pt x="528" y="0"/>
                  </a:lnTo>
                  <a:lnTo>
                    <a:pt x="576" y="96"/>
                  </a:lnTo>
                  <a:lnTo>
                    <a:pt x="624" y="144"/>
                  </a:lnTo>
                  <a:lnTo>
                    <a:pt x="624" y="240"/>
                  </a:lnTo>
                  <a:lnTo>
                    <a:pt x="528" y="288"/>
                  </a:lnTo>
                  <a:lnTo>
                    <a:pt x="432" y="384"/>
                  </a:lnTo>
                  <a:lnTo>
                    <a:pt x="240" y="384"/>
                  </a:lnTo>
                  <a:lnTo>
                    <a:pt x="144" y="288"/>
                  </a:lnTo>
                  <a:lnTo>
                    <a:pt x="48" y="240"/>
                  </a:lnTo>
                  <a:lnTo>
                    <a:pt x="0" y="144"/>
                  </a:lnTo>
                  <a:lnTo>
                    <a:pt x="96" y="14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47"/>
            <p:cNvSpPr>
              <a:spLocks/>
            </p:cNvSpPr>
            <p:nvPr/>
          </p:nvSpPr>
          <p:spPr bwMode="auto">
            <a:xfrm>
              <a:off x="2286000" y="2895600"/>
              <a:ext cx="611188" cy="382588"/>
            </a:xfrm>
            <a:custGeom>
              <a:avLst/>
              <a:gdLst>
                <a:gd name="T0" fmla="*/ 2147483647 w 385"/>
                <a:gd name="T1" fmla="*/ 2147483647 h 241"/>
                <a:gd name="T2" fmla="*/ 2147483647 w 385"/>
                <a:gd name="T3" fmla="*/ 0 h 241"/>
                <a:gd name="T4" fmla="*/ 2147483647 w 385"/>
                <a:gd name="T5" fmla="*/ 2147483647 h 241"/>
                <a:gd name="T6" fmla="*/ 2147483647 w 385"/>
                <a:gd name="T7" fmla="*/ 2147483647 h 241"/>
                <a:gd name="T8" fmla="*/ 2147483647 w 385"/>
                <a:gd name="T9" fmla="*/ 2147483647 h 241"/>
                <a:gd name="T10" fmla="*/ 2147483647 w 385"/>
                <a:gd name="T11" fmla="*/ 2147483647 h 241"/>
                <a:gd name="T12" fmla="*/ 2147483647 w 385"/>
                <a:gd name="T13" fmla="*/ 2147483647 h 241"/>
                <a:gd name="T14" fmla="*/ 0 w 385"/>
                <a:gd name="T15" fmla="*/ 2147483647 h 241"/>
                <a:gd name="T16" fmla="*/ 2147483647 w 385"/>
                <a:gd name="T17" fmla="*/ 2147483647 h 2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5"/>
                <a:gd name="T28" fmla="*/ 0 h 241"/>
                <a:gd name="T29" fmla="*/ 385 w 385"/>
                <a:gd name="T30" fmla="*/ 241 h 2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5" h="241">
                  <a:moveTo>
                    <a:pt x="48" y="48"/>
                  </a:moveTo>
                  <a:lnTo>
                    <a:pt x="144" y="0"/>
                  </a:lnTo>
                  <a:lnTo>
                    <a:pt x="288" y="48"/>
                  </a:lnTo>
                  <a:lnTo>
                    <a:pt x="384" y="96"/>
                  </a:lnTo>
                  <a:lnTo>
                    <a:pt x="384" y="192"/>
                  </a:lnTo>
                  <a:lnTo>
                    <a:pt x="192" y="240"/>
                  </a:lnTo>
                  <a:lnTo>
                    <a:pt x="96" y="240"/>
                  </a:lnTo>
                  <a:lnTo>
                    <a:pt x="0" y="144"/>
                  </a:lnTo>
                  <a:lnTo>
                    <a:pt x="48" y="4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48"/>
            <p:cNvSpPr>
              <a:spLocks/>
            </p:cNvSpPr>
            <p:nvPr/>
          </p:nvSpPr>
          <p:spPr bwMode="auto">
            <a:xfrm>
              <a:off x="2895600" y="3124200"/>
              <a:ext cx="306388" cy="534988"/>
            </a:xfrm>
            <a:custGeom>
              <a:avLst/>
              <a:gdLst>
                <a:gd name="T0" fmla="*/ 0 w 193"/>
                <a:gd name="T1" fmla="*/ 0 h 337"/>
                <a:gd name="T2" fmla="*/ 2147483647 w 193"/>
                <a:gd name="T3" fmla="*/ 2147483647 h 337"/>
                <a:gd name="T4" fmla="*/ 2147483647 w 193"/>
                <a:gd name="T5" fmla="*/ 2147483647 h 337"/>
                <a:gd name="T6" fmla="*/ 2147483647 w 193"/>
                <a:gd name="T7" fmla="*/ 2147483647 h 337"/>
                <a:gd name="T8" fmla="*/ 2147483647 w 193"/>
                <a:gd name="T9" fmla="*/ 2147483647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337"/>
                <a:gd name="T17" fmla="*/ 193 w 193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337">
                  <a:moveTo>
                    <a:pt x="0" y="0"/>
                  </a:moveTo>
                  <a:lnTo>
                    <a:pt x="96" y="48"/>
                  </a:lnTo>
                  <a:lnTo>
                    <a:pt x="192" y="144"/>
                  </a:lnTo>
                  <a:lnTo>
                    <a:pt x="96" y="240"/>
                  </a:lnTo>
                  <a:lnTo>
                    <a:pt x="48" y="336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49"/>
            <p:cNvSpPr>
              <a:spLocks/>
            </p:cNvSpPr>
            <p:nvPr/>
          </p:nvSpPr>
          <p:spPr bwMode="auto">
            <a:xfrm>
              <a:off x="3200400" y="2819400"/>
              <a:ext cx="839788" cy="534988"/>
            </a:xfrm>
            <a:custGeom>
              <a:avLst/>
              <a:gdLst>
                <a:gd name="T0" fmla="*/ 0 w 529"/>
                <a:gd name="T1" fmla="*/ 2147483647 h 337"/>
                <a:gd name="T2" fmla="*/ 2147483647 w 529"/>
                <a:gd name="T3" fmla="*/ 2147483647 h 337"/>
                <a:gd name="T4" fmla="*/ 2147483647 w 529"/>
                <a:gd name="T5" fmla="*/ 2147483647 h 337"/>
                <a:gd name="T6" fmla="*/ 2147483647 w 529"/>
                <a:gd name="T7" fmla="*/ 2147483647 h 337"/>
                <a:gd name="T8" fmla="*/ 2147483647 w 529"/>
                <a:gd name="T9" fmla="*/ 0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337"/>
                <a:gd name="T17" fmla="*/ 529 w 529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337">
                  <a:moveTo>
                    <a:pt x="0" y="336"/>
                  </a:moveTo>
                  <a:lnTo>
                    <a:pt x="144" y="240"/>
                  </a:lnTo>
                  <a:lnTo>
                    <a:pt x="240" y="144"/>
                  </a:lnTo>
                  <a:lnTo>
                    <a:pt x="336" y="48"/>
                  </a:lnTo>
                  <a:lnTo>
                    <a:pt x="528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Rectangle 50"/>
            <p:cNvSpPr>
              <a:spLocks noChangeArrowheads="1"/>
            </p:cNvSpPr>
            <p:nvPr/>
          </p:nvSpPr>
          <p:spPr bwMode="auto">
            <a:xfrm>
              <a:off x="2347913" y="2943225"/>
              <a:ext cx="534987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Pond</a:t>
              </a:r>
            </a:p>
          </p:txBody>
        </p:sp>
        <p:sp>
          <p:nvSpPr>
            <p:cNvPr id="20601" name="Rectangle 51"/>
            <p:cNvSpPr>
              <a:spLocks noChangeArrowheads="1"/>
            </p:cNvSpPr>
            <p:nvPr/>
          </p:nvSpPr>
          <p:spPr bwMode="auto">
            <a:xfrm>
              <a:off x="4100513" y="2562225"/>
              <a:ext cx="509587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Lake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20602" name="Rectangle 52"/>
            <p:cNvSpPr>
              <a:spLocks noChangeArrowheads="1"/>
            </p:cNvSpPr>
            <p:nvPr/>
          </p:nvSpPr>
          <p:spPr bwMode="auto">
            <a:xfrm rot="-2580000">
              <a:off x="3184525" y="2862263"/>
              <a:ext cx="534988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River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20603" name="Rectangle 126"/>
            <p:cNvSpPr>
              <a:spLocks noChangeArrowheads="1"/>
            </p:cNvSpPr>
            <p:nvPr/>
          </p:nvSpPr>
          <p:spPr bwMode="auto">
            <a:xfrm>
              <a:off x="2576513" y="3705225"/>
              <a:ext cx="184018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 dirty="0">
                  <a:solidFill>
                    <a:schemeClr val="bg1"/>
                  </a:solidFill>
                  <a:latin typeface="Calibri" panose="020F0502020204030204" pitchFamily="34" charset="0"/>
                </a:rPr>
                <a:t>Reality overlaid with a grid</a:t>
              </a:r>
            </a:p>
          </p:txBody>
        </p:sp>
      </p:grpSp>
      <p:grpSp>
        <p:nvGrpSpPr>
          <p:cNvPr id="4" name="Group 130"/>
          <p:cNvGrpSpPr>
            <a:grpSpLocks/>
          </p:cNvGrpSpPr>
          <p:nvPr/>
        </p:nvGrpSpPr>
        <p:grpSpPr bwMode="auto">
          <a:xfrm>
            <a:off x="1922900" y="4314825"/>
            <a:ext cx="4988033" cy="2385809"/>
            <a:chOff x="1922900" y="4314825"/>
            <a:chExt cx="4988033" cy="2385809"/>
          </a:xfrm>
        </p:grpSpPr>
        <p:sp>
          <p:nvSpPr>
            <p:cNvPr id="20486" name="Rectangle 21"/>
            <p:cNvSpPr>
              <a:spLocks noChangeArrowheads="1"/>
            </p:cNvSpPr>
            <p:nvPr/>
          </p:nvSpPr>
          <p:spPr bwMode="auto">
            <a:xfrm>
              <a:off x="21399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87" name="Rectangle 22"/>
            <p:cNvSpPr>
              <a:spLocks noChangeArrowheads="1"/>
            </p:cNvSpPr>
            <p:nvPr/>
          </p:nvSpPr>
          <p:spPr bwMode="auto">
            <a:xfrm>
              <a:off x="23685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88" name="Rectangle 23"/>
            <p:cNvSpPr>
              <a:spLocks noChangeArrowheads="1"/>
            </p:cNvSpPr>
            <p:nvPr/>
          </p:nvSpPr>
          <p:spPr bwMode="auto">
            <a:xfrm>
              <a:off x="25971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89" name="Rectangle 24"/>
            <p:cNvSpPr>
              <a:spLocks noChangeArrowheads="1"/>
            </p:cNvSpPr>
            <p:nvPr/>
          </p:nvSpPr>
          <p:spPr bwMode="auto">
            <a:xfrm>
              <a:off x="28257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0" name="Rectangle 25"/>
            <p:cNvSpPr>
              <a:spLocks noChangeArrowheads="1"/>
            </p:cNvSpPr>
            <p:nvPr/>
          </p:nvSpPr>
          <p:spPr bwMode="auto">
            <a:xfrm>
              <a:off x="30543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1" name="Rectangle 26"/>
            <p:cNvSpPr>
              <a:spLocks noChangeArrowheads="1"/>
            </p:cNvSpPr>
            <p:nvPr/>
          </p:nvSpPr>
          <p:spPr bwMode="auto">
            <a:xfrm>
              <a:off x="32829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2" name="Rectangle 27"/>
            <p:cNvSpPr>
              <a:spLocks noChangeArrowheads="1"/>
            </p:cNvSpPr>
            <p:nvPr/>
          </p:nvSpPr>
          <p:spPr bwMode="auto">
            <a:xfrm>
              <a:off x="35115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3" name="Rectangle 28"/>
            <p:cNvSpPr>
              <a:spLocks noChangeArrowheads="1"/>
            </p:cNvSpPr>
            <p:nvPr/>
          </p:nvSpPr>
          <p:spPr bwMode="auto">
            <a:xfrm>
              <a:off x="37401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4" name="Rectangle 29"/>
            <p:cNvSpPr>
              <a:spLocks noChangeArrowheads="1"/>
            </p:cNvSpPr>
            <p:nvPr/>
          </p:nvSpPr>
          <p:spPr bwMode="auto">
            <a:xfrm>
              <a:off x="39687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5" name="Rectangle 30"/>
            <p:cNvSpPr>
              <a:spLocks noChangeArrowheads="1"/>
            </p:cNvSpPr>
            <p:nvPr/>
          </p:nvSpPr>
          <p:spPr bwMode="auto">
            <a:xfrm>
              <a:off x="44259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6" name="Rectangle 31"/>
            <p:cNvSpPr>
              <a:spLocks noChangeArrowheads="1"/>
            </p:cNvSpPr>
            <p:nvPr/>
          </p:nvSpPr>
          <p:spPr bwMode="auto">
            <a:xfrm>
              <a:off x="41973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7" name="Rectangle 32"/>
            <p:cNvSpPr>
              <a:spLocks noChangeArrowheads="1"/>
            </p:cNvSpPr>
            <p:nvPr/>
          </p:nvSpPr>
          <p:spPr bwMode="auto">
            <a:xfrm>
              <a:off x="4654550" y="4349750"/>
              <a:ext cx="215900" cy="1358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8" name="Rectangle 33"/>
            <p:cNvSpPr>
              <a:spLocks noChangeArrowheads="1"/>
            </p:cNvSpPr>
            <p:nvPr/>
          </p:nvSpPr>
          <p:spPr bwMode="auto">
            <a:xfrm>
              <a:off x="2139950" y="43497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499" name="Rectangle 34"/>
            <p:cNvSpPr>
              <a:spLocks noChangeArrowheads="1"/>
            </p:cNvSpPr>
            <p:nvPr/>
          </p:nvSpPr>
          <p:spPr bwMode="auto">
            <a:xfrm>
              <a:off x="2139950" y="45783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00" name="Rectangle 35"/>
            <p:cNvSpPr>
              <a:spLocks noChangeArrowheads="1"/>
            </p:cNvSpPr>
            <p:nvPr/>
          </p:nvSpPr>
          <p:spPr bwMode="auto">
            <a:xfrm>
              <a:off x="2139950" y="48069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01" name="Rectangle 36"/>
            <p:cNvSpPr>
              <a:spLocks noChangeArrowheads="1"/>
            </p:cNvSpPr>
            <p:nvPr/>
          </p:nvSpPr>
          <p:spPr bwMode="auto">
            <a:xfrm>
              <a:off x="2139950" y="50355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02" name="Rectangle 37"/>
            <p:cNvSpPr>
              <a:spLocks noChangeArrowheads="1"/>
            </p:cNvSpPr>
            <p:nvPr/>
          </p:nvSpPr>
          <p:spPr bwMode="auto">
            <a:xfrm>
              <a:off x="2139950" y="52641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03" name="Rectangle 38"/>
            <p:cNvSpPr>
              <a:spLocks noChangeArrowheads="1"/>
            </p:cNvSpPr>
            <p:nvPr/>
          </p:nvSpPr>
          <p:spPr bwMode="auto">
            <a:xfrm>
              <a:off x="2139950" y="5492750"/>
              <a:ext cx="273050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Calibri" panose="020F0502020204030204" pitchFamily="34" charset="0"/>
              </a:endParaRPr>
            </a:p>
          </p:txBody>
        </p:sp>
        <p:sp>
          <p:nvSpPr>
            <p:cNvPr id="20504" name="Rectangle 53"/>
            <p:cNvSpPr>
              <a:spLocks noChangeArrowheads="1"/>
            </p:cNvSpPr>
            <p:nvPr/>
          </p:nvSpPr>
          <p:spPr bwMode="auto">
            <a:xfrm>
              <a:off x="41767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05" name="Rectangle 54"/>
            <p:cNvSpPr>
              <a:spLocks noChangeArrowheads="1"/>
            </p:cNvSpPr>
            <p:nvPr/>
          </p:nvSpPr>
          <p:spPr bwMode="auto">
            <a:xfrm>
              <a:off x="44053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06" name="Rectangle 55"/>
            <p:cNvSpPr>
              <a:spLocks noChangeArrowheads="1"/>
            </p:cNvSpPr>
            <p:nvPr/>
          </p:nvSpPr>
          <p:spPr bwMode="auto">
            <a:xfrm>
              <a:off x="46339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07" name="Rectangle 56"/>
            <p:cNvSpPr>
              <a:spLocks noChangeArrowheads="1"/>
            </p:cNvSpPr>
            <p:nvPr/>
          </p:nvSpPr>
          <p:spPr bwMode="auto">
            <a:xfrm>
              <a:off x="39481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08" name="Rectangle 57"/>
            <p:cNvSpPr>
              <a:spLocks noChangeArrowheads="1"/>
            </p:cNvSpPr>
            <p:nvPr/>
          </p:nvSpPr>
          <p:spPr bwMode="auto">
            <a:xfrm>
              <a:off x="37195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09" name="Rectangle 58"/>
            <p:cNvSpPr>
              <a:spLocks noChangeArrowheads="1"/>
            </p:cNvSpPr>
            <p:nvPr/>
          </p:nvSpPr>
          <p:spPr bwMode="auto">
            <a:xfrm>
              <a:off x="39481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10" name="Rectangle 59"/>
            <p:cNvSpPr>
              <a:spLocks noChangeArrowheads="1"/>
            </p:cNvSpPr>
            <p:nvPr/>
          </p:nvSpPr>
          <p:spPr bwMode="auto">
            <a:xfrm>
              <a:off x="41767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11" name="Rectangle 60"/>
            <p:cNvSpPr>
              <a:spLocks noChangeArrowheads="1"/>
            </p:cNvSpPr>
            <p:nvPr/>
          </p:nvSpPr>
          <p:spPr bwMode="auto">
            <a:xfrm>
              <a:off x="44053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12" name="Rectangle 61"/>
            <p:cNvSpPr>
              <a:spLocks noChangeArrowheads="1"/>
            </p:cNvSpPr>
            <p:nvPr/>
          </p:nvSpPr>
          <p:spPr bwMode="auto">
            <a:xfrm>
              <a:off x="46339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13" name="Rectangle 62"/>
            <p:cNvSpPr>
              <a:spLocks noChangeArrowheads="1"/>
            </p:cNvSpPr>
            <p:nvPr/>
          </p:nvSpPr>
          <p:spPr bwMode="auto">
            <a:xfrm>
              <a:off x="41767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14" name="Rectangle 63"/>
            <p:cNvSpPr>
              <a:spLocks noChangeArrowheads="1"/>
            </p:cNvSpPr>
            <p:nvPr/>
          </p:nvSpPr>
          <p:spPr bwMode="auto">
            <a:xfrm>
              <a:off x="44053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15" name="Rectangle 64"/>
            <p:cNvSpPr>
              <a:spLocks noChangeArrowheads="1"/>
            </p:cNvSpPr>
            <p:nvPr/>
          </p:nvSpPr>
          <p:spPr bwMode="auto">
            <a:xfrm>
              <a:off x="37195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516" name="Rectangle 65"/>
            <p:cNvSpPr>
              <a:spLocks noChangeArrowheads="1"/>
            </p:cNvSpPr>
            <p:nvPr/>
          </p:nvSpPr>
          <p:spPr bwMode="auto">
            <a:xfrm>
              <a:off x="34909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517" name="Rectangle 66"/>
            <p:cNvSpPr>
              <a:spLocks noChangeArrowheads="1"/>
            </p:cNvSpPr>
            <p:nvPr/>
          </p:nvSpPr>
          <p:spPr bwMode="auto">
            <a:xfrm>
              <a:off x="32623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518" name="Rectangle 67"/>
            <p:cNvSpPr>
              <a:spLocks noChangeArrowheads="1"/>
            </p:cNvSpPr>
            <p:nvPr/>
          </p:nvSpPr>
          <p:spPr bwMode="auto">
            <a:xfrm>
              <a:off x="30337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519" name="Rectangle 68"/>
            <p:cNvSpPr>
              <a:spLocks noChangeArrowheads="1"/>
            </p:cNvSpPr>
            <p:nvPr/>
          </p:nvSpPr>
          <p:spPr bwMode="auto">
            <a:xfrm>
              <a:off x="28051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520" name="Rectangle 69"/>
            <p:cNvSpPr>
              <a:spLocks noChangeArrowheads="1"/>
            </p:cNvSpPr>
            <p:nvPr/>
          </p:nvSpPr>
          <p:spPr bwMode="auto">
            <a:xfrm>
              <a:off x="28051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521" name="Rectangle 70"/>
            <p:cNvSpPr>
              <a:spLocks noChangeArrowheads="1"/>
            </p:cNvSpPr>
            <p:nvPr/>
          </p:nvSpPr>
          <p:spPr bwMode="auto">
            <a:xfrm>
              <a:off x="25765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22" name="Rectangle 71"/>
            <p:cNvSpPr>
              <a:spLocks noChangeArrowheads="1"/>
            </p:cNvSpPr>
            <p:nvPr/>
          </p:nvSpPr>
          <p:spPr bwMode="auto">
            <a:xfrm>
              <a:off x="23479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0523" name="Rectangle 72"/>
            <p:cNvSpPr>
              <a:spLocks noChangeArrowheads="1"/>
            </p:cNvSpPr>
            <p:nvPr/>
          </p:nvSpPr>
          <p:spPr bwMode="auto">
            <a:xfrm>
              <a:off x="21193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24" name="Rectangle 73"/>
            <p:cNvSpPr>
              <a:spLocks noChangeArrowheads="1"/>
            </p:cNvSpPr>
            <p:nvPr/>
          </p:nvSpPr>
          <p:spPr bwMode="auto">
            <a:xfrm>
              <a:off x="23479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25" name="Rectangle 74"/>
            <p:cNvSpPr>
              <a:spLocks noChangeArrowheads="1"/>
            </p:cNvSpPr>
            <p:nvPr/>
          </p:nvSpPr>
          <p:spPr bwMode="auto">
            <a:xfrm>
              <a:off x="25765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26" name="Rectangle 75"/>
            <p:cNvSpPr>
              <a:spLocks noChangeArrowheads="1"/>
            </p:cNvSpPr>
            <p:nvPr/>
          </p:nvSpPr>
          <p:spPr bwMode="auto">
            <a:xfrm>
              <a:off x="28051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27" name="Rectangle 76"/>
            <p:cNvSpPr>
              <a:spLocks noChangeArrowheads="1"/>
            </p:cNvSpPr>
            <p:nvPr/>
          </p:nvSpPr>
          <p:spPr bwMode="auto">
            <a:xfrm>
              <a:off x="30337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28" name="Rectangle 77"/>
            <p:cNvSpPr>
              <a:spLocks noChangeArrowheads="1"/>
            </p:cNvSpPr>
            <p:nvPr/>
          </p:nvSpPr>
          <p:spPr bwMode="auto">
            <a:xfrm>
              <a:off x="32623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29" name="Rectangle 78"/>
            <p:cNvSpPr>
              <a:spLocks noChangeArrowheads="1"/>
            </p:cNvSpPr>
            <p:nvPr/>
          </p:nvSpPr>
          <p:spPr bwMode="auto">
            <a:xfrm>
              <a:off x="34909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0" name="Rectangle 79"/>
            <p:cNvSpPr>
              <a:spLocks noChangeArrowheads="1"/>
            </p:cNvSpPr>
            <p:nvPr/>
          </p:nvSpPr>
          <p:spPr bwMode="auto">
            <a:xfrm>
              <a:off x="37195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1" name="Rectangle 80"/>
            <p:cNvSpPr>
              <a:spLocks noChangeArrowheads="1"/>
            </p:cNvSpPr>
            <p:nvPr/>
          </p:nvSpPr>
          <p:spPr bwMode="auto">
            <a:xfrm>
              <a:off x="3948113" y="4314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2" name="Rectangle 81"/>
            <p:cNvSpPr>
              <a:spLocks noChangeArrowheads="1"/>
            </p:cNvSpPr>
            <p:nvPr/>
          </p:nvSpPr>
          <p:spPr bwMode="auto">
            <a:xfrm>
              <a:off x="21193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3" name="Rectangle 82"/>
            <p:cNvSpPr>
              <a:spLocks noChangeArrowheads="1"/>
            </p:cNvSpPr>
            <p:nvPr/>
          </p:nvSpPr>
          <p:spPr bwMode="auto">
            <a:xfrm>
              <a:off x="23479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4" name="Rectangle 83"/>
            <p:cNvSpPr>
              <a:spLocks noChangeArrowheads="1"/>
            </p:cNvSpPr>
            <p:nvPr/>
          </p:nvSpPr>
          <p:spPr bwMode="auto">
            <a:xfrm>
              <a:off x="25765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5" name="Rectangle 84"/>
            <p:cNvSpPr>
              <a:spLocks noChangeArrowheads="1"/>
            </p:cNvSpPr>
            <p:nvPr/>
          </p:nvSpPr>
          <p:spPr bwMode="auto">
            <a:xfrm>
              <a:off x="28051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6" name="Rectangle 85"/>
            <p:cNvSpPr>
              <a:spLocks noChangeArrowheads="1"/>
            </p:cNvSpPr>
            <p:nvPr/>
          </p:nvSpPr>
          <p:spPr bwMode="auto">
            <a:xfrm>
              <a:off x="30337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7" name="Rectangle 86"/>
            <p:cNvSpPr>
              <a:spLocks noChangeArrowheads="1"/>
            </p:cNvSpPr>
            <p:nvPr/>
          </p:nvSpPr>
          <p:spPr bwMode="auto">
            <a:xfrm>
              <a:off x="32623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8" name="Rectangle 87"/>
            <p:cNvSpPr>
              <a:spLocks noChangeArrowheads="1"/>
            </p:cNvSpPr>
            <p:nvPr/>
          </p:nvSpPr>
          <p:spPr bwMode="auto">
            <a:xfrm>
              <a:off x="3490913" y="45434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39" name="Rectangle 88"/>
            <p:cNvSpPr>
              <a:spLocks noChangeArrowheads="1"/>
            </p:cNvSpPr>
            <p:nvPr/>
          </p:nvSpPr>
          <p:spPr bwMode="auto">
            <a:xfrm>
              <a:off x="21193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0" name="Rectangle 89"/>
            <p:cNvSpPr>
              <a:spLocks noChangeArrowheads="1"/>
            </p:cNvSpPr>
            <p:nvPr/>
          </p:nvSpPr>
          <p:spPr bwMode="auto">
            <a:xfrm>
              <a:off x="23479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1" name="Rectangle 90"/>
            <p:cNvSpPr>
              <a:spLocks noChangeArrowheads="1"/>
            </p:cNvSpPr>
            <p:nvPr/>
          </p:nvSpPr>
          <p:spPr bwMode="auto">
            <a:xfrm>
              <a:off x="25765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2" name="Rectangle 91"/>
            <p:cNvSpPr>
              <a:spLocks noChangeArrowheads="1"/>
            </p:cNvSpPr>
            <p:nvPr/>
          </p:nvSpPr>
          <p:spPr bwMode="auto">
            <a:xfrm>
              <a:off x="28051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3" name="Rectangle 92"/>
            <p:cNvSpPr>
              <a:spLocks noChangeArrowheads="1"/>
            </p:cNvSpPr>
            <p:nvPr/>
          </p:nvSpPr>
          <p:spPr bwMode="auto">
            <a:xfrm>
              <a:off x="30337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4" name="Rectangle 93"/>
            <p:cNvSpPr>
              <a:spLocks noChangeArrowheads="1"/>
            </p:cNvSpPr>
            <p:nvPr/>
          </p:nvSpPr>
          <p:spPr bwMode="auto">
            <a:xfrm>
              <a:off x="32623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5" name="Rectangle 94"/>
            <p:cNvSpPr>
              <a:spLocks noChangeArrowheads="1"/>
            </p:cNvSpPr>
            <p:nvPr/>
          </p:nvSpPr>
          <p:spPr bwMode="auto">
            <a:xfrm>
              <a:off x="34909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6" name="Rectangle 95"/>
            <p:cNvSpPr>
              <a:spLocks noChangeArrowheads="1"/>
            </p:cNvSpPr>
            <p:nvPr/>
          </p:nvSpPr>
          <p:spPr bwMode="auto">
            <a:xfrm>
              <a:off x="4633913" y="47720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7" name="Rectangle 96"/>
            <p:cNvSpPr>
              <a:spLocks noChangeArrowheads="1"/>
            </p:cNvSpPr>
            <p:nvPr/>
          </p:nvSpPr>
          <p:spPr bwMode="auto">
            <a:xfrm>
              <a:off x="21193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8" name="Rectangle 97"/>
            <p:cNvSpPr>
              <a:spLocks noChangeArrowheads="1"/>
            </p:cNvSpPr>
            <p:nvPr/>
          </p:nvSpPr>
          <p:spPr bwMode="auto">
            <a:xfrm>
              <a:off x="30337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49" name="Rectangle 98"/>
            <p:cNvSpPr>
              <a:spLocks noChangeArrowheads="1"/>
            </p:cNvSpPr>
            <p:nvPr/>
          </p:nvSpPr>
          <p:spPr bwMode="auto">
            <a:xfrm>
              <a:off x="32623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0" name="Rectangle 99"/>
            <p:cNvSpPr>
              <a:spLocks noChangeArrowheads="1"/>
            </p:cNvSpPr>
            <p:nvPr/>
          </p:nvSpPr>
          <p:spPr bwMode="auto">
            <a:xfrm>
              <a:off x="37195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1" name="Rectangle 100"/>
            <p:cNvSpPr>
              <a:spLocks noChangeArrowheads="1"/>
            </p:cNvSpPr>
            <p:nvPr/>
          </p:nvSpPr>
          <p:spPr bwMode="auto">
            <a:xfrm>
              <a:off x="39481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2" name="Rectangle 101"/>
            <p:cNvSpPr>
              <a:spLocks noChangeArrowheads="1"/>
            </p:cNvSpPr>
            <p:nvPr/>
          </p:nvSpPr>
          <p:spPr bwMode="auto">
            <a:xfrm>
              <a:off x="41767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3" name="Rectangle 102"/>
            <p:cNvSpPr>
              <a:spLocks noChangeArrowheads="1"/>
            </p:cNvSpPr>
            <p:nvPr/>
          </p:nvSpPr>
          <p:spPr bwMode="auto">
            <a:xfrm>
              <a:off x="44053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4" name="Rectangle 103"/>
            <p:cNvSpPr>
              <a:spLocks noChangeArrowheads="1"/>
            </p:cNvSpPr>
            <p:nvPr/>
          </p:nvSpPr>
          <p:spPr bwMode="auto">
            <a:xfrm>
              <a:off x="4633913" y="50006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5" name="Rectangle 104"/>
            <p:cNvSpPr>
              <a:spLocks noChangeArrowheads="1"/>
            </p:cNvSpPr>
            <p:nvPr/>
          </p:nvSpPr>
          <p:spPr bwMode="auto">
            <a:xfrm>
              <a:off x="21193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6" name="Rectangle 105"/>
            <p:cNvSpPr>
              <a:spLocks noChangeArrowheads="1"/>
            </p:cNvSpPr>
            <p:nvPr/>
          </p:nvSpPr>
          <p:spPr bwMode="auto">
            <a:xfrm>
              <a:off x="23479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7" name="Rectangle 106"/>
            <p:cNvSpPr>
              <a:spLocks noChangeArrowheads="1"/>
            </p:cNvSpPr>
            <p:nvPr/>
          </p:nvSpPr>
          <p:spPr bwMode="auto">
            <a:xfrm>
              <a:off x="25765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8" name="Rectangle 107"/>
            <p:cNvSpPr>
              <a:spLocks noChangeArrowheads="1"/>
            </p:cNvSpPr>
            <p:nvPr/>
          </p:nvSpPr>
          <p:spPr bwMode="auto">
            <a:xfrm>
              <a:off x="28051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59" name="Rectangle 108"/>
            <p:cNvSpPr>
              <a:spLocks noChangeArrowheads="1"/>
            </p:cNvSpPr>
            <p:nvPr/>
          </p:nvSpPr>
          <p:spPr bwMode="auto">
            <a:xfrm>
              <a:off x="34909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0" name="Rectangle 109"/>
            <p:cNvSpPr>
              <a:spLocks noChangeArrowheads="1"/>
            </p:cNvSpPr>
            <p:nvPr/>
          </p:nvSpPr>
          <p:spPr bwMode="auto">
            <a:xfrm>
              <a:off x="37195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1" name="Rectangle 110"/>
            <p:cNvSpPr>
              <a:spLocks noChangeArrowheads="1"/>
            </p:cNvSpPr>
            <p:nvPr/>
          </p:nvSpPr>
          <p:spPr bwMode="auto">
            <a:xfrm>
              <a:off x="39481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2" name="Rectangle 111"/>
            <p:cNvSpPr>
              <a:spLocks noChangeArrowheads="1"/>
            </p:cNvSpPr>
            <p:nvPr/>
          </p:nvSpPr>
          <p:spPr bwMode="auto">
            <a:xfrm>
              <a:off x="41767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3" name="Rectangle 112"/>
            <p:cNvSpPr>
              <a:spLocks noChangeArrowheads="1"/>
            </p:cNvSpPr>
            <p:nvPr/>
          </p:nvSpPr>
          <p:spPr bwMode="auto">
            <a:xfrm>
              <a:off x="4405313" y="52292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4" name="Rectangle 114"/>
            <p:cNvSpPr>
              <a:spLocks noChangeArrowheads="1"/>
            </p:cNvSpPr>
            <p:nvPr/>
          </p:nvSpPr>
          <p:spPr bwMode="auto">
            <a:xfrm>
              <a:off x="21193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5" name="Rectangle 115"/>
            <p:cNvSpPr>
              <a:spLocks noChangeArrowheads="1"/>
            </p:cNvSpPr>
            <p:nvPr/>
          </p:nvSpPr>
          <p:spPr bwMode="auto">
            <a:xfrm>
              <a:off x="23479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6" name="Rectangle 116"/>
            <p:cNvSpPr>
              <a:spLocks noChangeArrowheads="1"/>
            </p:cNvSpPr>
            <p:nvPr/>
          </p:nvSpPr>
          <p:spPr bwMode="auto">
            <a:xfrm>
              <a:off x="25765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7" name="Rectangle 117"/>
            <p:cNvSpPr>
              <a:spLocks noChangeArrowheads="1"/>
            </p:cNvSpPr>
            <p:nvPr/>
          </p:nvSpPr>
          <p:spPr bwMode="auto">
            <a:xfrm>
              <a:off x="30337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8" name="Rectangle 118"/>
            <p:cNvSpPr>
              <a:spLocks noChangeArrowheads="1"/>
            </p:cNvSpPr>
            <p:nvPr/>
          </p:nvSpPr>
          <p:spPr bwMode="auto">
            <a:xfrm>
              <a:off x="32623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69" name="Rectangle 119"/>
            <p:cNvSpPr>
              <a:spLocks noChangeArrowheads="1"/>
            </p:cNvSpPr>
            <p:nvPr/>
          </p:nvSpPr>
          <p:spPr bwMode="auto">
            <a:xfrm>
              <a:off x="34909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70" name="Rectangle 120"/>
            <p:cNvSpPr>
              <a:spLocks noChangeArrowheads="1"/>
            </p:cNvSpPr>
            <p:nvPr/>
          </p:nvSpPr>
          <p:spPr bwMode="auto">
            <a:xfrm>
              <a:off x="37195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71" name="Rectangle 121"/>
            <p:cNvSpPr>
              <a:spLocks noChangeArrowheads="1"/>
            </p:cNvSpPr>
            <p:nvPr/>
          </p:nvSpPr>
          <p:spPr bwMode="auto">
            <a:xfrm>
              <a:off x="39481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72" name="Rectangle 122"/>
            <p:cNvSpPr>
              <a:spLocks noChangeArrowheads="1"/>
            </p:cNvSpPr>
            <p:nvPr/>
          </p:nvSpPr>
          <p:spPr bwMode="auto">
            <a:xfrm>
              <a:off x="41767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73" name="Rectangle 123"/>
            <p:cNvSpPr>
              <a:spLocks noChangeArrowheads="1"/>
            </p:cNvSpPr>
            <p:nvPr/>
          </p:nvSpPr>
          <p:spPr bwMode="auto">
            <a:xfrm>
              <a:off x="44053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74" name="Rectangle 124"/>
            <p:cNvSpPr>
              <a:spLocks noChangeArrowheads="1"/>
            </p:cNvSpPr>
            <p:nvPr/>
          </p:nvSpPr>
          <p:spPr bwMode="auto">
            <a:xfrm>
              <a:off x="4633913" y="5457825"/>
              <a:ext cx="265112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20575" name="Rectangle 127"/>
            <p:cNvSpPr>
              <a:spLocks noChangeArrowheads="1"/>
            </p:cNvSpPr>
            <p:nvPr/>
          </p:nvSpPr>
          <p:spPr bwMode="auto">
            <a:xfrm>
              <a:off x="2881313" y="5762625"/>
              <a:ext cx="115294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 dirty="0">
                  <a:solidFill>
                    <a:schemeClr val="bg1"/>
                  </a:solidFill>
                  <a:latin typeface="Calibri" panose="020F0502020204030204" pitchFamily="34" charset="0"/>
                </a:rPr>
                <a:t>Resulting raster</a:t>
              </a:r>
            </a:p>
          </p:txBody>
        </p:sp>
        <p:sp>
          <p:nvSpPr>
            <p:cNvPr id="128" name="Rectangle 128"/>
            <p:cNvSpPr>
              <a:spLocks noChangeArrowheads="1"/>
            </p:cNvSpPr>
            <p:nvPr/>
          </p:nvSpPr>
          <p:spPr bwMode="auto">
            <a:xfrm>
              <a:off x="1922900" y="6179979"/>
              <a:ext cx="2718950" cy="52065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cs typeface="+mn-cs"/>
                </a:rPr>
                <a:t>Creating a Raster</a:t>
              </a:r>
              <a:endParaRPr lang="en-US" dirty="0">
                <a:solidFill>
                  <a:schemeClr val="bg1"/>
                </a:solidFill>
                <a:latin typeface="Times New Roman" pitchFamily="18" charset="0"/>
                <a:cs typeface="+mn-cs"/>
              </a:endParaRPr>
            </a:p>
          </p:txBody>
        </p:sp>
        <p:sp>
          <p:nvSpPr>
            <p:cNvPr id="20577" name="Rectangle 129"/>
            <p:cNvSpPr>
              <a:spLocks noChangeArrowheads="1"/>
            </p:cNvSpPr>
            <p:nvPr/>
          </p:nvSpPr>
          <p:spPr bwMode="auto">
            <a:xfrm>
              <a:off x="5167313" y="4748213"/>
              <a:ext cx="1743620" cy="736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dirty="0">
                  <a:solidFill>
                    <a:schemeClr val="bg1"/>
                  </a:solidFill>
                  <a:latin typeface="Calibri" panose="020F0502020204030204" pitchFamily="34" charset="0"/>
                </a:rPr>
                <a:t>0 = No Water Feature</a:t>
              </a:r>
            </a:p>
            <a:p>
              <a:pPr eaLnBrk="1" hangingPunct="1"/>
              <a:r>
                <a:rPr lang="en-US" altLang="en-US" sz="1400" dirty="0">
                  <a:solidFill>
                    <a:schemeClr val="bg1"/>
                  </a:solidFill>
                  <a:latin typeface="Calibri" panose="020F0502020204030204" pitchFamily="34" charset="0"/>
                </a:rPr>
                <a:t>1 = Water Body</a:t>
              </a:r>
            </a:p>
            <a:p>
              <a:pPr eaLnBrk="1" hangingPunct="1"/>
              <a:r>
                <a:rPr lang="en-US" altLang="en-US" sz="1400" dirty="0">
                  <a:solidFill>
                    <a:schemeClr val="bg1"/>
                  </a:solidFill>
                  <a:latin typeface="Calibri" panose="020F0502020204030204" pitchFamily="34" charset="0"/>
                </a:rPr>
                <a:t>2 = River</a:t>
              </a:r>
            </a:p>
          </p:txBody>
        </p:sp>
      </p:grpSp>
      <p:sp>
        <p:nvSpPr>
          <p:cNvPr id="133" name="Slide Number Placeholder 1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B5EB83-A8C1-4A53-99C2-BCA9C5249E4D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44327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785813" y="285750"/>
            <a:ext cx="2965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Raster Data Model</a:t>
            </a:r>
          </a:p>
        </p:txBody>
      </p:sp>
      <p:sp>
        <p:nvSpPr>
          <p:cNvPr id="15363" name="TextBox 2"/>
          <p:cNvSpPr txBox="1">
            <a:spLocks noChangeArrowheads="1"/>
          </p:cNvSpPr>
          <p:nvPr/>
        </p:nvSpPr>
        <p:spPr bwMode="auto">
          <a:xfrm>
            <a:off x="584395" y="990600"/>
            <a:ext cx="75311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Origin is set explicitly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Cell size is always known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Cell references (row/column locations) are known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Cell values are referenced to row/column location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Values represent numerical phenomena or index codes for 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 non –numerical phenomena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84563"/>
            <a:ext cx="3143250" cy="306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5" y="3389313"/>
            <a:ext cx="5114925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1A5626-4AB6-4AFE-94BA-71E0F168402B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0042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0"/>
            <a:ext cx="5540375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3435350"/>
            <a:ext cx="5143500" cy="329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307B70-BC8F-4CCB-AA71-BB2104B1C0BF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27352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0"/>
            <a:ext cx="594677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3436938"/>
            <a:ext cx="6072187" cy="342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A997BE-524C-4A58-BEA9-A73380007AAC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96988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/>
          <p:cNvSpPr txBox="1">
            <a:spLocks noChangeArrowheads="1"/>
          </p:cNvSpPr>
          <p:nvPr/>
        </p:nvSpPr>
        <p:spPr bwMode="auto">
          <a:xfrm>
            <a:off x="642938" y="571500"/>
            <a:ext cx="68769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Characteristics of the raster data model</a:t>
            </a:r>
          </a:p>
        </p:txBody>
      </p:sp>
      <p:sp>
        <p:nvSpPr>
          <p:cNvPr id="21507" name="TextBox 2"/>
          <p:cNvSpPr txBox="1">
            <a:spLocks noChangeArrowheads="1"/>
          </p:cNvSpPr>
          <p:nvPr/>
        </p:nvSpPr>
        <p:spPr bwMode="auto">
          <a:xfrm>
            <a:off x="609601" y="1560016"/>
            <a:ext cx="800099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Rectangular grid of square cells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- Shape of discrete polygonal features generalized by cells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+ Continuous (surface) data represented easily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+ Simple data structure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CA" altLang="en-US" sz="22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Raster data are good at representing continues phenomena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</a:t>
            </a:r>
            <a:r>
              <a:rPr lang="en-CA" altLang="en-US" sz="2200" dirty="0" err="1">
                <a:solidFill>
                  <a:schemeClr val="bg1"/>
                </a:solidFill>
                <a:latin typeface="Calibri" panose="020F0502020204030204" pitchFamily="34" charset="0"/>
              </a:rPr>
              <a:t>eg</a:t>
            </a:r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..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    - Wind speed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    - Elevation, slope, aspect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    - Chemical concentration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    - Likelihood of existence of a certain species</a:t>
            </a:r>
          </a:p>
          <a:p>
            <a:pPr eaLnBrk="1" hangingPunct="1"/>
            <a:r>
              <a:rPr lang="en-CA" alt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      - Electromagnetic reflectance (Photography or Satellite imagery)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745778-609B-419A-B453-B87C5AF0FA0E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6166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Types of Raster Data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065090-CD62-4CA1-A8B6-CA8279E77903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1828800"/>
            <a:ext cx="8305800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  <a:latin typeface="Arial" charset="0"/>
                <a:cs typeface="+mn-cs"/>
              </a:rPr>
              <a:t>Remotely Sensed Images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Satellite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 err="1">
                <a:solidFill>
                  <a:schemeClr val="bg1"/>
                </a:solidFill>
                <a:latin typeface="Arial" charset="0"/>
                <a:cs typeface="+mn-cs"/>
              </a:rPr>
              <a:t>Landsat</a:t>
            </a: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  <a:hlinkClick r:id="rId2"/>
              </a:rPr>
              <a:t>(http://landsat.usgs.gov/)</a:t>
            </a:r>
            <a:endParaRPr lang="en-US" sz="20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AVHRR </a:t>
            </a: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  <a:hlinkClick r:id="rId3"/>
              </a:rPr>
              <a:t>(http://edc.usgs.gov/products/satellite/avhrr.html)</a:t>
            </a:r>
            <a:endParaRPr lang="en-US" sz="20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SPOT </a:t>
            </a: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  <a:hlinkClick r:id="rId4"/>
              </a:rPr>
              <a:t>(http://www.spot.com/)</a:t>
            </a:r>
            <a:endParaRPr lang="en-US" sz="20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defRPr/>
            </a:pPr>
            <a:endParaRPr lang="en-US" sz="20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Digital Elevation Models (DEMs)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U.S. Geologic Survey (USGS) DEMs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LIDAR (light detection and ranging)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 err="1">
                <a:solidFill>
                  <a:schemeClr val="bg1"/>
                </a:solidFill>
                <a:latin typeface="Arial" charset="0"/>
                <a:cs typeface="+mn-cs"/>
              </a:rPr>
              <a:t>Multibeam</a:t>
            </a: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 sonar (acoustics for capturing depth information)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Digital </a:t>
            </a:r>
            <a:r>
              <a:rPr lang="en-US" sz="2400" dirty="0" err="1">
                <a:solidFill>
                  <a:schemeClr val="bg1"/>
                </a:solidFill>
                <a:latin typeface="Arial" charset="0"/>
                <a:cs typeface="+mn-cs"/>
              </a:rPr>
              <a:t>Orthophotos</a:t>
            </a: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7256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Arial" panose="020B0604020202020204" pitchFamily="34" charset="0"/>
              </a:rPr>
              <a:t>Types of Raster Data – Images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9C855FC-FBC9-482E-999F-4B21E18B6663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33400" y="1600200"/>
            <a:ext cx="8305800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  <a:latin typeface="Arial" charset="0"/>
                <a:cs typeface="+mn-cs"/>
              </a:rPr>
              <a:t>Digital Raster Graphics (DRGs)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Scanned USGS topographic maps </a:t>
            </a:r>
            <a:r>
              <a:rPr lang="en-US" dirty="0">
                <a:solidFill>
                  <a:schemeClr val="bg1"/>
                </a:solidFill>
                <a:latin typeface="Arial" charset="0"/>
                <a:cs typeface="+mn-cs"/>
                <a:hlinkClick r:id="rId2"/>
              </a:rPr>
              <a:t>(http://topomaps.usgs.gov/drg/)</a:t>
            </a:r>
            <a:endParaRPr lang="en-US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  <a:latin typeface="Arial" charset="0"/>
                <a:cs typeface="+mn-cs"/>
              </a:rPr>
              <a:t>Graphic Image Files – historic aerial photos, scanned paper maps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.</a:t>
            </a:r>
            <a:r>
              <a:rPr lang="en-US" sz="2400" dirty="0" err="1">
                <a:solidFill>
                  <a:schemeClr val="bg1"/>
                </a:solidFill>
                <a:latin typeface="Arial" charset="0"/>
                <a:cs typeface="+mn-cs"/>
              </a:rPr>
              <a:t>tif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 (Tagged Image File Format)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 err="1">
                <a:solidFill>
                  <a:schemeClr val="bg1"/>
                </a:solidFill>
                <a:latin typeface="Arial" charset="0"/>
                <a:cs typeface="+mn-cs"/>
              </a:rPr>
              <a:t>sid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 (</a:t>
            </a:r>
            <a:r>
              <a:rPr lang="en-US" sz="2400" dirty="0" err="1">
                <a:solidFill>
                  <a:schemeClr val="bg1"/>
                </a:solidFill>
                <a:latin typeface="Arial" charset="0"/>
                <a:cs typeface="+mn-cs"/>
              </a:rPr>
              <a:t>LizardTech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charset="0"/>
                <a:cs typeface="+mn-cs"/>
              </a:rPr>
              <a:t>MrSID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)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.</a:t>
            </a:r>
            <a:r>
              <a:rPr lang="en-US" sz="2400" dirty="0" err="1">
                <a:solidFill>
                  <a:schemeClr val="bg1"/>
                </a:solidFill>
                <a:latin typeface="Arial" charset="0"/>
                <a:cs typeface="+mn-cs"/>
              </a:rPr>
              <a:t>img</a:t>
            </a: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 (ERDAS Imagine)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>
                <a:solidFill>
                  <a:schemeClr val="bg1"/>
                </a:solidFill>
                <a:latin typeface="Arial" charset="0"/>
                <a:cs typeface="+mn-cs"/>
              </a:rPr>
              <a:t>.jpg (Joint Photographic Experts Group).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28600" y="6135469"/>
            <a:ext cx="55707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rgbClr val="FFFF00"/>
                </a:solidFill>
              </a:rPr>
              <a:t>Many packages work on RECTIFYING these images</a:t>
            </a:r>
          </a:p>
          <a:p>
            <a:pPr lvl="1" algn="ctr" eaLnBrk="1" hangingPunct="1"/>
            <a:r>
              <a:rPr lang="en-US" altLang="en-US" dirty="0">
                <a:solidFill>
                  <a:srgbClr val="FFFF00"/>
                </a:solidFill>
              </a:rPr>
              <a:t>photograph’s scale is not constant across image</a:t>
            </a:r>
          </a:p>
        </p:txBody>
      </p:sp>
    </p:spTree>
    <p:extLst>
      <p:ext uri="{BB962C8B-B14F-4D97-AF65-F5344CB8AC3E}">
        <p14:creationId xmlns:p14="http://schemas.microsoft.com/office/powerpoint/2010/main" val="68441902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Arial" panose="020B0604020202020204" pitchFamily="34" charset="0"/>
              </a:rPr>
              <a:t>Raster Data Formats</a:t>
            </a:r>
          </a:p>
        </p:txBody>
      </p:sp>
      <p:pic>
        <p:nvPicPr>
          <p:cNvPr id="27652" name="Picture 4" descr="Windows Explorer view of a grid workspac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02238" y="2398713"/>
            <a:ext cx="3022600" cy="153035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BB9678F-B1F0-48C6-9004-0D18B72E34E9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1981200"/>
            <a:ext cx="45085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b="1" dirty="0">
                <a:solidFill>
                  <a:schemeClr val="bg1"/>
                </a:solidFill>
                <a:latin typeface="Arial" charset="0"/>
                <a:cs typeface="+mn-cs"/>
              </a:rPr>
              <a:t>ESRI Grids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Proprietary format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Discrete – integer (whole number)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rial" charset="0"/>
                <a:cs typeface="+mn-cs"/>
              </a:rPr>
              <a:t>Continuous – floating point (number with decimals)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endParaRPr lang="en-US" sz="2000" b="1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defRPr/>
            </a:pPr>
            <a:endParaRPr lang="en-US" sz="2000" dirty="0">
              <a:solidFill>
                <a:schemeClr val="bg1"/>
              </a:solidFill>
              <a:latin typeface="Arial" charset="0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solidFill>
                <a:schemeClr val="bg1"/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74132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l" eaLnBrk="1" hangingPunct="1"/>
            <a:r>
              <a:rPr lang="en-CA" altLang="en-US" b="1">
                <a:latin typeface="Arial" panose="020B0604020202020204" pitchFamily="34" charset="0"/>
              </a:rPr>
              <a:t>Raster Resolution</a:t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RASTER DATA...</a:t>
            </a:r>
            <a:endParaRPr lang="en-CA" altLang="en-US" sz="2400" b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570155-0BAD-4CB1-B25D-5F4E2C9D9161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411" name="Rectangle 3"/>
          <p:cNvSpPr txBox="1">
            <a:spLocks noChangeArrowheads="1"/>
          </p:cNvSpPr>
          <p:nvPr/>
        </p:nvSpPr>
        <p:spPr bwMode="auto">
          <a:xfrm>
            <a:off x="642938" y="2281238"/>
            <a:ext cx="7643812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2000" b="1" dirty="0">
                <a:solidFill>
                  <a:schemeClr val="bg1"/>
                </a:solidFill>
              </a:rPr>
              <a:t>Expressed as the ground pixel measured in cm (aerial) or m (satellite).</a:t>
            </a:r>
          </a:p>
          <a:p>
            <a:pPr lvl="1" eaLnBrk="1" hangingPunct="1">
              <a:lnSpc>
                <a:spcPct val="14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CA" altLang="en-US" sz="2000" b="1" dirty="0">
                <a:solidFill>
                  <a:schemeClr val="bg1"/>
                </a:solidFill>
              </a:rPr>
              <a:t>15 cm resolution or ground pixel means that each pixel in the image corresponds to 15cm on the ground.</a:t>
            </a:r>
          </a:p>
        </p:txBody>
      </p:sp>
    </p:spTree>
    <p:extLst>
      <p:ext uri="{BB962C8B-B14F-4D97-AF65-F5344CB8AC3E}">
        <p14:creationId xmlns:p14="http://schemas.microsoft.com/office/powerpoint/2010/main" val="394494290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l" eaLnBrk="1" hangingPunct="1"/>
            <a:r>
              <a:rPr lang="en-CA" altLang="en-US" b="1">
                <a:latin typeface="Arial" panose="020B0604020202020204" pitchFamily="34" charset="0"/>
              </a:rPr>
              <a:t>Raster Resolution </a:t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RASTER DATA...</a:t>
            </a:r>
            <a:endParaRPr lang="en-CA" altLang="en-US" sz="2400" b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685360D-535F-4BE6-BBFD-5241A508E767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411" name="Rectangle 3"/>
          <p:cNvSpPr txBox="1">
            <a:spLocks noChangeArrowheads="1"/>
          </p:cNvSpPr>
          <p:nvPr/>
        </p:nvSpPr>
        <p:spPr bwMode="auto">
          <a:xfrm>
            <a:off x="611188" y="1628775"/>
            <a:ext cx="7643812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CA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Resolution: 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CA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Refers to how accurately the location and shape of map feature can be depicted (presented) at a given scale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CA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Large Scale Maps have better resolution because the reduction is less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CA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As Scale becomes smaller, more and more features become too small to display</a:t>
            </a:r>
          </a:p>
        </p:txBody>
      </p:sp>
    </p:spTree>
    <p:extLst>
      <p:ext uri="{BB962C8B-B14F-4D97-AF65-F5344CB8AC3E}">
        <p14:creationId xmlns:p14="http://schemas.microsoft.com/office/powerpoint/2010/main" val="220578204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029450" cy="8588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CA" b="1" dirty="0">
                <a:latin typeface="Arial" charset="0"/>
              </a:rPr>
              <a:t>Raster Resolution </a:t>
            </a:r>
            <a:br>
              <a:rPr lang="en-CA" b="1" dirty="0">
                <a:latin typeface="Arial" charset="0"/>
              </a:rPr>
            </a:br>
            <a:r>
              <a:rPr lang="en-CA" sz="2400" b="1" dirty="0">
                <a:solidFill>
                  <a:srgbClr val="FF0000"/>
                </a:solidFill>
                <a:latin typeface="Arial" charset="0"/>
              </a:rPr>
              <a:t>RASTER DATA...</a:t>
            </a:r>
            <a:endParaRPr lang="en-CA" sz="2400" b="1" dirty="0"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641A2A3-6D29-4115-954D-2A17FC1219B7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066800" y="4576763"/>
            <a:ext cx="7286625" cy="121443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CA" sz="2800" dirty="0">
                <a:solidFill>
                  <a:schemeClr val="bg1"/>
                </a:solidFill>
                <a:latin typeface="Arial" charset="0"/>
                <a:cs typeface="+mn-cs"/>
              </a:rPr>
              <a:t>Accuracy is a combination of resolution, map scale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CA" sz="28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4213" y="1557338"/>
            <a:ext cx="7926387" cy="2405062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Accuracy</a:t>
            </a:r>
            <a:r>
              <a:rPr lang="en-CA" sz="2800" dirty="0">
                <a:solidFill>
                  <a:schemeClr val="bg1"/>
                </a:solidFill>
                <a:latin typeface="Arial" charset="0"/>
                <a:cs typeface="Arial" charset="0"/>
              </a:rPr>
              <a:t>:</a:t>
            </a:r>
          </a:p>
          <a:p>
            <a:pPr marL="342900" indent="-342900" fontAlgn="auto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CA" sz="2800" dirty="0">
                <a:solidFill>
                  <a:schemeClr val="bg1"/>
                </a:solidFill>
                <a:latin typeface="Arial" charset="0"/>
                <a:cs typeface="+mn-cs"/>
              </a:rPr>
              <a:t>Accuracy of a raster image relates to positional location of a pixel relative to its true position.</a:t>
            </a:r>
          </a:p>
        </p:txBody>
      </p:sp>
    </p:spTree>
    <p:extLst>
      <p:ext uri="{BB962C8B-B14F-4D97-AF65-F5344CB8AC3E}">
        <p14:creationId xmlns:p14="http://schemas.microsoft.com/office/powerpoint/2010/main" val="160724625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l" eaLnBrk="1" hangingPunct="1"/>
            <a:r>
              <a:rPr lang="en-CA" altLang="en-US" b="1">
                <a:latin typeface="Arial" panose="020B0604020202020204" pitchFamily="34" charset="0"/>
              </a:rPr>
              <a:t>Raster Resolution </a:t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RASTER DATA...</a:t>
            </a:r>
            <a:endParaRPr lang="en-CA" altLang="en-US" sz="2400" b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58CA43-97BB-46E1-AEAD-DB7A308A174F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357188" y="1599743"/>
            <a:ext cx="8501062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b="1" dirty="0">
                <a:solidFill>
                  <a:schemeClr val="bg1"/>
                </a:solidFill>
                <a:latin typeface="Verdana" panose="020B0604030504040204" pitchFamily="34" charset="0"/>
              </a:rPr>
              <a:t>Scale</a:t>
            </a:r>
            <a:endParaRPr lang="en-US" altLang="en-US" sz="28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The image scale or map scale as it is sometime called refers to the relative  difference in size or distance between the image and the features represented on the ground. </a:t>
            </a:r>
          </a:p>
          <a:p>
            <a:r>
              <a:rPr lang="en-US" altLang="en-US" sz="2400" dirty="0">
                <a:solidFill>
                  <a:schemeClr val="bg1"/>
                </a:solidFill>
              </a:rPr>
              <a:t>This difference is written as a ratio of image distance over ground distance. </a:t>
            </a:r>
          </a:p>
          <a:p>
            <a:r>
              <a:rPr lang="en-US" altLang="en-US" sz="2400" dirty="0">
                <a:solidFill>
                  <a:schemeClr val="bg1"/>
                </a:solidFill>
              </a:rPr>
              <a:t>For example, a scale of 1:100,000 (one to one hundred thousand) means 1 centimeter on the map equals 100,000 centimeters (1km) on the ground. The following is a list of scales and equivalent ground distances for three distances measured on an image. </a:t>
            </a:r>
            <a:r>
              <a:rPr lang="en-US" altLang="en-US" dirty="0">
                <a:solidFill>
                  <a:schemeClr val="bg1"/>
                </a:solidFill>
              </a:rPr>
              <a:t/>
            </a:r>
            <a:br>
              <a:rPr lang="en-US" altLang="en-US" dirty="0">
                <a:solidFill>
                  <a:schemeClr val="bg1"/>
                </a:solidFill>
              </a:rPr>
            </a:br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87312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142875"/>
            <a:ext cx="7772400" cy="1143000"/>
          </a:xfrm>
        </p:spPr>
        <p:txBody>
          <a:bodyPr/>
          <a:lstStyle/>
          <a:p>
            <a:pPr algn="l" eaLnBrk="1" hangingPunct="1"/>
            <a:r>
              <a:rPr lang="en-CA" altLang="en-US" b="1">
                <a:latin typeface="Arial" panose="020B0604020202020204" pitchFamily="34" charset="0"/>
              </a:rPr>
              <a:t>Raster Resolution </a:t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RASTER DATA...</a:t>
            </a:r>
            <a:endParaRPr lang="en-CA" altLang="en-US" sz="2400" b="1"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B8E6C49-927B-49DC-A48E-C0A8E6C77D8D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38310"/>
              </p:ext>
            </p:extLst>
          </p:nvPr>
        </p:nvGraphicFramePr>
        <p:xfrm>
          <a:off x="900112" y="2171700"/>
          <a:ext cx="7405688" cy="2476500"/>
        </p:xfrm>
        <a:graphic>
          <a:graphicData uri="http://schemas.openxmlformats.org/drawingml/2006/table">
            <a:tbl>
              <a:tblPr/>
              <a:tblGrid>
                <a:gridCol w="15716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23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1949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621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15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Image scale</a:t>
                      </a:r>
                    </a:p>
                    <a:p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1 mm on image</a:t>
                      </a:r>
                    </a:p>
                    <a:p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3 mm on image</a:t>
                      </a:r>
                    </a:p>
                    <a:p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5 mm on image</a:t>
                      </a:r>
                    </a:p>
                    <a:p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1:10,000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chemeClr val="tx1"/>
                          </a:solidFill>
                        </a:rPr>
                        <a:t>10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30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chemeClr val="tx1"/>
                          </a:solidFill>
                        </a:rPr>
                        <a:t>500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1:40,000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40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chemeClr val="tx1"/>
                          </a:solidFill>
                        </a:rPr>
                        <a:t>120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2,000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chemeClr val="tx1"/>
                          </a:solidFill>
                        </a:rPr>
                        <a:t>1:100,000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100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300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5,000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chemeClr val="tx1"/>
                          </a:solidFill>
                        </a:rPr>
                        <a:t>1:500,000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chemeClr val="tx1"/>
                          </a:solidFill>
                        </a:rPr>
                        <a:t>500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1,500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tx1"/>
                          </a:solidFill>
                        </a:rPr>
                        <a:t>25,000 m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280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71000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0"/>
            <a:ext cx="56134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/>
          <p:cNvSpPr txBox="1">
            <a:spLocks noChangeArrowheads="1"/>
          </p:cNvSpPr>
          <p:nvPr/>
        </p:nvSpPr>
        <p:spPr bwMode="auto">
          <a:xfrm>
            <a:off x="6019800" y="2667000"/>
            <a:ext cx="29718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2000" dirty="0">
                <a:solidFill>
                  <a:schemeClr val="bg1"/>
                </a:solidFill>
              </a:rPr>
              <a:t>Grid of cells called pixels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2000" dirty="0">
                <a:solidFill>
                  <a:schemeClr val="bg1"/>
                </a:solidFill>
              </a:rPr>
              <a:t>Two dimensional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CA" altLang="en-US" sz="2000" dirty="0">
                <a:solidFill>
                  <a:schemeClr val="bg1"/>
                </a:solidFill>
              </a:rPr>
              <a:t>Each pixel has a discrete value, I.e. grey scale value</a:t>
            </a:r>
            <a:endParaRPr lang="en-CA" altLang="en-US" sz="2000" b="1" dirty="0">
              <a:solidFill>
                <a:schemeClr val="bg1"/>
              </a:solidFill>
            </a:endParaRP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928688" y="3929063"/>
          <a:ext cx="3414712" cy="265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Clip" r:id="rId4" imgW="9600000" imgH="7466667" progId="">
                  <p:embed/>
                </p:oleObj>
              </mc:Choice>
              <mc:Fallback>
                <p:oleObj name="Clip" r:id="rId4" imgW="9600000" imgH="7466667" progId="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929063"/>
                        <a:ext cx="3414712" cy="265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81ABB88-81F6-4589-9275-CCA0367D7D14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4519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Raster and Vector 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FE96CE-9032-48C3-A5AA-B8F195FFB2C4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762000" y="22860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en-US" sz="2400" dirty="0">
                <a:solidFill>
                  <a:schemeClr val="bg1"/>
                </a:solidFill>
                <a:latin typeface="Arial" charset="0"/>
                <a:cs typeface="+mn-cs"/>
              </a:rPr>
              <a:t>Vectors have advantage of accuracy but not good with continuous fields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en-US" sz="2400" dirty="0">
                <a:solidFill>
                  <a:schemeClr val="bg1"/>
                </a:solidFill>
                <a:latin typeface="Arial" charset="0"/>
                <a:cs typeface="+mn-cs"/>
              </a:rPr>
              <a:t>Vectors were used first - digitizing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en-US" sz="2400" dirty="0">
                <a:solidFill>
                  <a:schemeClr val="bg1"/>
                </a:solidFill>
                <a:latin typeface="Arial" charset="0"/>
                <a:cs typeface="+mn-cs"/>
              </a:rPr>
              <a:t>Raster not good with lines or points but good with continuous coverage areas.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en-US" sz="2400" dirty="0">
                <a:solidFill>
                  <a:schemeClr val="bg1"/>
                </a:solidFill>
                <a:latin typeface="Arial" charset="0"/>
                <a:cs typeface="+mn-cs"/>
              </a:rPr>
              <a:t>Raster has the mixed pixel problem.</a:t>
            </a:r>
          </a:p>
        </p:txBody>
      </p:sp>
    </p:spTree>
    <p:extLst>
      <p:ext uri="{BB962C8B-B14F-4D97-AF65-F5344CB8AC3E}">
        <p14:creationId xmlns:p14="http://schemas.microsoft.com/office/powerpoint/2010/main" val="41929829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8625" y="685800"/>
            <a:ext cx="8501063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</a:rPr>
              <a:t>Vector Advantages</a:t>
            </a:r>
          </a:p>
          <a:p>
            <a:pPr eaLnBrk="1" hangingPunct="1"/>
            <a:endParaRPr lang="en-US" altLang="en-US" sz="2800" dirty="0">
              <a:solidFill>
                <a:schemeClr val="bg1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 </a:t>
            </a:r>
            <a:r>
              <a:rPr lang="en-US" altLang="en-US" sz="2400" dirty="0">
                <a:solidFill>
                  <a:schemeClr val="bg1"/>
                </a:solidFill>
              </a:rPr>
              <a:t>Requires less disk storage space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Topological relationships are readily maintained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Graphical output more closely resembles hand-drawn maps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Preferred for network analysis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00063" y="3429000"/>
            <a:ext cx="814387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</a:rPr>
              <a:t>Vector Disadvantages</a:t>
            </a:r>
          </a:p>
          <a:p>
            <a:pPr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eaLnBrk="1" hangingPunct="1"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 </a:t>
            </a:r>
            <a:r>
              <a:rPr lang="en-US" altLang="en-US" sz="2400" dirty="0">
                <a:solidFill>
                  <a:schemeClr val="bg1"/>
                </a:solidFill>
              </a:rPr>
              <a:t>More complex data structure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Not as compatible with remotely sensed data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Software and hardware are often more expensive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Some spatial analysis procedures may be more difficult </a:t>
            </a:r>
          </a:p>
          <a:p>
            <a:pPr eaLnBrk="1" hangingPunct="1"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 Overlaying multiple vector maps is often time consuming</a:t>
            </a:r>
            <a:r>
              <a:rPr lang="en-US" altLang="en-US" sz="2400" dirty="0">
                <a:solidFill>
                  <a:schemeClr val="bg1"/>
                </a:solidFill>
                <a:latin typeface="Times" panose="02020603060405020304" pitchFamily="18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A2054A-78D4-4F5C-960F-D4747B665E3D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31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7758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1"/>
          <p:cNvSpPr txBox="1">
            <a:spLocks noChangeArrowheads="1"/>
          </p:cNvSpPr>
          <p:nvPr/>
        </p:nvSpPr>
        <p:spPr bwMode="auto">
          <a:xfrm>
            <a:off x="1357313" y="1143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6386513" cy="890588"/>
          </a:xfrm>
        </p:spPr>
        <p:txBody>
          <a:bodyPr/>
          <a:lstStyle/>
          <a:p>
            <a:pPr algn="l" eaLnBrk="1" hangingPunct="1"/>
            <a:r>
              <a:rPr lang="en-CA" altLang="en-US" b="1">
                <a:latin typeface="Arial" panose="020B0604020202020204" pitchFamily="34" charset="0"/>
              </a:rPr>
              <a:t>ATTRIBUTE DATA</a:t>
            </a:r>
            <a:br>
              <a:rPr lang="en-CA" altLang="en-US" b="1">
                <a:latin typeface="Arial" panose="020B0604020202020204" pitchFamily="34" charset="0"/>
              </a:rPr>
            </a:br>
            <a:r>
              <a:rPr lang="en-CA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GIS DATABASE CONCEPTS...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54FCAB-4234-43D4-AAAD-AE5F7A5F6931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32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90600" y="2286000"/>
            <a:ext cx="642937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Organizing Attribute Data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     a. Flat Files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     b. Hierarchical Files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     c. </a:t>
            </a:r>
            <a:r>
              <a:rPr lang="en-CA" altLang="en-US" b="1" dirty="0">
                <a:solidFill>
                  <a:schemeClr val="bg1"/>
                </a:solidFill>
              </a:rPr>
              <a:t>Relational files </a:t>
            </a:r>
            <a:r>
              <a:rPr lang="en-CA" altLang="en-US" dirty="0">
                <a:solidFill>
                  <a:schemeClr val="bg1"/>
                </a:solidFill>
              </a:rPr>
              <a:t>– Very Important</a:t>
            </a:r>
          </a:p>
          <a:p>
            <a:pPr eaLnBrk="1" hangingPunct="1"/>
            <a:endParaRPr lang="en-CA" altLang="en-US" dirty="0">
              <a:solidFill>
                <a:schemeClr val="bg1"/>
              </a:solidFill>
            </a:endParaRP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Representing Relationship</a:t>
            </a:r>
          </a:p>
          <a:p>
            <a:pPr eaLnBrk="1" hangingPunct="1"/>
            <a:r>
              <a:rPr lang="en-CA" altLang="en-US" b="1" dirty="0">
                <a:solidFill>
                  <a:schemeClr val="bg1"/>
                </a:solidFill>
              </a:rPr>
              <a:t>Topological  Relationship </a:t>
            </a:r>
            <a:r>
              <a:rPr lang="en-CA" altLang="en-US" dirty="0">
                <a:solidFill>
                  <a:schemeClr val="bg1"/>
                </a:solidFill>
              </a:rPr>
              <a:t>– very Important</a:t>
            </a:r>
          </a:p>
        </p:txBody>
      </p:sp>
    </p:spTree>
    <p:extLst>
      <p:ext uri="{BB962C8B-B14F-4D97-AF65-F5344CB8AC3E}">
        <p14:creationId xmlns:p14="http://schemas.microsoft.com/office/powerpoint/2010/main" val="140510595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000125" y="857250"/>
            <a:ext cx="4595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>
                <a:solidFill>
                  <a:schemeClr val="bg1"/>
                </a:solidFill>
              </a:rPr>
              <a:t>Attribute data are stored in database tables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71750"/>
            <a:ext cx="62865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28688" y="1371600"/>
            <a:ext cx="62150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Tables are composed of: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1. Fields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2. Records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ED98F1-34A3-4444-9257-17049F33DA83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33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83188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1" descr="relafile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714625"/>
            <a:ext cx="5214937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00063" y="214313"/>
            <a:ext cx="2262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b="1" dirty="0">
                <a:solidFill>
                  <a:schemeClr val="bg1"/>
                </a:solidFill>
              </a:rPr>
              <a:t>Relational files ......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57188" y="808037"/>
            <a:ext cx="8583612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Connect different files or tables (relations) without using internal pointers or keys.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  Instead a common link of data is used to join or associate records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A "matrices of tables" is used to store the information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The tables have a common link they may be combined by the user to form </a:t>
            </a:r>
          </a:p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   new inquires and data output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6BF72CD-E2F7-474F-B0D8-DE62B221CC30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34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5954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00063" y="500063"/>
            <a:ext cx="7681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ArcGIS uses tabular data formats from dbase, ASC11 text, and INFO files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143000" y="1214438"/>
            <a:ext cx="38862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Tables are stored on the disk as</a:t>
            </a:r>
          </a:p>
          <a:p>
            <a:pPr eaLnBrk="1" hangingPunct="1"/>
            <a:endParaRPr lang="en-CA" altLang="en-US" dirty="0">
              <a:solidFill>
                <a:schemeClr val="bg1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.</a:t>
            </a:r>
            <a:r>
              <a:rPr lang="en-CA" altLang="en-US" dirty="0" err="1">
                <a:solidFill>
                  <a:schemeClr val="bg1"/>
                </a:solidFill>
              </a:rPr>
              <a:t>dbf</a:t>
            </a:r>
            <a:r>
              <a:rPr lang="en-CA" altLang="en-US" dirty="0">
                <a:solidFill>
                  <a:schemeClr val="bg1"/>
                </a:solidFill>
              </a:rPr>
              <a:t> files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.txt files or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binary files in INFO directories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57250" y="2786063"/>
            <a:ext cx="4878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Each vector data source has an attribute table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3286125"/>
            <a:ext cx="64373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364F0F-FC31-4AEE-BC0C-21698CFA2E70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35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87046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1538288"/>
            <a:ext cx="8178800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57188" y="685800"/>
            <a:ext cx="8097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dirty="0">
                <a:solidFill>
                  <a:schemeClr val="bg1"/>
                </a:solidFill>
              </a:rPr>
              <a:t>Tables can be linked and joined (“Related”) by use of common values in fields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56A956-8876-4B29-B400-43873A3EE09B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36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300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1428750"/>
            <a:ext cx="76787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Box 2"/>
          <p:cNvSpPr txBox="1">
            <a:spLocks noChangeArrowheads="1"/>
          </p:cNvSpPr>
          <p:nvPr/>
        </p:nvSpPr>
        <p:spPr bwMode="auto">
          <a:xfrm>
            <a:off x="1071563" y="214313"/>
            <a:ext cx="5749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000" b="1" dirty="0">
                <a:solidFill>
                  <a:schemeClr val="bg1"/>
                </a:solidFill>
              </a:rPr>
              <a:t>Relationship between map and tabular data....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57250" y="649287"/>
            <a:ext cx="7459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One to one  between feature and records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When selection is made, both the record and the feature are selected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D34E536-0769-4325-B5DE-D7F6F3D6E330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37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27520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5800" y="590550"/>
            <a:ext cx="77317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000" b="1" dirty="0">
                <a:solidFill>
                  <a:schemeClr val="bg1"/>
                </a:solidFill>
              </a:rPr>
              <a:t>Different types of data that may have attribute tables in ArcGIS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143000" y="1470898"/>
            <a:ext cx="2060179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000" b="1" dirty="0">
                <a:solidFill>
                  <a:schemeClr val="bg1"/>
                </a:solidFill>
              </a:rPr>
              <a:t>Vector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Point attribute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Polygon attribute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Line attribute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Node attribute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Text attribute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Route and event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CAD attribute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219200" y="4572000"/>
            <a:ext cx="236366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2000" b="1" dirty="0">
                <a:solidFill>
                  <a:schemeClr val="bg1"/>
                </a:solidFill>
              </a:rPr>
              <a:t>Raster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solidFill>
                  <a:schemeClr val="bg1"/>
                </a:solidFill>
              </a:rPr>
              <a:t> Value attribute table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E7087C-67D9-4032-B308-306CB03B6F88}" type="slidenum">
              <a:rPr lang="en-CA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38</a:t>
            </a:fld>
            <a:endParaRPr lang="en-CA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6894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4109</TotalTime>
  <Words>1667</Words>
  <Application>Microsoft Office PowerPoint</Application>
  <PresentationFormat>On-screen Show (4:3)</PresentationFormat>
  <Paragraphs>359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Times</vt:lpstr>
      <vt:lpstr>Times New Roman</vt:lpstr>
      <vt:lpstr>Verdana</vt:lpstr>
      <vt:lpstr>Office Theme</vt:lpstr>
      <vt:lpstr>Slide</vt:lpstr>
      <vt:lpstr>Clip</vt:lpstr>
      <vt:lpstr>Bitmap Image</vt:lpstr>
      <vt:lpstr>Package</vt:lpstr>
      <vt:lpstr>Lec02 GIS Database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 REPRESENTATION VECTOR DATA...</vt:lpstr>
      <vt:lpstr>LINE REPRESENTATION VECTOR DATA...</vt:lpstr>
      <vt:lpstr>POLYGON REPRESENTATION VECTOR DATA...</vt:lpstr>
      <vt:lpstr>PowerPoint Presentation</vt:lpstr>
      <vt:lpstr>PowerPoint Presentation</vt:lpstr>
      <vt:lpstr>PowerPoint Presentation</vt:lpstr>
      <vt:lpstr>Raster Data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Raster Data</vt:lpstr>
      <vt:lpstr>Types of Raster Data – Images</vt:lpstr>
      <vt:lpstr>Raster Data Formats</vt:lpstr>
      <vt:lpstr>Raster Resolution RASTER DATA...</vt:lpstr>
      <vt:lpstr>Raster Resolution  RASTER DATA...</vt:lpstr>
      <vt:lpstr>Raster Resolution  RASTER DATA...</vt:lpstr>
      <vt:lpstr>Raster Resolution  RASTER DATA...</vt:lpstr>
      <vt:lpstr>Raster Resolution  RASTER DATA...</vt:lpstr>
      <vt:lpstr>PowerPoint Presentation</vt:lpstr>
      <vt:lpstr>Raster and Vector Summary</vt:lpstr>
      <vt:lpstr>PowerPoint Presentation</vt:lpstr>
      <vt:lpstr>ATTRIBUTE DATA GIS DATABASE CONCEPTS...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of Geographical Information Systems</dc:title>
  <dc:creator>Saad</dc:creator>
  <cp:lastModifiedBy>igis</cp:lastModifiedBy>
  <cp:revision>619</cp:revision>
  <dcterms:created xsi:type="dcterms:W3CDTF">2009-07-13T10:47:55Z</dcterms:created>
  <dcterms:modified xsi:type="dcterms:W3CDTF">2019-09-12T02:44:47Z</dcterms:modified>
</cp:coreProperties>
</file>