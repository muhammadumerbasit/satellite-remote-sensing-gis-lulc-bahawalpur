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256" r:id="rId2"/>
    <p:sldId id="257" r:id="rId3"/>
    <p:sldId id="288" r:id="rId4"/>
    <p:sldId id="272" r:id="rId5"/>
    <p:sldId id="265" r:id="rId6"/>
    <p:sldId id="266" r:id="rId7"/>
    <p:sldId id="267" r:id="rId8"/>
    <p:sldId id="289" r:id="rId9"/>
    <p:sldId id="268" r:id="rId10"/>
    <p:sldId id="269" r:id="rId11"/>
    <p:sldId id="270" r:id="rId12"/>
    <p:sldId id="273" r:id="rId13"/>
    <p:sldId id="274" r:id="rId14"/>
    <p:sldId id="290" r:id="rId15"/>
    <p:sldId id="271" r:id="rId16"/>
    <p:sldId id="275" r:id="rId17"/>
    <p:sldId id="276" r:id="rId18"/>
    <p:sldId id="277" r:id="rId19"/>
    <p:sldId id="278" r:id="rId20"/>
    <p:sldId id="279" r:id="rId21"/>
    <p:sldId id="258" r:id="rId22"/>
    <p:sldId id="280" r:id="rId23"/>
    <p:sldId id="282" r:id="rId24"/>
    <p:sldId id="281" r:id="rId25"/>
    <p:sldId id="283" r:id="rId26"/>
    <p:sldId id="284" r:id="rId27"/>
    <p:sldId id="259" r:id="rId28"/>
    <p:sldId id="261" r:id="rId29"/>
    <p:sldId id="262" r:id="rId30"/>
    <p:sldId id="263" r:id="rId31"/>
    <p:sldId id="264" r:id="rId32"/>
    <p:sldId id="260" r:id="rId33"/>
    <p:sldId id="287" r:id="rId34"/>
    <p:sldId id="285" r:id="rId35"/>
    <p:sldId id="286" r:id="rId36"/>
    <p:sldId id="291" r:id="rId37"/>
    <p:sldId id="292" r:id="rId38"/>
    <p:sldId id="293" r:id="rId39"/>
    <p:sldId id="294" r:id="rId40"/>
    <p:sldId id="295" r:id="rId41"/>
    <p:sldId id="296" r:id="rId42"/>
    <p:sldId id="297" r:id="rId43"/>
    <p:sldId id="29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8151" autoAdjust="0"/>
  </p:normalViewPr>
  <p:slideViewPr>
    <p:cSldViewPr snapToGrid="0">
      <p:cViewPr varScale="1">
        <p:scale>
          <a:sx n="77" d="100"/>
          <a:sy n="77" d="100"/>
        </p:scale>
        <p:origin x="97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98CB4C-403A-4772-9B06-B1C60B37E44C}" type="doc">
      <dgm:prSet loTypeId="urn:microsoft.com/office/officeart/2005/8/layout/radial6" loCatId="cycle" qsTypeId="urn:microsoft.com/office/officeart/2005/8/quickstyle/simple1" qsCatId="simple" csTypeId="urn:microsoft.com/office/officeart/2005/8/colors/colorful1" csCatId="colorful" phldr="1"/>
      <dgm:spPr>
        <a:scene3d>
          <a:camera prst="orthographicFront">
            <a:rot lat="0" lon="0" rev="0"/>
          </a:camera>
          <a:lightRig rig="glow" dir="t">
            <a:rot lat="0" lon="0" rev="4800000"/>
          </a:lightRig>
        </a:scene3d>
      </dgm:spPr>
      <dgm:t>
        <a:bodyPr/>
        <a:lstStyle/>
        <a:p>
          <a:endParaRPr lang="en-US"/>
        </a:p>
      </dgm:t>
    </dgm:pt>
    <dgm:pt modelId="{531E04FA-BD88-409D-8AEE-E87DFB34C695}">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4800" b="1" i="0" dirty="0" smtClean="0"/>
            <a:t>GIS</a:t>
          </a:r>
          <a:endParaRPr lang="en-US" sz="4800" b="1" i="0" dirty="0"/>
        </a:p>
      </dgm:t>
    </dgm:pt>
    <dgm:pt modelId="{F12C7A09-9694-4CD1-8CB1-396808492FE0}" type="parTrans" cxnId="{5CA86BAD-C52C-4C3C-8D00-51B60DABD902}">
      <dgm:prSet/>
      <dgm:spPr/>
      <dgm:t>
        <a:bodyPr/>
        <a:lstStyle/>
        <a:p>
          <a:endParaRPr lang="en-US" sz="2800"/>
        </a:p>
      </dgm:t>
    </dgm:pt>
    <dgm:pt modelId="{19164C6B-FFB9-4162-9BE3-DF9204071112}" type="sibTrans" cxnId="{5CA86BAD-C52C-4C3C-8D00-51B60DABD902}">
      <dgm:prSet/>
      <dgm:spPr/>
      <dgm:t>
        <a:bodyPr/>
        <a:lstStyle/>
        <a:p>
          <a:endParaRPr lang="en-US" sz="2800"/>
        </a:p>
      </dgm:t>
    </dgm:pt>
    <dgm:pt modelId="{33F616B6-94AD-4F26-A8D3-3F0A8724A90A}">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1600" b="1" i="1" dirty="0" smtClean="0"/>
            <a:t>DATA</a:t>
          </a:r>
          <a:endParaRPr lang="en-US" sz="1600" b="1" i="1" dirty="0"/>
        </a:p>
      </dgm:t>
    </dgm:pt>
    <dgm:pt modelId="{FCD18834-CC29-46C7-BE3E-782C92985D6F}" type="parTrans" cxnId="{CB88D99A-7DF8-453F-AA82-69B589459BDA}">
      <dgm:prSet/>
      <dgm:spPr/>
      <dgm:t>
        <a:bodyPr/>
        <a:lstStyle/>
        <a:p>
          <a:endParaRPr lang="en-US" sz="2800"/>
        </a:p>
      </dgm:t>
    </dgm:pt>
    <dgm:pt modelId="{0BA036DB-1EF4-4E73-9E3B-B7EA59798C7E}" type="sibTrans" cxnId="{CB88D99A-7DF8-453F-AA82-69B589459BDA}">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a:p>
      </dgm:t>
    </dgm:pt>
    <dgm:pt modelId="{43B7FDF4-93AD-45A8-9242-9FC9A3CFE359}">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1600" b="1" i="1" dirty="0" smtClean="0"/>
            <a:t>SOFTWARE</a:t>
          </a:r>
          <a:endParaRPr lang="en-US" sz="1600" b="1" i="1" dirty="0"/>
        </a:p>
      </dgm:t>
    </dgm:pt>
    <dgm:pt modelId="{ED56F6CC-B77F-4D44-8980-E9E5402A24D1}" type="parTrans" cxnId="{15A6D13D-5A4E-4169-ABEF-1403574D5170}">
      <dgm:prSet/>
      <dgm:spPr/>
      <dgm:t>
        <a:bodyPr/>
        <a:lstStyle/>
        <a:p>
          <a:endParaRPr lang="en-US" sz="2800"/>
        </a:p>
      </dgm:t>
    </dgm:pt>
    <dgm:pt modelId="{94B67DA3-1524-451C-B49B-CE5B9EBB9907}" type="sibTrans" cxnId="{15A6D13D-5A4E-4169-ABEF-1403574D5170}">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a:p>
      </dgm:t>
    </dgm:pt>
    <dgm:pt modelId="{4FE84804-E4F0-4B53-8CD2-186284B12DDE}">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1600" b="1" i="1" dirty="0" smtClean="0"/>
            <a:t>PEOPLE</a:t>
          </a:r>
          <a:r>
            <a:rPr lang="en-US" sz="1600" dirty="0" smtClean="0"/>
            <a:t> </a:t>
          </a:r>
          <a:r>
            <a:rPr lang="en-US" sz="1600" b="1" i="1" dirty="0" smtClean="0"/>
            <a:t>AND</a:t>
          </a:r>
          <a:r>
            <a:rPr lang="en-US" sz="1600" dirty="0" smtClean="0"/>
            <a:t> </a:t>
          </a:r>
          <a:r>
            <a:rPr lang="en-US" sz="1600" b="1" i="1" dirty="0" smtClean="0"/>
            <a:t>PROCEDURES</a:t>
          </a:r>
          <a:endParaRPr lang="en-US" sz="1600" b="1" i="1" dirty="0"/>
        </a:p>
      </dgm:t>
    </dgm:pt>
    <dgm:pt modelId="{6D559336-0770-47A1-9558-72CEC25FBA86}" type="parTrans" cxnId="{E582A54E-6670-49A3-93CD-786F4CF7123C}">
      <dgm:prSet/>
      <dgm:spPr/>
      <dgm:t>
        <a:bodyPr/>
        <a:lstStyle/>
        <a:p>
          <a:endParaRPr lang="en-US" sz="2800"/>
        </a:p>
      </dgm:t>
    </dgm:pt>
    <dgm:pt modelId="{DE42F5F0-91B9-4574-9EE3-D4C598EE329C}" type="sibTrans" cxnId="{E582A54E-6670-49A3-93CD-786F4CF7123C}">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a:p>
      </dgm:t>
    </dgm:pt>
    <dgm:pt modelId="{DF346394-3973-458E-94F7-94DF0F2ED017}">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1600" b="1" i="1" dirty="0" smtClean="0"/>
            <a:t>HARDWARE</a:t>
          </a:r>
          <a:endParaRPr lang="en-US" sz="1600" b="1" i="1" dirty="0"/>
        </a:p>
      </dgm:t>
    </dgm:pt>
    <dgm:pt modelId="{E99CC48A-978B-4878-9E27-3CCBECDD3518}" type="parTrans" cxnId="{77D10B0B-5BA9-49CD-9758-ADDD55C10B67}">
      <dgm:prSet/>
      <dgm:spPr/>
      <dgm:t>
        <a:bodyPr/>
        <a:lstStyle/>
        <a:p>
          <a:endParaRPr lang="en-US" sz="2800"/>
        </a:p>
      </dgm:t>
    </dgm:pt>
    <dgm:pt modelId="{F302DA50-F2AC-4FF1-A6BE-1894756F9406}" type="sibTrans" cxnId="{77D10B0B-5BA9-49CD-9758-ADDD55C10B67}">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a:p>
      </dgm:t>
    </dgm:pt>
    <dgm:pt modelId="{A59B4577-2145-4261-8CD9-9D81068B8171}" type="pres">
      <dgm:prSet presAssocID="{8998CB4C-403A-4772-9B06-B1C60B37E44C}" presName="Name0" presStyleCnt="0">
        <dgm:presLayoutVars>
          <dgm:chMax val="1"/>
          <dgm:dir/>
          <dgm:animLvl val="ctr"/>
          <dgm:resizeHandles val="exact"/>
        </dgm:presLayoutVars>
      </dgm:prSet>
      <dgm:spPr/>
      <dgm:t>
        <a:bodyPr/>
        <a:lstStyle/>
        <a:p>
          <a:endParaRPr lang="en-US"/>
        </a:p>
      </dgm:t>
    </dgm:pt>
    <dgm:pt modelId="{10D8113B-A413-4BA2-B5BF-8B7E9AD0FA89}" type="pres">
      <dgm:prSet presAssocID="{531E04FA-BD88-409D-8AEE-E87DFB34C695}" presName="centerShape" presStyleLbl="node0" presStyleIdx="0" presStyleCnt="1"/>
      <dgm:spPr/>
      <dgm:t>
        <a:bodyPr/>
        <a:lstStyle/>
        <a:p>
          <a:endParaRPr lang="en-US"/>
        </a:p>
      </dgm:t>
    </dgm:pt>
    <dgm:pt modelId="{DE54AE92-42C8-48DA-A551-B1496C4016DF}" type="pres">
      <dgm:prSet presAssocID="{33F616B6-94AD-4F26-A8D3-3F0A8724A90A}" presName="node" presStyleLbl="node1" presStyleIdx="0" presStyleCnt="4">
        <dgm:presLayoutVars>
          <dgm:bulletEnabled val="1"/>
        </dgm:presLayoutVars>
      </dgm:prSet>
      <dgm:spPr/>
      <dgm:t>
        <a:bodyPr/>
        <a:lstStyle/>
        <a:p>
          <a:endParaRPr lang="en-US"/>
        </a:p>
      </dgm:t>
    </dgm:pt>
    <dgm:pt modelId="{D82FBA44-6664-4FB0-9871-5FF79D54EC43}" type="pres">
      <dgm:prSet presAssocID="{33F616B6-94AD-4F26-A8D3-3F0A8724A90A}" presName="dummy"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B0FD3D13-773D-4D37-85DD-EC0415A9E19A}" type="pres">
      <dgm:prSet presAssocID="{0BA036DB-1EF4-4E73-9E3B-B7EA59798C7E}" presName="sibTrans" presStyleLbl="sibTrans2D1" presStyleIdx="0" presStyleCnt="4"/>
      <dgm:spPr/>
      <dgm:t>
        <a:bodyPr/>
        <a:lstStyle/>
        <a:p>
          <a:endParaRPr lang="en-US"/>
        </a:p>
      </dgm:t>
    </dgm:pt>
    <dgm:pt modelId="{9BFD8789-E035-4977-91A0-0E54FAA0800A}" type="pres">
      <dgm:prSet presAssocID="{43B7FDF4-93AD-45A8-9242-9FC9A3CFE359}" presName="node" presStyleLbl="node1" presStyleIdx="1" presStyleCnt="4">
        <dgm:presLayoutVars>
          <dgm:bulletEnabled val="1"/>
        </dgm:presLayoutVars>
      </dgm:prSet>
      <dgm:spPr/>
      <dgm:t>
        <a:bodyPr/>
        <a:lstStyle/>
        <a:p>
          <a:endParaRPr lang="en-US"/>
        </a:p>
      </dgm:t>
    </dgm:pt>
    <dgm:pt modelId="{29B610CF-4101-4DB5-BA5F-770922252806}" type="pres">
      <dgm:prSet presAssocID="{43B7FDF4-93AD-45A8-9242-9FC9A3CFE359}" presName="dummy"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1681DC47-EBF6-48A9-BBA6-C146DDA81431}" type="pres">
      <dgm:prSet presAssocID="{94B67DA3-1524-451C-B49B-CE5B9EBB9907}" presName="sibTrans" presStyleLbl="sibTrans2D1" presStyleIdx="1" presStyleCnt="4"/>
      <dgm:spPr/>
      <dgm:t>
        <a:bodyPr/>
        <a:lstStyle/>
        <a:p>
          <a:endParaRPr lang="en-US"/>
        </a:p>
      </dgm:t>
    </dgm:pt>
    <dgm:pt modelId="{FDE3A4D3-CCFB-48DE-A6A3-02607C84E26C}" type="pres">
      <dgm:prSet presAssocID="{4FE84804-E4F0-4B53-8CD2-186284B12DDE}" presName="node" presStyleLbl="node1" presStyleIdx="2" presStyleCnt="4">
        <dgm:presLayoutVars>
          <dgm:bulletEnabled val="1"/>
        </dgm:presLayoutVars>
      </dgm:prSet>
      <dgm:spPr/>
      <dgm:t>
        <a:bodyPr/>
        <a:lstStyle/>
        <a:p>
          <a:endParaRPr lang="en-US"/>
        </a:p>
      </dgm:t>
    </dgm:pt>
    <dgm:pt modelId="{F01B04B4-27FE-4075-9FBB-B12890475FD9}" type="pres">
      <dgm:prSet presAssocID="{4FE84804-E4F0-4B53-8CD2-186284B12DDE}" presName="dummy"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3EF475FB-381E-4CF2-B570-846ED295A254}" type="pres">
      <dgm:prSet presAssocID="{DE42F5F0-91B9-4574-9EE3-D4C598EE329C}" presName="sibTrans" presStyleLbl="sibTrans2D1" presStyleIdx="2" presStyleCnt="4"/>
      <dgm:spPr/>
      <dgm:t>
        <a:bodyPr/>
        <a:lstStyle/>
        <a:p>
          <a:endParaRPr lang="en-US"/>
        </a:p>
      </dgm:t>
    </dgm:pt>
    <dgm:pt modelId="{DBDEDD85-29B5-4E85-BE6D-2524F5F48B98}" type="pres">
      <dgm:prSet presAssocID="{DF346394-3973-458E-94F7-94DF0F2ED017}" presName="node" presStyleLbl="node1" presStyleIdx="3" presStyleCnt="4">
        <dgm:presLayoutVars>
          <dgm:bulletEnabled val="1"/>
        </dgm:presLayoutVars>
      </dgm:prSet>
      <dgm:spPr/>
      <dgm:t>
        <a:bodyPr/>
        <a:lstStyle/>
        <a:p>
          <a:endParaRPr lang="en-US"/>
        </a:p>
      </dgm:t>
    </dgm:pt>
    <dgm:pt modelId="{7B222E69-F929-4A27-8A8F-9B94739D3598}" type="pres">
      <dgm:prSet presAssocID="{DF346394-3973-458E-94F7-94DF0F2ED017}" presName="dummy"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F08AC3A6-1212-4B52-A349-FDEA8E17E955}" type="pres">
      <dgm:prSet presAssocID="{F302DA50-F2AC-4FF1-A6BE-1894756F9406}" presName="sibTrans" presStyleLbl="sibTrans2D1" presStyleIdx="3" presStyleCnt="4"/>
      <dgm:spPr/>
      <dgm:t>
        <a:bodyPr/>
        <a:lstStyle/>
        <a:p>
          <a:endParaRPr lang="en-US"/>
        </a:p>
      </dgm:t>
    </dgm:pt>
  </dgm:ptLst>
  <dgm:cxnLst>
    <dgm:cxn modelId="{ADD3785C-42C8-4DDD-8F50-A8E4A87F568B}" type="presOf" srcId="{0BA036DB-1EF4-4E73-9E3B-B7EA59798C7E}" destId="{B0FD3D13-773D-4D37-85DD-EC0415A9E19A}" srcOrd="0" destOrd="0" presId="urn:microsoft.com/office/officeart/2005/8/layout/radial6"/>
    <dgm:cxn modelId="{77D10B0B-5BA9-49CD-9758-ADDD55C10B67}" srcId="{531E04FA-BD88-409D-8AEE-E87DFB34C695}" destId="{DF346394-3973-458E-94F7-94DF0F2ED017}" srcOrd="3" destOrd="0" parTransId="{E99CC48A-978B-4878-9E27-3CCBECDD3518}" sibTransId="{F302DA50-F2AC-4FF1-A6BE-1894756F9406}"/>
    <dgm:cxn modelId="{AE08A6BF-F857-4B09-959E-2FDA5439E538}" type="presOf" srcId="{43B7FDF4-93AD-45A8-9242-9FC9A3CFE359}" destId="{9BFD8789-E035-4977-91A0-0E54FAA0800A}" srcOrd="0" destOrd="0" presId="urn:microsoft.com/office/officeart/2005/8/layout/radial6"/>
    <dgm:cxn modelId="{F962DF4D-7DF6-4B91-9C4D-B2C29E6DEC77}" type="presOf" srcId="{8998CB4C-403A-4772-9B06-B1C60B37E44C}" destId="{A59B4577-2145-4261-8CD9-9D81068B8171}" srcOrd="0" destOrd="0" presId="urn:microsoft.com/office/officeart/2005/8/layout/radial6"/>
    <dgm:cxn modelId="{15A6D13D-5A4E-4169-ABEF-1403574D5170}" srcId="{531E04FA-BD88-409D-8AEE-E87DFB34C695}" destId="{43B7FDF4-93AD-45A8-9242-9FC9A3CFE359}" srcOrd="1" destOrd="0" parTransId="{ED56F6CC-B77F-4D44-8980-E9E5402A24D1}" sibTransId="{94B67DA3-1524-451C-B49B-CE5B9EBB9907}"/>
    <dgm:cxn modelId="{E632540D-E471-4702-AEBE-81E38B2E70E4}" type="presOf" srcId="{DE42F5F0-91B9-4574-9EE3-D4C598EE329C}" destId="{3EF475FB-381E-4CF2-B570-846ED295A254}" srcOrd="0" destOrd="0" presId="urn:microsoft.com/office/officeart/2005/8/layout/radial6"/>
    <dgm:cxn modelId="{D09BD7C5-39B1-4444-BDF7-8F15466C7D48}" type="presOf" srcId="{94B67DA3-1524-451C-B49B-CE5B9EBB9907}" destId="{1681DC47-EBF6-48A9-BBA6-C146DDA81431}" srcOrd="0" destOrd="0" presId="urn:microsoft.com/office/officeart/2005/8/layout/radial6"/>
    <dgm:cxn modelId="{CB88D99A-7DF8-453F-AA82-69B589459BDA}" srcId="{531E04FA-BD88-409D-8AEE-E87DFB34C695}" destId="{33F616B6-94AD-4F26-A8D3-3F0A8724A90A}" srcOrd="0" destOrd="0" parTransId="{FCD18834-CC29-46C7-BE3E-782C92985D6F}" sibTransId="{0BA036DB-1EF4-4E73-9E3B-B7EA59798C7E}"/>
    <dgm:cxn modelId="{712900C9-63A4-4C59-86BB-F9B6718ED60D}" type="presOf" srcId="{33F616B6-94AD-4F26-A8D3-3F0A8724A90A}" destId="{DE54AE92-42C8-48DA-A551-B1496C4016DF}" srcOrd="0" destOrd="0" presId="urn:microsoft.com/office/officeart/2005/8/layout/radial6"/>
    <dgm:cxn modelId="{B25FE66B-C747-43A9-9814-B8869BB7CDB8}" type="presOf" srcId="{4FE84804-E4F0-4B53-8CD2-186284B12DDE}" destId="{FDE3A4D3-CCFB-48DE-A6A3-02607C84E26C}" srcOrd="0" destOrd="0" presId="urn:microsoft.com/office/officeart/2005/8/layout/radial6"/>
    <dgm:cxn modelId="{5CA86BAD-C52C-4C3C-8D00-51B60DABD902}" srcId="{8998CB4C-403A-4772-9B06-B1C60B37E44C}" destId="{531E04FA-BD88-409D-8AEE-E87DFB34C695}" srcOrd="0" destOrd="0" parTransId="{F12C7A09-9694-4CD1-8CB1-396808492FE0}" sibTransId="{19164C6B-FFB9-4162-9BE3-DF9204071112}"/>
    <dgm:cxn modelId="{5B5C909D-FD05-445E-A656-DCD0743BBB0B}" type="presOf" srcId="{F302DA50-F2AC-4FF1-A6BE-1894756F9406}" destId="{F08AC3A6-1212-4B52-A349-FDEA8E17E955}" srcOrd="0" destOrd="0" presId="urn:microsoft.com/office/officeart/2005/8/layout/radial6"/>
    <dgm:cxn modelId="{E582A54E-6670-49A3-93CD-786F4CF7123C}" srcId="{531E04FA-BD88-409D-8AEE-E87DFB34C695}" destId="{4FE84804-E4F0-4B53-8CD2-186284B12DDE}" srcOrd="2" destOrd="0" parTransId="{6D559336-0770-47A1-9558-72CEC25FBA86}" sibTransId="{DE42F5F0-91B9-4574-9EE3-D4C598EE329C}"/>
    <dgm:cxn modelId="{C14AAC1E-44FF-4FB7-8D6E-0843BC400403}" type="presOf" srcId="{DF346394-3973-458E-94F7-94DF0F2ED017}" destId="{DBDEDD85-29B5-4E85-BE6D-2524F5F48B98}" srcOrd="0" destOrd="0" presId="urn:microsoft.com/office/officeart/2005/8/layout/radial6"/>
    <dgm:cxn modelId="{DECFAFD3-AB52-475C-825F-724A1FF666DF}" type="presOf" srcId="{531E04FA-BD88-409D-8AEE-E87DFB34C695}" destId="{10D8113B-A413-4BA2-B5BF-8B7E9AD0FA89}" srcOrd="0" destOrd="0" presId="urn:microsoft.com/office/officeart/2005/8/layout/radial6"/>
    <dgm:cxn modelId="{07D1A06B-9C8A-456B-8C46-B34540745771}" type="presParOf" srcId="{A59B4577-2145-4261-8CD9-9D81068B8171}" destId="{10D8113B-A413-4BA2-B5BF-8B7E9AD0FA89}" srcOrd="0" destOrd="0" presId="urn:microsoft.com/office/officeart/2005/8/layout/radial6"/>
    <dgm:cxn modelId="{FB15FFE1-5FF7-4446-8075-5AD01A7C4E66}" type="presParOf" srcId="{A59B4577-2145-4261-8CD9-9D81068B8171}" destId="{DE54AE92-42C8-48DA-A551-B1496C4016DF}" srcOrd="1" destOrd="0" presId="urn:microsoft.com/office/officeart/2005/8/layout/radial6"/>
    <dgm:cxn modelId="{DCC2347E-BCD1-4F2A-BFC6-3760DC7EEE59}" type="presParOf" srcId="{A59B4577-2145-4261-8CD9-9D81068B8171}" destId="{D82FBA44-6664-4FB0-9871-5FF79D54EC43}" srcOrd="2" destOrd="0" presId="urn:microsoft.com/office/officeart/2005/8/layout/radial6"/>
    <dgm:cxn modelId="{6A1884C4-67AF-4300-8BE7-E1D92E242A19}" type="presParOf" srcId="{A59B4577-2145-4261-8CD9-9D81068B8171}" destId="{B0FD3D13-773D-4D37-85DD-EC0415A9E19A}" srcOrd="3" destOrd="0" presId="urn:microsoft.com/office/officeart/2005/8/layout/radial6"/>
    <dgm:cxn modelId="{A207936F-26F8-4ACD-B76F-A41965D7D5D3}" type="presParOf" srcId="{A59B4577-2145-4261-8CD9-9D81068B8171}" destId="{9BFD8789-E035-4977-91A0-0E54FAA0800A}" srcOrd="4" destOrd="0" presId="urn:microsoft.com/office/officeart/2005/8/layout/radial6"/>
    <dgm:cxn modelId="{43264801-B2BC-49BF-9C07-D31195CDCF4C}" type="presParOf" srcId="{A59B4577-2145-4261-8CD9-9D81068B8171}" destId="{29B610CF-4101-4DB5-BA5F-770922252806}" srcOrd="5" destOrd="0" presId="urn:microsoft.com/office/officeart/2005/8/layout/radial6"/>
    <dgm:cxn modelId="{3043346A-26A6-45CF-A05F-B8A170C9B0E3}" type="presParOf" srcId="{A59B4577-2145-4261-8CD9-9D81068B8171}" destId="{1681DC47-EBF6-48A9-BBA6-C146DDA81431}" srcOrd="6" destOrd="0" presId="urn:microsoft.com/office/officeart/2005/8/layout/radial6"/>
    <dgm:cxn modelId="{9B4ED2D5-68F5-4CB5-9E6C-EF0FC5D3840F}" type="presParOf" srcId="{A59B4577-2145-4261-8CD9-9D81068B8171}" destId="{FDE3A4D3-CCFB-48DE-A6A3-02607C84E26C}" srcOrd="7" destOrd="0" presId="urn:microsoft.com/office/officeart/2005/8/layout/radial6"/>
    <dgm:cxn modelId="{9A68FF77-F983-4731-96A7-133647A60DF9}" type="presParOf" srcId="{A59B4577-2145-4261-8CD9-9D81068B8171}" destId="{F01B04B4-27FE-4075-9FBB-B12890475FD9}" srcOrd="8" destOrd="0" presId="urn:microsoft.com/office/officeart/2005/8/layout/radial6"/>
    <dgm:cxn modelId="{E11BE606-66C8-4D82-8DA3-9A911BD578AA}" type="presParOf" srcId="{A59B4577-2145-4261-8CD9-9D81068B8171}" destId="{3EF475FB-381E-4CF2-B570-846ED295A254}" srcOrd="9" destOrd="0" presId="urn:microsoft.com/office/officeart/2005/8/layout/radial6"/>
    <dgm:cxn modelId="{0BFE2F87-4F05-4117-A382-00A5B36957ED}" type="presParOf" srcId="{A59B4577-2145-4261-8CD9-9D81068B8171}" destId="{DBDEDD85-29B5-4E85-BE6D-2524F5F48B98}" srcOrd="10" destOrd="0" presId="urn:microsoft.com/office/officeart/2005/8/layout/radial6"/>
    <dgm:cxn modelId="{152C157D-A56E-4EEC-B830-53DB99A0B147}" type="presParOf" srcId="{A59B4577-2145-4261-8CD9-9D81068B8171}" destId="{7B222E69-F929-4A27-8A8F-9B94739D3598}" srcOrd="11" destOrd="0" presId="urn:microsoft.com/office/officeart/2005/8/layout/radial6"/>
    <dgm:cxn modelId="{636C05AC-A47E-46D4-9B93-E7FAE162D5B7}" type="presParOf" srcId="{A59B4577-2145-4261-8CD9-9D81068B8171}" destId="{F08AC3A6-1212-4B52-A349-FDEA8E17E955}"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BEBAB-7A8F-4ADC-9FD7-A78152350735}" type="datetimeFigureOut">
              <a:rPr lang="en-US" smtClean="0"/>
              <a:t>10/2/2015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34F281-750D-44DF-8ACB-90F875C5A168}" type="slidenum">
              <a:rPr lang="en-US" smtClean="0"/>
              <a:t>‹#›</a:t>
            </a:fld>
            <a:endParaRPr lang="en-US"/>
          </a:p>
        </p:txBody>
      </p:sp>
    </p:spTree>
    <p:extLst>
      <p:ext uri="{BB962C8B-B14F-4D97-AF65-F5344CB8AC3E}">
        <p14:creationId xmlns:p14="http://schemas.microsoft.com/office/powerpoint/2010/main" val="562122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1026"/>
          <p:cNvSpPr>
            <a:spLocks noGrp="1" noRot="1" noChangeAspect="1" noChangeArrowheads="1" noTextEdit="1"/>
          </p:cNvSpPr>
          <p:nvPr>
            <p:ph type="sldImg"/>
          </p:nvPr>
        </p:nvSpPr>
        <p:spPr>
          <a:ln/>
        </p:spPr>
      </p:sp>
      <p:sp>
        <p:nvSpPr>
          <p:cNvPr id="120835"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43364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p:txBody>
          <a:bodyPr/>
          <a:lstStyle/>
          <a:p>
            <a:r>
              <a:rPr lang="en-US"/>
              <a:t> </a:t>
            </a:r>
          </a:p>
        </p:txBody>
      </p:sp>
      <p:sp>
        <p:nvSpPr>
          <p:cNvPr id="78852" name="Rectangle 4"/>
          <p:cNvSpPr>
            <a:spLocks noChangeArrowheads="1"/>
          </p:cNvSpPr>
          <p:nvPr/>
        </p:nvSpPr>
        <p:spPr bwMode="auto">
          <a:xfrm>
            <a:off x="1081088" y="4541838"/>
            <a:ext cx="5097462" cy="415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92" tIns="44943" rIns="91492" bIns="44943"/>
          <a:lstStyle>
            <a:lvl1pPr defTabSz="923925">
              <a:lnSpc>
                <a:spcPct val="90000"/>
              </a:lnSpc>
              <a:spcBef>
                <a:spcPct val="40000"/>
              </a:spcBef>
              <a:defRPr sz="1200">
                <a:solidFill>
                  <a:schemeClr val="tx1"/>
                </a:solidFill>
                <a:latin typeface="Arial" panose="020B0604020202020204" pitchFamily="34" charset="0"/>
              </a:defRPr>
            </a:lvl1pPr>
            <a:lvl2pPr marL="461963" defTabSz="923925">
              <a:lnSpc>
                <a:spcPct val="90000"/>
              </a:lnSpc>
              <a:spcBef>
                <a:spcPct val="40000"/>
              </a:spcBef>
              <a:defRPr sz="1200">
                <a:solidFill>
                  <a:schemeClr val="tx1"/>
                </a:solidFill>
                <a:latin typeface="Arial" panose="020B0604020202020204" pitchFamily="34" charset="0"/>
              </a:defRPr>
            </a:lvl2pPr>
            <a:lvl3pPr marL="923925" defTabSz="923925">
              <a:lnSpc>
                <a:spcPct val="90000"/>
              </a:lnSpc>
              <a:spcBef>
                <a:spcPct val="40000"/>
              </a:spcBef>
              <a:defRPr sz="1200">
                <a:solidFill>
                  <a:schemeClr val="tx1"/>
                </a:solidFill>
                <a:latin typeface="Arial" panose="020B0604020202020204" pitchFamily="34" charset="0"/>
              </a:defRPr>
            </a:lvl3pPr>
            <a:lvl4pPr marL="1387475" defTabSz="923925">
              <a:lnSpc>
                <a:spcPct val="90000"/>
              </a:lnSpc>
              <a:spcBef>
                <a:spcPct val="40000"/>
              </a:spcBef>
              <a:defRPr sz="1200">
                <a:solidFill>
                  <a:schemeClr val="tx1"/>
                </a:solidFill>
                <a:latin typeface="Arial" panose="020B0604020202020204" pitchFamily="34" charset="0"/>
              </a:defRPr>
            </a:lvl4pPr>
            <a:lvl5pPr marL="1849438" defTabSz="923925">
              <a:lnSpc>
                <a:spcPct val="90000"/>
              </a:lnSpc>
              <a:spcBef>
                <a:spcPct val="40000"/>
              </a:spcBef>
              <a:defRPr sz="1200">
                <a:solidFill>
                  <a:schemeClr val="tx1"/>
                </a:solidFill>
                <a:latin typeface="Arial" panose="020B0604020202020204" pitchFamily="34" charset="0"/>
              </a:defRPr>
            </a:lvl5pPr>
            <a:lvl6pPr marL="2306638" defTabSz="923925" eaLnBrk="0" fontAlgn="base" hangingPunct="0">
              <a:lnSpc>
                <a:spcPct val="90000"/>
              </a:lnSpc>
              <a:spcBef>
                <a:spcPct val="40000"/>
              </a:spcBef>
              <a:spcAft>
                <a:spcPct val="0"/>
              </a:spcAft>
              <a:defRPr sz="1200">
                <a:solidFill>
                  <a:schemeClr val="tx1"/>
                </a:solidFill>
                <a:latin typeface="Arial" panose="020B0604020202020204" pitchFamily="34" charset="0"/>
              </a:defRPr>
            </a:lvl6pPr>
            <a:lvl7pPr marL="2763838" defTabSz="923925" eaLnBrk="0" fontAlgn="base" hangingPunct="0">
              <a:lnSpc>
                <a:spcPct val="90000"/>
              </a:lnSpc>
              <a:spcBef>
                <a:spcPct val="40000"/>
              </a:spcBef>
              <a:spcAft>
                <a:spcPct val="0"/>
              </a:spcAft>
              <a:defRPr sz="1200">
                <a:solidFill>
                  <a:schemeClr val="tx1"/>
                </a:solidFill>
                <a:latin typeface="Arial" panose="020B0604020202020204" pitchFamily="34" charset="0"/>
              </a:defRPr>
            </a:lvl7pPr>
            <a:lvl8pPr marL="3221038" defTabSz="923925" eaLnBrk="0" fontAlgn="base" hangingPunct="0">
              <a:lnSpc>
                <a:spcPct val="90000"/>
              </a:lnSpc>
              <a:spcBef>
                <a:spcPct val="40000"/>
              </a:spcBef>
              <a:spcAft>
                <a:spcPct val="0"/>
              </a:spcAft>
              <a:defRPr sz="1200">
                <a:solidFill>
                  <a:schemeClr val="tx1"/>
                </a:solidFill>
                <a:latin typeface="Arial" panose="020B0604020202020204" pitchFamily="34" charset="0"/>
              </a:defRPr>
            </a:lvl8pPr>
            <a:lvl9pPr marL="3678238" defTabSz="923925" eaLnBrk="0" fontAlgn="base" hangingPunct="0">
              <a:lnSpc>
                <a:spcPct val="90000"/>
              </a:lnSpc>
              <a:spcBef>
                <a:spcPct val="40000"/>
              </a:spcBef>
              <a:spcAft>
                <a:spcPct val="0"/>
              </a:spcAft>
              <a:defRPr sz="1200">
                <a:solidFill>
                  <a:schemeClr val="tx1"/>
                </a:solidFill>
                <a:latin typeface="Arial" panose="020B0604020202020204" pitchFamily="34" charset="0"/>
              </a:defRPr>
            </a:lvl9pPr>
          </a:lstStyle>
          <a:p>
            <a:endParaRPr lang="en-US"/>
          </a:p>
        </p:txBody>
      </p:sp>
      <p:sp>
        <p:nvSpPr>
          <p:cNvPr id="78853" name="Rectangle 5"/>
          <p:cNvSpPr>
            <a:spLocks noChangeArrowheads="1"/>
          </p:cNvSpPr>
          <p:nvPr/>
        </p:nvSpPr>
        <p:spPr bwMode="auto">
          <a:xfrm>
            <a:off x="985838" y="4432300"/>
            <a:ext cx="5097462" cy="415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92" tIns="44943" rIns="91492" bIns="44943"/>
          <a:lstStyle>
            <a:lvl1pPr>
              <a:lnSpc>
                <a:spcPct val="90000"/>
              </a:lnSpc>
              <a:spcBef>
                <a:spcPct val="40000"/>
              </a:spcBef>
              <a:defRPr sz="1200">
                <a:solidFill>
                  <a:schemeClr val="tx1"/>
                </a:solidFill>
                <a:latin typeface="Arial" panose="020B0604020202020204" pitchFamily="34" charset="0"/>
              </a:defRPr>
            </a:lvl1pPr>
            <a:lvl2pPr>
              <a:lnSpc>
                <a:spcPct val="90000"/>
              </a:lnSpc>
              <a:spcBef>
                <a:spcPct val="40000"/>
              </a:spcBef>
              <a:defRPr sz="1200">
                <a:solidFill>
                  <a:schemeClr val="tx1"/>
                </a:solidFill>
                <a:latin typeface="Arial" panose="020B0604020202020204" pitchFamily="34" charset="0"/>
              </a:defRPr>
            </a:lvl2pPr>
            <a:lvl3pPr>
              <a:lnSpc>
                <a:spcPct val="90000"/>
              </a:lnSpc>
              <a:spcBef>
                <a:spcPct val="40000"/>
              </a:spcBef>
              <a:defRPr sz="1200">
                <a:solidFill>
                  <a:schemeClr val="tx1"/>
                </a:solidFill>
                <a:latin typeface="Arial" panose="020B0604020202020204" pitchFamily="34" charset="0"/>
              </a:defRPr>
            </a:lvl3pPr>
            <a:lvl4pPr>
              <a:lnSpc>
                <a:spcPct val="90000"/>
              </a:lnSpc>
              <a:spcBef>
                <a:spcPct val="40000"/>
              </a:spcBef>
              <a:defRPr sz="1200">
                <a:solidFill>
                  <a:schemeClr val="tx1"/>
                </a:solidFill>
                <a:latin typeface="Arial" panose="020B0604020202020204" pitchFamily="34" charset="0"/>
              </a:defRPr>
            </a:lvl4pPr>
            <a:lvl5pPr>
              <a:lnSpc>
                <a:spcPct val="90000"/>
              </a:lnSpc>
              <a:spcBef>
                <a:spcPct val="40000"/>
              </a:spcBef>
              <a:defRPr sz="1200">
                <a:solidFill>
                  <a:schemeClr val="tx1"/>
                </a:solidFill>
                <a:latin typeface="Arial" panose="020B0604020202020204" pitchFamily="34" charset="0"/>
              </a:defRPr>
            </a:lvl5pPr>
            <a:lvl6pPr eaLnBrk="0" fontAlgn="base" hangingPunct="0">
              <a:lnSpc>
                <a:spcPct val="90000"/>
              </a:lnSpc>
              <a:spcBef>
                <a:spcPct val="40000"/>
              </a:spcBef>
              <a:spcAft>
                <a:spcPct val="0"/>
              </a:spcAft>
              <a:defRPr sz="1200">
                <a:solidFill>
                  <a:schemeClr val="tx1"/>
                </a:solidFill>
                <a:latin typeface="Arial" panose="020B0604020202020204" pitchFamily="34" charset="0"/>
              </a:defRPr>
            </a:lvl6pPr>
            <a:lvl7pPr eaLnBrk="0" fontAlgn="base" hangingPunct="0">
              <a:lnSpc>
                <a:spcPct val="90000"/>
              </a:lnSpc>
              <a:spcBef>
                <a:spcPct val="40000"/>
              </a:spcBef>
              <a:spcAft>
                <a:spcPct val="0"/>
              </a:spcAft>
              <a:defRPr sz="1200">
                <a:solidFill>
                  <a:schemeClr val="tx1"/>
                </a:solidFill>
                <a:latin typeface="Arial" panose="020B0604020202020204" pitchFamily="34" charset="0"/>
              </a:defRPr>
            </a:lvl7pPr>
            <a:lvl8pPr eaLnBrk="0" fontAlgn="base" hangingPunct="0">
              <a:lnSpc>
                <a:spcPct val="90000"/>
              </a:lnSpc>
              <a:spcBef>
                <a:spcPct val="40000"/>
              </a:spcBef>
              <a:spcAft>
                <a:spcPct val="0"/>
              </a:spcAft>
              <a:defRPr sz="1200">
                <a:solidFill>
                  <a:schemeClr val="tx1"/>
                </a:solidFill>
                <a:latin typeface="Arial" panose="020B0604020202020204" pitchFamily="34" charset="0"/>
              </a:defRPr>
            </a:lvl8pPr>
            <a:lvl9pPr eaLnBrk="0" fontAlgn="base" hangingPunct="0">
              <a:lnSpc>
                <a:spcPct val="90000"/>
              </a:lnSpc>
              <a:spcBef>
                <a:spcPct val="40000"/>
              </a:spcBef>
              <a:spcAft>
                <a:spcPct val="0"/>
              </a:spcAft>
              <a:defRPr sz="1200">
                <a:solidFill>
                  <a:schemeClr val="tx1"/>
                </a:solidFill>
                <a:latin typeface="Arial" panose="020B0604020202020204" pitchFamily="34" charset="0"/>
              </a:defRPr>
            </a:lvl9pPr>
          </a:lstStyle>
          <a:p>
            <a:r>
              <a:rPr lang="en-US"/>
              <a:t>This slide gives a simple illustration of how we extract information.  A very basic example of an information system is a telephone book.  It stores data, but if we pose a question such as “What is John Doe’s phone number?” we can find the answer.  However, this information system is limited because if we pose a different question such as “Whose phone number is 555-5555?”, we can not easily obtain the answer.  </a:t>
            </a:r>
          </a:p>
          <a:p>
            <a:endParaRPr lang="en-US"/>
          </a:p>
        </p:txBody>
      </p:sp>
    </p:spTree>
    <p:extLst>
      <p:ext uri="{BB962C8B-B14F-4D97-AF65-F5344CB8AC3E}">
        <p14:creationId xmlns:p14="http://schemas.microsoft.com/office/powerpoint/2010/main" val="2234291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We need symbolize spatial features in order to be able to associate attribute information.</a:t>
            </a:r>
          </a:p>
          <a:p>
            <a:r>
              <a:rPr lang="en-US" sz="1200" dirty="0" smtClean="0"/>
              <a:t>We can classify different features into different dimensions.  Each classification of dimension is a conceptual classification. </a:t>
            </a:r>
          </a:p>
          <a:p>
            <a:endParaRPr lang="en-US" sz="1200" dirty="0" smtClean="0"/>
          </a:p>
          <a:p>
            <a:r>
              <a:rPr lang="en-US" sz="1200" b="1" dirty="0" smtClean="0"/>
              <a:t>Points</a:t>
            </a:r>
            <a:r>
              <a:rPr lang="en-US" sz="1200" dirty="0" smtClean="0"/>
              <a:t> - “0” dimensionality.  No length or Width.</a:t>
            </a:r>
          </a:p>
          <a:p>
            <a:r>
              <a:rPr lang="en-US" sz="1200" dirty="0" smtClean="0"/>
              <a:t>Each point is </a:t>
            </a:r>
            <a:r>
              <a:rPr lang="en-US" sz="1200" b="1" dirty="0" smtClean="0"/>
              <a:t>Discrete</a:t>
            </a:r>
            <a:r>
              <a:rPr lang="en-US" sz="1200" dirty="0" smtClean="0"/>
              <a:t> in that it can only occupy a given point in space at any given time.</a:t>
            </a:r>
          </a:p>
          <a:p>
            <a:endParaRPr lang="en-US" sz="1200" dirty="0" smtClean="0"/>
          </a:p>
          <a:p>
            <a:r>
              <a:rPr lang="en-US" sz="1200" b="1" dirty="0" smtClean="0"/>
              <a:t>Lines</a:t>
            </a:r>
            <a:r>
              <a:rPr lang="en-US" sz="1200" dirty="0" smtClean="0"/>
              <a:t> - “1” dimensional.  Length, but No Width.</a:t>
            </a:r>
          </a:p>
          <a:p>
            <a:r>
              <a:rPr lang="en-US" sz="1200" dirty="0" smtClean="0"/>
              <a:t>Must have a beginning and an ending point.</a:t>
            </a:r>
          </a:p>
          <a:p>
            <a:endParaRPr lang="en-US" sz="1200" dirty="0" smtClean="0"/>
          </a:p>
          <a:p>
            <a:r>
              <a:rPr lang="en-US" sz="1200" b="1" dirty="0" smtClean="0"/>
              <a:t>Polygons</a:t>
            </a:r>
            <a:r>
              <a:rPr lang="en-US" sz="1200" dirty="0" smtClean="0"/>
              <a:t> - “2” dimensional.  Length and Width.</a:t>
            </a:r>
          </a:p>
          <a:p>
            <a:r>
              <a:rPr lang="en-US" sz="1200" dirty="0" smtClean="0"/>
              <a:t>By adding Width, we can describe a feature as having an area.</a:t>
            </a:r>
            <a:br>
              <a:rPr lang="en-US" sz="1200" dirty="0" smtClean="0"/>
            </a:br>
            <a:endParaRPr lang="en-US" sz="1200" dirty="0" smtClean="0"/>
          </a:p>
          <a:p>
            <a:endParaRPr lang="en-US" sz="1200" dirty="0" smtClean="0"/>
          </a:p>
          <a:p>
            <a:r>
              <a:rPr lang="en-US" sz="1200" b="1" dirty="0" smtClean="0"/>
              <a:t>Surfaces</a:t>
            </a:r>
            <a:r>
              <a:rPr lang="en-US" sz="1200" dirty="0" smtClean="0"/>
              <a:t> - “3” dimensional. Length, Width, and Height.</a:t>
            </a:r>
          </a:p>
          <a:p>
            <a:r>
              <a:rPr lang="en-US" sz="1200" dirty="0" smtClean="0"/>
              <a:t>Surfaces have infinite number of values (e.g. Elevation).  We say that this type of data is </a:t>
            </a:r>
            <a:r>
              <a:rPr lang="en-US" sz="1200" b="1" dirty="0" smtClean="0"/>
              <a:t>Continuous</a:t>
            </a:r>
            <a:r>
              <a:rPr lang="en-US" sz="1200" dirty="0" smtClean="0"/>
              <a:t>.</a:t>
            </a:r>
          </a:p>
          <a:p>
            <a:endParaRPr lang="en-US" sz="1200" dirty="0" smtClean="0"/>
          </a:p>
          <a:p>
            <a:r>
              <a:rPr lang="en-US" sz="1200" dirty="0" smtClean="0"/>
              <a:t>When thinking of spatial elements, we must consider </a:t>
            </a:r>
            <a:r>
              <a:rPr lang="en-US" sz="1200" b="1" dirty="0" smtClean="0"/>
              <a:t>Spatial Scale</a:t>
            </a:r>
            <a:r>
              <a:rPr lang="en-US" sz="1200" dirty="0" smtClean="0"/>
              <a:t>.  Depending on scale, we may want to represent a river as a line or a polygon.  </a:t>
            </a:r>
          </a:p>
          <a:p>
            <a:endParaRPr lang="en-US" dirty="0"/>
          </a:p>
        </p:txBody>
      </p:sp>
      <p:sp>
        <p:nvSpPr>
          <p:cNvPr id="4" name="Slide Number Placeholder 3"/>
          <p:cNvSpPr>
            <a:spLocks noGrp="1"/>
          </p:cNvSpPr>
          <p:nvPr>
            <p:ph type="sldNum" sz="quarter" idx="10"/>
          </p:nvPr>
        </p:nvSpPr>
        <p:spPr/>
        <p:txBody>
          <a:bodyPr/>
          <a:lstStyle/>
          <a:p>
            <a:fld id="{B934F281-750D-44DF-8ACB-90F875C5A168}" type="slidenum">
              <a:rPr lang="en-US" smtClean="0"/>
              <a:t>13</a:t>
            </a:fld>
            <a:endParaRPr lang="en-US"/>
          </a:p>
        </p:txBody>
      </p:sp>
    </p:spTree>
    <p:extLst>
      <p:ext uri="{BB962C8B-B14F-4D97-AF65-F5344CB8AC3E}">
        <p14:creationId xmlns:p14="http://schemas.microsoft.com/office/powerpoint/2010/main" val="120618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body" idx="1"/>
          </p:nvPr>
        </p:nvSpPr>
        <p:spPr>
          <a:noFill/>
          <a:ln/>
        </p:spPr>
        <p:txBody>
          <a:bodyPr/>
          <a:lstStyle/>
          <a:p>
            <a:r>
              <a:rPr lang="en-US" b="1" u="sng" dirty="0"/>
              <a:t>GIS PROCESS:</a:t>
            </a:r>
          </a:p>
          <a:p>
            <a:endParaRPr lang="en-US" u="sng" dirty="0"/>
          </a:p>
          <a:p>
            <a:r>
              <a:rPr lang="en-US" dirty="0"/>
              <a:t>	The GIS process involves six steps that are common to what we refer to as the end to end map-making process.</a:t>
            </a:r>
          </a:p>
          <a:p>
            <a:endParaRPr lang="en-US" dirty="0"/>
          </a:p>
          <a:p>
            <a:r>
              <a:rPr lang="en-US" dirty="0"/>
              <a:t>	1.   Define the spatial problem/question.   </a:t>
            </a:r>
          </a:p>
          <a:p>
            <a:pPr lvl="2"/>
            <a:r>
              <a:rPr lang="en-US" dirty="0"/>
              <a:t>.Define the GIS criteria.</a:t>
            </a:r>
          </a:p>
          <a:p>
            <a:pPr lvl="2"/>
            <a:r>
              <a:rPr lang="en-US" dirty="0"/>
              <a:t>.Import or create the data sets</a:t>
            </a:r>
          </a:p>
          <a:p>
            <a:pPr lvl="2"/>
            <a:r>
              <a:rPr lang="en-US" dirty="0"/>
              <a:t>.Perform the GIS analysis</a:t>
            </a:r>
          </a:p>
          <a:p>
            <a:pPr lvl="2"/>
            <a:r>
              <a:rPr lang="en-US" dirty="0"/>
              <a:t>.Create the output</a:t>
            </a:r>
          </a:p>
          <a:p>
            <a:pPr lvl="2"/>
            <a:r>
              <a:rPr lang="en-US" dirty="0"/>
              <a:t>.Decide whether or not the output solves or answers the spatial problem/question.  If not, then refine the problem and start the process again. </a:t>
            </a:r>
          </a:p>
          <a:p>
            <a:endParaRPr lang="en-US" dirty="0"/>
          </a:p>
          <a:p>
            <a:endParaRPr lang="en-US" dirty="0"/>
          </a:p>
        </p:txBody>
      </p:sp>
      <p:sp>
        <p:nvSpPr>
          <p:cNvPr id="2150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446792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These</a:t>
            </a:r>
            <a:r>
              <a:rPr lang="en-US" baseline="0" dirty="0" smtClean="0"/>
              <a:t> components are integrated into GIS in order to answer the questions, make decisions and provide tools to create, share and use GI.</a:t>
            </a:r>
            <a:endParaRPr lang="en-US" dirty="0"/>
          </a:p>
        </p:txBody>
      </p:sp>
      <p:sp>
        <p:nvSpPr>
          <p:cNvPr id="4" name="Slide Number Placeholder 3"/>
          <p:cNvSpPr>
            <a:spLocks noGrp="1"/>
          </p:cNvSpPr>
          <p:nvPr>
            <p:ph type="sldNum" sz="quarter" idx="10"/>
          </p:nvPr>
        </p:nvSpPr>
        <p:spPr/>
        <p:txBody>
          <a:bodyPr/>
          <a:lstStyle/>
          <a:p>
            <a:fld id="{B934F281-750D-44DF-8ACB-90F875C5A168}" type="slidenum">
              <a:rPr lang="en-US" smtClean="0"/>
              <a:t>21</a:t>
            </a:fld>
            <a:endParaRPr lang="en-US"/>
          </a:p>
        </p:txBody>
      </p:sp>
    </p:spTree>
    <p:extLst>
      <p:ext uri="{BB962C8B-B14F-4D97-AF65-F5344CB8AC3E}">
        <p14:creationId xmlns:p14="http://schemas.microsoft.com/office/powerpoint/2010/main" val="4266528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As previously discussed, a GIS uses geographic information to answer questions and make decisions. In order to analyze and assess the information, it needs to be presented in a format that others can understand. One of the most common GIS formats is a GIS map. It can :</a:t>
            </a:r>
            <a:endParaRPr lang="en-US" dirty="0"/>
          </a:p>
        </p:txBody>
      </p:sp>
      <p:sp>
        <p:nvSpPr>
          <p:cNvPr id="4" name="Slide Number Placeholder 3"/>
          <p:cNvSpPr>
            <a:spLocks noGrp="1"/>
          </p:cNvSpPr>
          <p:nvPr>
            <p:ph type="sldNum" sz="quarter" idx="10"/>
          </p:nvPr>
        </p:nvSpPr>
        <p:spPr/>
        <p:txBody>
          <a:bodyPr/>
          <a:lstStyle/>
          <a:p>
            <a:fld id="{B934F281-750D-44DF-8ACB-90F875C5A168}" type="slidenum">
              <a:rPr lang="en-US" smtClean="0"/>
              <a:t>27</a:t>
            </a:fld>
            <a:endParaRPr lang="en-US"/>
          </a:p>
        </p:txBody>
      </p:sp>
    </p:spTree>
    <p:extLst>
      <p:ext uri="{BB962C8B-B14F-4D97-AF65-F5344CB8AC3E}">
        <p14:creationId xmlns:p14="http://schemas.microsoft.com/office/powerpoint/2010/main" val="2121383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As previously discussed, a GIS uses geographic information to answer questions and make decisions. In order to analyze and assess the information, it needs to be presented in a format that others can understand. One of the most common GIS formats is a GIS map.</a:t>
            </a:r>
            <a:endParaRPr lang="en-US" dirty="0"/>
          </a:p>
        </p:txBody>
      </p:sp>
      <p:sp>
        <p:nvSpPr>
          <p:cNvPr id="4" name="Slide Number Placeholder 3"/>
          <p:cNvSpPr>
            <a:spLocks noGrp="1"/>
          </p:cNvSpPr>
          <p:nvPr>
            <p:ph type="sldNum" sz="quarter" idx="10"/>
          </p:nvPr>
        </p:nvSpPr>
        <p:spPr/>
        <p:txBody>
          <a:bodyPr/>
          <a:lstStyle/>
          <a:p>
            <a:fld id="{B934F281-750D-44DF-8ACB-90F875C5A168}" type="slidenum">
              <a:rPr lang="en-US" smtClean="0"/>
              <a:t>28</a:t>
            </a:fld>
            <a:endParaRPr lang="en-US"/>
          </a:p>
        </p:txBody>
      </p:sp>
    </p:spTree>
    <p:extLst>
      <p:ext uri="{BB962C8B-B14F-4D97-AF65-F5344CB8AC3E}">
        <p14:creationId xmlns:p14="http://schemas.microsoft.com/office/powerpoint/2010/main" val="1461633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As previously discussed, a GIS uses geographic information to answer questions and make decisions. In order to analyze and assess the information, it needs to be presented in a format that others can understand. One of the most common GIS formats is a GIS map.</a:t>
            </a:r>
            <a:endParaRPr lang="en-US" dirty="0"/>
          </a:p>
        </p:txBody>
      </p:sp>
      <p:sp>
        <p:nvSpPr>
          <p:cNvPr id="4" name="Slide Number Placeholder 3"/>
          <p:cNvSpPr>
            <a:spLocks noGrp="1"/>
          </p:cNvSpPr>
          <p:nvPr>
            <p:ph type="sldNum" sz="quarter" idx="10"/>
          </p:nvPr>
        </p:nvSpPr>
        <p:spPr/>
        <p:txBody>
          <a:bodyPr/>
          <a:lstStyle/>
          <a:p>
            <a:fld id="{B934F281-750D-44DF-8ACB-90F875C5A168}" type="slidenum">
              <a:rPr lang="en-US" smtClean="0"/>
              <a:t>29</a:t>
            </a:fld>
            <a:endParaRPr lang="en-US"/>
          </a:p>
        </p:txBody>
      </p:sp>
    </p:spTree>
    <p:extLst>
      <p:ext uri="{BB962C8B-B14F-4D97-AF65-F5344CB8AC3E}">
        <p14:creationId xmlns:p14="http://schemas.microsoft.com/office/powerpoint/2010/main" val="38820177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As previously discussed, a GIS uses geographic information to answer questions and make decisions. In order to analyze and assess the information, it needs to be presented in a format that others can understand. One of the most common GIS formats is a GIS map.</a:t>
            </a:r>
            <a:endParaRPr lang="en-US" dirty="0"/>
          </a:p>
        </p:txBody>
      </p:sp>
      <p:sp>
        <p:nvSpPr>
          <p:cNvPr id="4" name="Slide Number Placeholder 3"/>
          <p:cNvSpPr>
            <a:spLocks noGrp="1"/>
          </p:cNvSpPr>
          <p:nvPr>
            <p:ph type="sldNum" sz="quarter" idx="10"/>
          </p:nvPr>
        </p:nvSpPr>
        <p:spPr/>
        <p:txBody>
          <a:bodyPr/>
          <a:lstStyle/>
          <a:p>
            <a:fld id="{B934F281-750D-44DF-8ACB-90F875C5A168}" type="slidenum">
              <a:rPr lang="en-US" smtClean="0"/>
              <a:t>30</a:t>
            </a:fld>
            <a:endParaRPr lang="en-US"/>
          </a:p>
        </p:txBody>
      </p:sp>
    </p:spTree>
    <p:extLst>
      <p:ext uri="{BB962C8B-B14F-4D97-AF65-F5344CB8AC3E}">
        <p14:creationId xmlns:p14="http://schemas.microsoft.com/office/powerpoint/2010/main" val="3292931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As previously discussed, a GIS uses geographic information to answer questions and make decisions. In order to analyze and assess the information, it needs to be presented in a format that others can understand. One of the most common GIS formats is a GIS map.</a:t>
            </a:r>
            <a:endParaRPr lang="en-US" dirty="0"/>
          </a:p>
        </p:txBody>
      </p:sp>
      <p:sp>
        <p:nvSpPr>
          <p:cNvPr id="4" name="Slide Number Placeholder 3"/>
          <p:cNvSpPr>
            <a:spLocks noGrp="1"/>
          </p:cNvSpPr>
          <p:nvPr>
            <p:ph type="sldNum" sz="quarter" idx="10"/>
          </p:nvPr>
        </p:nvSpPr>
        <p:spPr/>
        <p:txBody>
          <a:bodyPr/>
          <a:lstStyle/>
          <a:p>
            <a:fld id="{B934F281-750D-44DF-8ACB-90F875C5A168}" type="slidenum">
              <a:rPr lang="en-US" smtClean="0"/>
              <a:t>31</a:t>
            </a:fld>
            <a:endParaRPr lang="en-US"/>
          </a:p>
        </p:txBody>
      </p:sp>
    </p:spTree>
    <p:extLst>
      <p:ext uri="{BB962C8B-B14F-4D97-AF65-F5344CB8AC3E}">
        <p14:creationId xmlns:p14="http://schemas.microsoft.com/office/powerpoint/2010/main" val="23688457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As previously discussed, a GIS uses geographic information to answer questions and make decisions. In order to analyze and assess the information, it needs to be presented in a format that others can understand. One of the most common GIS formats is a GIS map.</a:t>
            </a:r>
            <a:endParaRPr lang="en-US" dirty="0"/>
          </a:p>
        </p:txBody>
      </p:sp>
      <p:sp>
        <p:nvSpPr>
          <p:cNvPr id="4" name="Slide Number Placeholder 3"/>
          <p:cNvSpPr>
            <a:spLocks noGrp="1"/>
          </p:cNvSpPr>
          <p:nvPr>
            <p:ph type="sldNum" sz="quarter" idx="10"/>
          </p:nvPr>
        </p:nvSpPr>
        <p:spPr/>
        <p:txBody>
          <a:bodyPr/>
          <a:lstStyle/>
          <a:p>
            <a:fld id="{B934F281-750D-44DF-8ACB-90F875C5A168}" type="slidenum">
              <a:rPr lang="en-US" smtClean="0"/>
              <a:t>32</a:t>
            </a:fld>
            <a:endParaRPr lang="en-US"/>
          </a:p>
        </p:txBody>
      </p:sp>
    </p:spTree>
    <p:extLst>
      <p:ext uri="{BB962C8B-B14F-4D97-AF65-F5344CB8AC3E}">
        <p14:creationId xmlns:p14="http://schemas.microsoft.com/office/powerpoint/2010/main" val="811246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Rot="1" noChangeAspect="1" noChangeArrowheads="1" noTextEdit="1"/>
          </p:cNvSpPr>
          <p:nvPr>
            <p:ph type="sldImg"/>
          </p:nvPr>
        </p:nvSpPr>
        <p:spPr>
          <a:ln/>
        </p:spPr>
      </p:sp>
      <p:sp>
        <p:nvSpPr>
          <p:cNvPr id="216067" name="Rectangle 3"/>
          <p:cNvSpPr>
            <a:spLocks noGrp="1" noChangeArrowheads="1"/>
          </p:cNvSpPr>
          <p:nvPr>
            <p:ph type="body" idx="1"/>
          </p:nvPr>
        </p:nvSpPr>
        <p:spPr/>
        <p:txBody>
          <a:bodyPr/>
          <a:lstStyle/>
          <a:p>
            <a:r>
              <a:rPr lang="en-US"/>
              <a:t>CCM (Cross Country Movement) Analysis allows the user to model the cost (e.g. time)  it would take for a give object to travel from point A to Point B given the difficulty of the terrain.</a:t>
            </a:r>
          </a:p>
          <a:p>
            <a:endParaRPr lang="en-US"/>
          </a:p>
          <a:p>
            <a:r>
              <a:rPr lang="en-US"/>
              <a:t>For example, if a tank had to travel from point A to point B and you new how fast it could travel on certain road types, soil types, and slopes, you could model the travel cost.  </a:t>
            </a:r>
          </a:p>
        </p:txBody>
      </p:sp>
    </p:spTree>
    <p:extLst>
      <p:ext uri="{BB962C8B-B14F-4D97-AF65-F5344CB8AC3E}">
        <p14:creationId xmlns:p14="http://schemas.microsoft.com/office/powerpoint/2010/main" val="26268956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Rot="1" noChangeAspect="1" noChangeArrowheads="1" noTextEdit="1"/>
          </p:cNvSpPr>
          <p:nvPr>
            <p:ph type="sldImg"/>
          </p:nvPr>
        </p:nvSpPr>
        <p:spPr>
          <a:ln/>
        </p:spPr>
      </p:sp>
      <p:sp>
        <p:nvSpPr>
          <p:cNvPr id="221187" name="Rectangle 3"/>
          <p:cNvSpPr>
            <a:spLocks noGrp="1" noChangeArrowheads="1"/>
          </p:cNvSpPr>
          <p:nvPr>
            <p:ph type="body" idx="1"/>
          </p:nvPr>
        </p:nvSpPr>
        <p:spPr/>
        <p:txBody>
          <a:bodyPr/>
          <a:lstStyle/>
          <a:p>
            <a:r>
              <a:rPr lang="en-US"/>
              <a:t>This slide shows a CCM analysis along with a viewshed analysis.  The viewshed analysis is used to illustrate what a person can or can not see from a certain point.  The two areas denoted by the purple and turquoise angles illustrate two separate viewsheds.  The region of overlap shows the area that can be see by both observers from their respective positions.</a:t>
            </a:r>
          </a:p>
        </p:txBody>
      </p:sp>
    </p:spTree>
    <p:extLst>
      <p:ext uri="{BB962C8B-B14F-4D97-AF65-F5344CB8AC3E}">
        <p14:creationId xmlns:p14="http://schemas.microsoft.com/office/powerpoint/2010/main" val="30266254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Rot="1" noChangeAspect="1" noChangeArrowheads="1" noTextEdit="1"/>
          </p:cNvSpPr>
          <p:nvPr>
            <p:ph type="sldImg"/>
          </p:nvPr>
        </p:nvSpPr>
        <p:spPr>
          <a:ln/>
        </p:spPr>
      </p:sp>
      <p:sp>
        <p:nvSpPr>
          <p:cNvPr id="217091" name="Rectangle 3"/>
          <p:cNvSpPr>
            <a:spLocks noGrp="1" noChangeArrowheads="1"/>
          </p:cNvSpPr>
          <p:nvPr>
            <p:ph type="body" idx="1"/>
          </p:nvPr>
        </p:nvSpPr>
        <p:spPr/>
        <p:txBody>
          <a:bodyPr/>
          <a:lstStyle/>
          <a:p>
            <a:r>
              <a:rPr lang="en-US"/>
              <a:t>Facilities Management encompasses a wide range of applications.  The examples shown above are:</a:t>
            </a:r>
          </a:p>
          <a:p>
            <a:endParaRPr lang="en-US"/>
          </a:p>
          <a:p>
            <a:r>
              <a:rPr lang="en-US"/>
              <a:t>1.  Housing Assessments</a:t>
            </a:r>
          </a:p>
          <a:p>
            <a:r>
              <a:rPr lang="en-US"/>
              <a:t>2.  Power Line Maintenance and Tracking</a:t>
            </a:r>
          </a:p>
          <a:p>
            <a:r>
              <a:rPr lang="en-US"/>
              <a:t>3.  Crime around Schools</a:t>
            </a:r>
          </a:p>
          <a:p>
            <a:r>
              <a:rPr lang="en-US"/>
              <a:t>4.  Water lines/pipes Maintenance and Tracking</a:t>
            </a:r>
          </a:p>
          <a:p>
            <a:endParaRPr lang="en-US"/>
          </a:p>
        </p:txBody>
      </p:sp>
    </p:spTree>
    <p:extLst>
      <p:ext uri="{BB962C8B-B14F-4D97-AF65-F5344CB8AC3E}">
        <p14:creationId xmlns:p14="http://schemas.microsoft.com/office/powerpoint/2010/main" val="36410427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1026"/>
          <p:cNvSpPr>
            <a:spLocks noGrp="1" noRot="1" noChangeAspect="1" noChangeArrowheads="1" noTextEdit="1"/>
          </p:cNvSpPr>
          <p:nvPr>
            <p:ph type="sldImg"/>
          </p:nvPr>
        </p:nvSpPr>
        <p:spPr>
          <a:ln/>
        </p:spPr>
      </p:sp>
      <p:sp>
        <p:nvSpPr>
          <p:cNvPr id="218115" name="Rectangle 1027"/>
          <p:cNvSpPr>
            <a:spLocks noGrp="1" noChangeArrowheads="1"/>
          </p:cNvSpPr>
          <p:nvPr>
            <p:ph type="body" idx="1"/>
          </p:nvPr>
        </p:nvSpPr>
        <p:spPr/>
        <p:txBody>
          <a:bodyPr/>
          <a:lstStyle/>
          <a:p>
            <a:r>
              <a:rPr lang="en-US"/>
              <a:t>This slide shows information on Airfields along with a picture/movie that has been hot-linked to the feature.</a:t>
            </a:r>
          </a:p>
        </p:txBody>
      </p:sp>
    </p:spTree>
    <p:extLst>
      <p:ext uri="{BB962C8B-B14F-4D97-AF65-F5344CB8AC3E}">
        <p14:creationId xmlns:p14="http://schemas.microsoft.com/office/powerpoint/2010/main" val="1009248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spect="1" noChangeArrowheads="1" noTextEdit="1"/>
          </p:cNvSpPr>
          <p:nvPr>
            <p:ph type="sldImg"/>
          </p:nvPr>
        </p:nvSpPr>
        <p:spPr>
          <a:ln/>
        </p:spPr>
      </p:sp>
      <p:sp>
        <p:nvSpPr>
          <p:cNvPr id="220163" name="Rectangle 3"/>
          <p:cNvSpPr>
            <a:spLocks noGrp="1" noChangeArrowheads="1"/>
          </p:cNvSpPr>
          <p:nvPr>
            <p:ph type="body" idx="1"/>
          </p:nvPr>
        </p:nvSpPr>
        <p:spPr/>
        <p:txBody>
          <a:bodyPr/>
          <a:lstStyle/>
          <a:p>
            <a:r>
              <a:rPr lang="en-US"/>
              <a:t>The slide shows a Network model, which gives the best route given certain criteria.  The green squares denote bridges, which can serve as a limitations within the model.  For example, if a bridge was impassible, we could factor that criteria into our model and the route could be recalculated giving us a different solution.</a:t>
            </a:r>
          </a:p>
        </p:txBody>
      </p:sp>
    </p:spTree>
    <p:extLst>
      <p:ext uri="{BB962C8B-B14F-4D97-AF65-F5344CB8AC3E}">
        <p14:creationId xmlns:p14="http://schemas.microsoft.com/office/powerpoint/2010/main" val="1372172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Rot="1" noChangeAspect="1" noChangeArrowheads="1" noTextEdit="1"/>
          </p:cNvSpPr>
          <p:nvPr>
            <p:ph type="sldImg"/>
          </p:nvPr>
        </p:nvSpPr>
        <p:spPr>
          <a:ln/>
        </p:spPr>
      </p:sp>
      <p:sp>
        <p:nvSpPr>
          <p:cNvPr id="223235" name="Rectangle 3"/>
          <p:cNvSpPr>
            <a:spLocks noGrp="1" noChangeArrowheads="1"/>
          </p:cNvSpPr>
          <p:nvPr>
            <p:ph type="body" idx="1"/>
          </p:nvPr>
        </p:nvSpPr>
        <p:spPr/>
        <p:txBody>
          <a:bodyPr/>
          <a:lstStyle/>
          <a:p>
            <a:r>
              <a:rPr lang="en-US"/>
              <a:t>This slide shows a perspective view.  A LANDSAT image has been draped over DTED and the buildings have been overlaid over the image and “grown” to represent a 3D view.</a:t>
            </a:r>
          </a:p>
        </p:txBody>
      </p:sp>
    </p:spTree>
    <p:extLst>
      <p:ext uri="{BB962C8B-B14F-4D97-AF65-F5344CB8AC3E}">
        <p14:creationId xmlns:p14="http://schemas.microsoft.com/office/powerpoint/2010/main" val="5744529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21DCE1C0-9CC4-437A-AC77-CE0435A4D812}" type="datetimeFigureOut">
              <a:rPr lang="en-US" smtClean="0"/>
              <a:t>10/2/2015</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8744757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1DCE1C0-9CC4-437A-AC77-CE0435A4D812}" type="datetimeFigureOut">
              <a:rPr lang="en-US" smtClean="0"/>
              <a:t>10/2/2015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2938000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1DCE1C0-9CC4-437A-AC77-CE0435A4D812}" type="datetimeFigureOut">
              <a:rPr lang="en-US" smtClean="0"/>
              <a:t>10/2/2015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540013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1DCE1C0-9CC4-437A-AC77-CE0435A4D812}" type="datetimeFigureOut">
              <a:rPr lang="en-US" smtClean="0"/>
              <a:t>10/2/2015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3828440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1DCE1C0-9CC4-437A-AC77-CE0435A4D812}" type="datetimeFigureOut">
              <a:rPr lang="en-US" smtClean="0"/>
              <a:t>10/2/2015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1729355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1DCE1C0-9CC4-437A-AC77-CE0435A4D812}" type="datetimeFigureOut">
              <a:rPr lang="en-US" smtClean="0"/>
              <a:t>10/2/2015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1242958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21DCE1C0-9CC4-437A-AC77-CE0435A4D812}" type="datetimeFigureOut">
              <a:rPr lang="en-US" smtClean="0"/>
              <a:t>10/2/2015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1959309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DCE1C0-9CC4-437A-AC77-CE0435A4D812}" type="datetimeFigureOut">
              <a:rPr lang="en-US" smtClean="0"/>
              <a:t>10/2/2015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1335345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DCE1C0-9CC4-437A-AC77-CE0435A4D812}" type="datetimeFigureOut">
              <a:rPr lang="en-US" smtClean="0"/>
              <a:t>10/2/2015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389958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DCE1C0-9CC4-437A-AC77-CE0435A4D812}" type="datetimeFigureOut">
              <a:rPr lang="en-US" smtClean="0"/>
              <a:t>10/2/2015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3840844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1DCE1C0-9CC4-437A-AC77-CE0435A4D812}" type="datetimeFigureOut">
              <a:rPr lang="en-US" smtClean="0"/>
              <a:t>10/2/2015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10755681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1DCE1C0-9CC4-437A-AC77-CE0435A4D812}" type="datetimeFigureOut">
              <a:rPr lang="en-US" smtClean="0"/>
              <a:t>10/2/2015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30560288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1DCE1C0-9CC4-437A-AC77-CE0435A4D812}" type="datetimeFigureOut">
              <a:rPr lang="en-US" smtClean="0"/>
              <a:t>10/2/2015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1416380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1DCE1C0-9CC4-437A-AC77-CE0435A4D812}" type="datetimeFigureOut">
              <a:rPr lang="en-US" smtClean="0"/>
              <a:t>10/2/2015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1081097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1DCE1C0-9CC4-437A-AC77-CE0435A4D812}" type="datetimeFigureOut">
              <a:rPr lang="en-US" smtClean="0"/>
              <a:t>10/2/2015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4878236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1DCE1C0-9CC4-437A-AC77-CE0435A4D812}" type="datetimeFigureOut">
              <a:rPr lang="en-US" smtClean="0"/>
              <a:t>10/2/2015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0AFD79-2C08-4DD6-B7CF-6EC8A929030C}"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1320303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1DCE1C0-9CC4-437A-AC77-CE0435A4D812}" type="datetimeFigureOut">
              <a:rPr lang="en-US" smtClean="0"/>
              <a:t>10/2/2015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0AFD79-2C08-4DD6-B7CF-6EC8A929030C}" type="slidenum">
              <a:rPr lang="en-US" smtClean="0"/>
              <a:t>‹#›</a:t>
            </a:fld>
            <a:endParaRPr lang="en-US"/>
          </a:p>
        </p:txBody>
      </p:sp>
    </p:spTree>
    <p:extLst>
      <p:ext uri="{BB962C8B-B14F-4D97-AF65-F5344CB8AC3E}">
        <p14:creationId xmlns:p14="http://schemas.microsoft.com/office/powerpoint/2010/main" val="3749116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1DCE1C0-9CC4-437A-AC77-CE0435A4D812}" type="datetimeFigureOut">
              <a:rPr lang="en-US" smtClean="0"/>
              <a:t>10/2/2015</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10AFD79-2C08-4DD6-B7CF-6EC8A929030C}" type="slidenum">
              <a:rPr lang="en-US" smtClean="0"/>
              <a:t>‹#›</a:t>
            </a:fld>
            <a:endParaRPr lang="en-US"/>
          </a:p>
        </p:txBody>
      </p:sp>
    </p:spTree>
    <p:extLst>
      <p:ext uri="{BB962C8B-B14F-4D97-AF65-F5344CB8AC3E}">
        <p14:creationId xmlns:p14="http://schemas.microsoft.com/office/powerpoint/2010/main" val="324625396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2.xml"/><Relationship Id="rId7"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4.png"/><Relationship Id="rId4" Type="http://schemas.openxmlformats.org/officeDocument/2006/relationships/oleObject" Target="../embeddings/oleObject1.bin"/><Relationship Id="rId9" Type="http://schemas.openxmlformats.org/officeDocument/2006/relationships/image" Target="../media/image6.wmf"/></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8419" y="1441939"/>
            <a:ext cx="10678333" cy="2068024"/>
          </a:xfrm>
        </p:spPr>
        <p:txBody>
          <a:bodyPr>
            <a:normAutofit fontScale="90000"/>
          </a:bodyPr>
          <a:lstStyle/>
          <a:p>
            <a:r>
              <a:rPr lang="en-US" sz="4800" b="1" dirty="0" err="1" smtClean="0">
                <a:latin typeface="Arial Black" panose="020B0A04020102020204" pitchFamily="34" charset="0"/>
              </a:rPr>
              <a:t>Introdution</a:t>
            </a:r>
            <a:r>
              <a:rPr lang="en-US" sz="4800" b="1" dirty="0" smtClean="0">
                <a:latin typeface="Arial Black" panose="020B0A04020102020204" pitchFamily="34" charset="0"/>
              </a:rPr>
              <a:t> to geographic information systems</a:t>
            </a:r>
            <a:endParaRPr lang="en-US" sz="4800" b="1" dirty="0">
              <a:latin typeface="Arial Black" panose="020B0A04020102020204" pitchFamily="34" charset="0"/>
            </a:endParaRPr>
          </a:p>
        </p:txBody>
      </p:sp>
      <p:sp>
        <p:nvSpPr>
          <p:cNvPr id="3" name="Subtitle 2"/>
          <p:cNvSpPr>
            <a:spLocks noGrp="1"/>
          </p:cNvSpPr>
          <p:nvPr>
            <p:ph type="subTitle" idx="1"/>
          </p:nvPr>
        </p:nvSpPr>
        <p:spPr>
          <a:xfrm>
            <a:off x="2872154" y="4385732"/>
            <a:ext cx="8287971" cy="1405467"/>
          </a:xfrm>
        </p:spPr>
        <p:txBody>
          <a:bodyPr>
            <a:normAutofit/>
          </a:bodyPr>
          <a:lstStyle/>
          <a:p>
            <a:r>
              <a:rPr lang="en-US" sz="2400" b="1" i="1" dirty="0" smtClean="0">
                <a:solidFill>
                  <a:srgbClr val="00B050"/>
                </a:solidFill>
                <a:latin typeface="Cambria" panose="02040503050406030204" pitchFamily="18" charset="0"/>
              </a:rPr>
              <a:t>Junaid Aziz Khan</a:t>
            </a:r>
          </a:p>
          <a:p>
            <a:r>
              <a:rPr lang="en-US" sz="2400" b="1" i="1" dirty="0" smtClean="0">
                <a:solidFill>
                  <a:srgbClr val="00B050"/>
                </a:solidFill>
                <a:latin typeface="Cambria" panose="02040503050406030204" pitchFamily="18" charset="0"/>
              </a:rPr>
              <a:t>Institute of geographical information systems</a:t>
            </a:r>
            <a:endParaRPr lang="en-US" sz="2400" b="1" i="1" dirty="0">
              <a:solidFill>
                <a:srgbClr val="00B050"/>
              </a:solidFill>
              <a:latin typeface="Cambria" panose="02040503050406030204" pitchFamily="18" charset="0"/>
            </a:endParaRPr>
          </a:p>
        </p:txBody>
      </p:sp>
    </p:spTree>
    <p:extLst>
      <p:ext uri="{BB962C8B-B14F-4D97-AF65-F5344CB8AC3E}">
        <p14:creationId xmlns:p14="http://schemas.microsoft.com/office/powerpoint/2010/main" val="40948087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25835"/>
            <a:ext cx="10131425" cy="1456267"/>
          </a:xfrm>
        </p:spPr>
        <p:txBody>
          <a:bodyPr>
            <a:normAutofit/>
          </a:bodyPr>
          <a:lstStyle/>
          <a:p>
            <a:r>
              <a:rPr lang="en-US" sz="4000" b="1" i="1" dirty="0" smtClean="0">
                <a:solidFill>
                  <a:srgbClr val="FFFF00"/>
                </a:solidFill>
                <a:latin typeface="+mn-lt"/>
              </a:rPr>
              <a:t>Presentation Outline</a:t>
            </a:r>
            <a:endParaRPr lang="en-US" sz="4000" i="1" dirty="0">
              <a:latin typeface="+mn-lt"/>
            </a:endParaRPr>
          </a:p>
        </p:txBody>
      </p:sp>
      <p:sp>
        <p:nvSpPr>
          <p:cNvPr id="3" name="Content Placeholder 2"/>
          <p:cNvSpPr>
            <a:spLocks noGrp="1"/>
          </p:cNvSpPr>
          <p:nvPr>
            <p:ph idx="1"/>
          </p:nvPr>
        </p:nvSpPr>
        <p:spPr>
          <a:xfrm>
            <a:off x="685802" y="1317356"/>
            <a:ext cx="5316414" cy="4980840"/>
          </a:xfrm>
        </p:spPr>
        <p:txBody>
          <a:bodyPr>
            <a:normAutofit fontScale="77500" lnSpcReduction="20000"/>
          </a:bodyPr>
          <a:lstStyle/>
          <a:p>
            <a:pPr>
              <a:lnSpc>
                <a:spcPct val="170000"/>
              </a:lnSpc>
            </a:pPr>
            <a:r>
              <a:rPr lang="en-US" sz="4000" b="1" dirty="0" smtClean="0">
                <a:solidFill>
                  <a:srgbClr val="FFFF00"/>
                </a:solidFill>
              </a:rPr>
              <a:t> </a:t>
            </a:r>
            <a:r>
              <a:rPr lang="en-US" sz="4000" b="1" dirty="0" smtClean="0"/>
              <a:t>Definitions </a:t>
            </a:r>
            <a:r>
              <a:rPr lang="en-US" sz="4000" b="1" dirty="0"/>
              <a:t>of GIS</a:t>
            </a:r>
          </a:p>
          <a:p>
            <a:pPr>
              <a:lnSpc>
                <a:spcPct val="170000"/>
              </a:lnSpc>
            </a:pPr>
            <a:r>
              <a:rPr lang="en-US" sz="4000" b="1" dirty="0" smtClean="0"/>
              <a:t> </a:t>
            </a:r>
            <a:r>
              <a:rPr lang="en-US" sz="4000" b="1" dirty="0"/>
              <a:t>The Feature Model</a:t>
            </a:r>
          </a:p>
          <a:p>
            <a:pPr>
              <a:lnSpc>
                <a:spcPct val="170000"/>
              </a:lnSpc>
            </a:pPr>
            <a:r>
              <a:rPr lang="en-US" sz="4000" b="1" dirty="0" smtClean="0"/>
              <a:t> </a:t>
            </a:r>
            <a:r>
              <a:rPr lang="en-US" sz="4000" b="1" dirty="0"/>
              <a:t>Subsystems of GIS</a:t>
            </a:r>
          </a:p>
          <a:p>
            <a:pPr>
              <a:lnSpc>
                <a:spcPct val="170000"/>
              </a:lnSpc>
            </a:pPr>
            <a:r>
              <a:rPr lang="en-US" sz="4000" b="1" dirty="0" smtClean="0"/>
              <a:t> </a:t>
            </a:r>
            <a:r>
              <a:rPr lang="en-US" sz="4000" b="1" dirty="0"/>
              <a:t>Key Activities in a GIS</a:t>
            </a:r>
          </a:p>
          <a:p>
            <a:pPr>
              <a:lnSpc>
                <a:spcPct val="170000"/>
              </a:lnSpc>
            </a:pPr>
            <a:r>
              <a:rPr lang="en-US" sz="4000" b="1" dirty="0" smtClean="0"/>
              <a:t> Components </a:t>
            </a:r>
            <a:r>
              <a:rPr lang="en-US" sz="4000" b="1" dirty="0"/>
              <a:t>of GIS</a:t>
            </a:r>
          </a:p>
          <a:p>
            <a:pPr>
              <a:lnSpc>
                <a:spcPct val="170000"/>
              </a:lnSpc>
            </a:pPr>
            <a:r>
              <a:rPr lang="en-US" sz="4000" b="1" dirty="0" smtClean="0"/>
              <a:t> </a:t>
            </a:r>
            <a:r>
              <a:rPr lang="en-US" sz="4000" b="1" dirty="0"/>
              <a:t>Applications of GIS </a:t>
            </a:r>
            <a:endParaRPr lang="en-US" sz="2800" dirty="0"/>
          </a:p>
        </p:txBody>
      </p:sp>
    </p:spTree>
    <p:extLst>
      <p:ext uri="{BB962C8B-B14F-4D97-AF65-F5344CB8AC3E}">
        <p14:creationId xmlns:p14="http://schemas.microsoft.com/office/powerpoint/2010/main" val="15457360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bwMode="auto">
          <a:xfrm>
            <a:off x="319454" y="124620"/>
            <a:ext cx="6642100" cy="1104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88900" tIns="44450" rIns="88900" bIns="44450" numCol="1" rtlCol="0" anchor="ctr" anchorCtr="0" compatLnSpc="1">
            <a:prstTxWarp prst="textNoShape">
              <a:avLst/>
            </a:prstTxWarp>
            <a:normAutofit/>
          </a:bodyPr>
          <a:lstStyle/>
          <a:p>
            <a:r>
              <a:rPr lang="en-US" sz="4000" b="1" i="1" dirty="0">
                <a:solidFill>
                  <a:srgbClr val="FFFF00"/>
                </a:solidFill>
                <a:latin typeface="+mn-lt"/>
              </a:rPr>
              <a:t>Lesson Objectives</a:t>
            </a:r>
          </a:p>
        </p:txBody>
      </p:sp>
      <p:sp>
        <p:nvSpPr>
          <p:cNvPr id="12" name="Content Placeholder 2"/>
          <p:cNvSpPr txBox="1">
            <a:spLocks/>
          </p:cNvSpPr>
          <p:nvPr/>
        </p:nvSpPr>
        <p:spPr>
          <a:xfrm>
            <a:off x="685801" y="1317356"/>
            <a:ext cx="9947029" cy="4766921"/>
          </a:xfrm>
          <a:prstGeom prst="rect">
            <a:avLst/>
          </a:prstGeom>
        </p:spPr>
        <p:txBody>
          <a:bodyPr vert="horz" lIns="91440" tIns="45720" rIns="91440" bIns="45720" rtlCol="0" anchor="ctr">
            <a:normAutofit fontScale="92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a:lnSpc>
                <a:spcPct val="170000"/>
              </a:lnSpc>
            </a:pPr>
            <a:r>
              <a:rPr lang="en-US" sz="4000" b="1" dirty="0" smtClean="0">
                <a:solidFill>
                  <a:srgbClr val="FFFF00"/>
                </a:solidFill>
              </a:rPr>
              <a:t> </a:t>
            </a:r>
            <a:r>
              <a:rPr lang="en-US" sz="4000" b="1" dirty="0"/>
              <a:t>Understand what a GIS is</a:t>
            </a:r>
          </a:p>
          <a:p>
            <a:pPr>
              <a:lnSpc>
                <a:spcPct val="170000"/>
              </a:lnSpc>
            </a:pPr>
            <a:r>
              <a:rPr lang="en-US" sz="4000" b="1" dirty="0"/>
              <a:t> Understand how a GIS functions</a:t>
            </a:r>
          </a:p>
          <a:p>
            <a:pPr>
              <a:lnSpc>
                <a:spcPct val="170000"/>
              </a:lnSpc>
            </a:pPr>
            <a:r>
              <a:rPr lang="en-US" sz="4000" b="1" dirty="0"/>
              <a:t> Understand how spatial data </a:t>
            </a:r>
            <a:r>
              <a:rPr lang="en-US" sz="4000" b="1" dirty="0" smtClean="0"/>
              <a:t>is represented </a:t>
            </a:r>
            <a:r>
              <a:rPr lang="en-US" sz="4000" b="1" dirty="0"/>
              <a:t>in a GIS</a:t>
            </a:r>
          </a:p>
          <a:p>
            <a:pPr>
              <a:lnSpc>
                <a:spcPct val="170000"/>
              </a:lnSpc>
            </a:pPr>
            <a:r>
              <a:rPr lang="en-US" sz="4000" b="1" dirty="0"/>
              <a:t> Look at some  GIS </a:t>
            </a:r>
            <a:r>
              <a:rPr lang="en-US" sz="4000" b="1" dirty="0" smtClean="0"/>
              <a:t>applications</a:t>
            </a:r>
            <a:endParaRPr lang="en-US" sz="4000" b="1" dirty="0"/>
          </a:p>
        </p:txBody>
      </p:sp>
    </p:spTree>
    <p:extLst>
      <p:ext uri="{BB962C8B-B14F-4D97-AF65-F5344CB8AC3E}">
        <p14:creationId xmlns:p14="http://schemas.microsoft.com/office/powerpoint/2010/main" val="3778179759"/>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t>
            </a:r>
            <a:r>
              <a:rPr lang="en-US" b="1" i="1" dirty="0" err="1"/>
              <a:t>gis</a:t>
            </a:r>
            <a:r>
              <a:rPr lang="en-US" b="1" i="1" dirty="0"/>
              <a:t>”</a:t>
            </a:r>
            <a:r>
              <a:rPr lang="en-US" b="1" dirty="0"/>
              <a:t> </a:t>
            </a:r>
            <a:r>
              <a:rPr lang="en-US" b="1" dirty="0" smtClean="0"/>
              <a:t>stands for</a:t>
            </a:r>
            <a:r>
              <a:rPr lang="en-US" dirty="0" smtClean="0"/>
              <a:t>?</a:t>
            </a:r>
            <a:endParaRPr lang="en-US" dirty="0"/>
          </a:p>
        </p:txBody>
      </p:sp>
      <p:sp>
        <p:nvSpPr>
          <p:cNvPr id="3" name="Content Placeholder 2"/>
          <p:cNvSpPr>
            <a:spLocks noGrp="1"/>
          </p:cNvSpPr>
          <p:nvPr>
            <p:ph idx="1"/>
          </p:nvPr>
        </p:nvSpPr>
        <p:spPr>
          <a:xfrm>
            <a:off x="685801" y="1977470"/>
            <a:ext cx="10906931" cy="4320726"/>
          </a:xfrm>
        </p:spPr>
        <p:txBody>
          <a:bodyPr>
            <a:normAutofit/>
          </a:bodyPr>
          <a:lstStyle/>
          <a:p>
            <a:r>
              <a:rPr lang="en-US" sz="4000" b="1" dirty="0">
                <a:solidFill>
                  <a:srgbClr val="FFFF00"/>
                </a:solidFill>
              </a:rPr>
              <a:t>G</a:t>
            </a:r>
            <a:r>
              <a:rPr lang="en-US" sz="2800" dirty="0">
                <a:solidFill>
                  <a:srgbClr val="FFFF00"/>
                </a:solidFill>
              </a:rPr>
              <a:t> </a:t>
            </a:r>
            <a:r>
              <a:rPr lang="en-US" sz="2800" dirty="0"/>
              <a:t>stands for </a:t>
            </a:r>
            <a:r>
              <a:rPr lang="en-US" sz="2800" b="1" dirty="0">
                <a:solidFill>
                  <a:srgbClr val="FFFF00"/>
                </a:solidFill>
              </a:rPr>
              <a:t>geographic</a:t>
            </a:r>
            <a:r>
              <a:rPr lang="en-US" sz="2800" dirty="0"/>
              <a:t>, so we know that GIS </a:t>
            </a:r>
            <a:r>
              <a:rPr lang="en-US" sz="2800" dirty="0" smtClean="0"/>
              <a:t>has </a:t>
            </a:r>
            <a:r>
              <a:rPr lang="en-US" sz="2800" dirty="0"/>
              <a:t>something to do with geography.</a:t>
            </a:r>
          </a:p>
          <a:p>
            <a:r>
              <a:rPr lang="en-US" sz="4000" b="1" dirty="0">
                <a:solidFill>
                  <a:srgbClr val="FFFF00"/>
                </a:solidFill>
              </a:rPr>
              <a:t>I</a:t>
            </a:r>
            <a:r>
              <a:rPr lang="en-US" sz="4000" dirty="0"/>
              <a:t> </a:t>
            </a:r>
            <a:r>
              <a:rPr lang="en-US" sz="2800" dirty="0"/>
              <a:t>stands for </a:t>
            </a:r>
            <a:r>
              <a:rPr lang="en-US" sz="2800" b="1" dirty="0">
                <a:solidFill>
                  <a:srgbClr val="FFFF00"/>
                </a:solidFill>
              </a:rPr>
              <a:t>information</a:t>
            </a:r>
            <a:r>
              <a:rPr lang="en-US" sz="2800" dirty="0"/>
              <a:t>, so we </a:t>
            </a:r>
            <a:r>
              <a:rPr lang="en-US" sz="2800" dirty="0" smtClean="0"/>
              <a:t>know </a:t>
            </a:r>
            <a:r>
              <a:rPr lang="en-US" sz="2800" dirty="0"/>
              <a:t>that GIS </a:t>
            </a:r>
            <a:r>
              <a:rPr lang="en-US" sz="2800" dirty="0" smtClean="0"/>
              <a:t>has </a:t>
            </a:r>
            <a:r>
              <a:rPr lang="en-US" sz="2800" dirty="0"/>
              <a:t>something to do with information, namely </a:t>
            </a:r>
            <a:r>
              <a:rPr lang="en-US" sz="2800" b="1" dirty="0" smtClean="0">
                <a:solidFill>
                  <a:srgbClr val="FFFF00"/>
                </a:solidFill>
              </a:rPr>
              <a:t>geographic </a:t>
            </a:r>
            <a:r>
              <a:rPr lang="en-US" sz="2800" b="1" dirty="0">
                <a:solidFill>
                  <a:srgbClr val="FFFF00"/>
                </a:solidFill>
              </a:rPr>
              <a:t>information</a:t>
            </a:r>
            <a:r>
              <a:rPr lang="en-US" sz="2800" dirty="0"/>
              <a:t>.</a:t>
            </a:r>
          </a:p>
          <a:p>
            <a:r>
              <a:rPr lang="en-US" sz="4000" b="1" dirty="0">
                <a:solidFill>
                  <a:srgbClr val="FFFF00"/>
                </a:solidFill>
              </a:rPr>
              <a:t>S</a:t>
            </a:r>
            <a:r>
              <a:rPr lang="en-US" sz="4000" dirty="0"/>
              <a:t> </a:t>
            </a:r>
            <a:r>
              <a:rPr lang="en-US" sz="2800" dirty="0"/>
              <a:t>stands for </a:t>
            </a:r>
            <a:r>
              <a:rPr lang="en-US" sz="2800" b="1" dirty="0">
                <a:solidFill>
                  <a:srgbClr val="FFFF00"/>
                </a:solidFill>
              </a:rPr>
              <a:t>system</a:t>
            </a:r>
            <a:r>
              <a:rPr lang="en-US" sz="2800" dirty="0"/>
              <a:t>, so we know that GIS is an </a:t>
            </a:r>
            <a:r>
              <a:rPr lang="en-US" sz="2800" dirty="0" smtClean="0"/>
              <a:t>integrated </a:t>
            </a:r>
            <a:r>
              <a:rPr lang="en-US" sz="2800" dirty="0"/>
              <a:t>system of geography and information </a:t>
            </a:r>
            <a:r>
              <a:rPr lang="en-US" sz="2800" dirty="0" smtClean="0"/>
              <a:t>tied </a:t>
            </a:r>
            <a:r>
              <a:rPr lang="en-US" sz="2800" dirty="0"/>
              <a:t>together. </a:t>
            </a:r>
          </a:p>
        </p:txBody>
      </p:sp>
    </p:spTree>
    <p:extLst>
      <p:ext uri="{BB962C8B-B14F-4D97-AF65-F5344CB8AC3E}">
        <p14:creationId xmlns:p14="http://schemas.microsoft.com/office/powerpoint/2010/main" val="117756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Geographic</a:t>
            </a:r>
            <a:endParaRPr lang="en-US" b="1" dirty="0"/>
          </a:p>
        </p:txBody>
      </p:sp>
      <p:sp>
        <p:nvSpPr>
          <p:cNvPr id="3" name="Content Placeholder 2"/>
          <p:cNvSpPr>
            <a:spLocks noGrp="1"/>
          </p:cNvSpPr>
          <p:nvPr>
            <p:ph idx="1"/>
          </p:nvPr>
        </p:nvSpPr>
        <p:spPr>
          <a:xfrm>
            <a:off x="685801" y="2008466"/>
            <a:ext cx="10627962" cy="4320726"/>
          </a:xfrm>
        </p:spPr>
        <p:txBody>
          <a:bodyPr>
            <a:noAutofit/>
          </a:bodyPr>
          <a:lstStyle/>
          <a:p>
            <a:pPr>
              <a:lnSpc>
                <a:spcPct val="150000"/>
              </a:lnSpc>
            </a:pPr>
            <a:r>
              <a:rPr lang="en-US" sz="3200" b="1" dirty="0" smtClean="0">
                <a:solidFill>
                  <a:srgbClr val="FFFF00"/>
                </a:solidFill>
              </a:rPr>
              <a:t>Geography</a:t>
            </a:r>
            <a:r>
              <a:rPr lang="en-US" sz="3200" dirty="0" smtClean="0"/>
              <a:t> </a:t>
            </a:r>
            <a:r>
              <a:rPr lang="en-US" sz="3200" dirty="0"/>
              <a:t>-Pattern and process of human and </a:t>
            </a:r>
            <a:r>
              <a:rPr lang="en-US" sz="3200" dirty="0" smtClean="0"/>
              <a:t>physical </a:t>
            </a:r>
            <a:r>
              <a:rPr lang="en-US" sz="3200" dirty="0"/>
              <a:t>phenomena on the surface of earth.</a:t>
            </a:r>
          </a:p>
          <a:p>
            <a:pPr>
              <a:lnSpc>
                <a:spcPct val="150000"/>
              </a:lnSpc>
            </a:pPr>
            <a:r>
              <a:rPr lang="en-US" sz="3200" dirty="0">
                <a:solidFill>
                  <a:srgbClr val="FFFF00"/>
                </a:solidFill>
              </a:rPr>
              <a:t>What is where</a:t>
            </a:r>
            <a:r>
              <a:rPr lang="en-US" sz="3200" dirty="0"/>
              <a:t>? (Spatial Distribution and Variations)</a:t>
            </a:r>
          </a:p>
          <a:p>
            <a:pPr>
              <a:lnSpc>
                <a:spcPct val="150000"/>
              </a:lnSpc>
            </a:pPr>
            <a:r>
              <a:rPr lang="en-US" sz="3200" dirty="0">
                <a:solidFill>
                  <a:srgbClr val="FFFF00"/>
                </a:solidFill>
              </a:rPr>
              <a:t>Why is there</a:t>
            </a:r>
            <a:r>
              <a:rPr lang="en-US" sz="3200" dirty="0"/>
              <a:t>?(Spatial Interactions)</a:t>
            </a:r>
          </a:p>
          <a:p>
            <a:pPr>
              <a:lnSpc>
                <a:spcPct val="150000"/>
              </a:lnSpc>
            </a:pPr>
            <a:r>
              <a:rPr lang="en-US" sz="3200" dirty="0">
                <a:solidFill>
                  <a:srgbClr val="FFFF00"/>
                </a:solidFill>
              </a:rPr>
              <a:t>How do we care</a:t>
            </a:r>
            <a:r>
              <a:rPr lang="en-US" sz="3200" dirty="0"/>
              <a:t>?(Spatial Planning and Management</a:t>
            </a:r>
            <a:r>
              <a:rPr lang="en-US" sz="2000" dirty="0"/>
              <a:t>)</a:t>
            </a:r>
          </a:p>
        </p:txBody>
      </p:sp>
    </p:spTree>
    <p:extLst>
      <p:ext uri="{BB962C8B-B14F-4D97-AF65-F5344CB8AC3E}">
        <p14:creationId xmlns:p14="http://schemas.microsoft.com/office/powerpoint/2010/main" val="1502081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Information</a:t>
            </a:r>
            <a:endParaRPr lang="en-US" b="1" dirty="0"/>
          </a:p>
        </p:txBody>
      </p:sp>
      <p:sp>
        <p:nvSpPr>
          <p:cNvPr id="3" name="Content Placeholder 2"/>
          <p:cNvSpPr>
            <a:spLocks noGrp="1"/>
          </p:cNvSpPr>
          <p:nvPr>
            <p:ph idx="1"/>
          </p:nvPr>
        </p:nvSpPr>
        <p:spPr>
          <a:xfrm>
            <a:off x="685801" y="2065867"/>
            <a:ext cx="10627962" cy="3900980"/>
          </a:xfrm>
        </p:spPr>
        <p:txBody>
          <a:bodyPr>
            <a:noAutofit/>
          </a:bodyPr>
          <a:lstStyle/>
          <a:p>
            <a:pPr>
              <a:lnSpc>
                <a:spcPct val="150000"/>
              </a:lnSpc>
            </a:pPr>
            <a:r>
              <a:rPr lang="en-US" sz="3600" b="1" dirty="0">
                <a:solidFill>
                  <a:srgbClr val="FFFF00"/>
                </a:solidFill>
              </a:rPr>
              <a:t>Information </a:t>
            </a:r>
            <a:r>
              <a:rPr lang="en-US" sz="3600" b="1" dirty="0"/>
              <a:t>is processed data useful for problem </a:t>
            </a:r>
            <a:r>
              <a:rPr lang="en-US" sz="3600" b="1" dirty="0" smtClean="0"/>
              <a:t>solving</a:t>
            </a:r>
            <a:r>
              <a:rPr lang="en-US" sz="3600" b="1" dirty="0"/>
              <a:t>. </a:t>
            </a:r>
          </a:p>
          <a:p>
            <a:pPr>
              <a:lnSpc>
                <a:spcPct val="150000"/>
              </a:lnSpc>
            </a:pPr>
            <a:r>
              <a:rPr lang="en-US" sz="3600" b="1" dirty="0">
                <a:solidFill>
                  <a:srgbClr val="FFFF00"/>
                </a:solidFill>
              </a:rPr>
              <a:t>Data </a:t>
            </a:r>
            <a:r>
              <a:rPr lang="en-US" sz="3600" b="1" dirty="0"/>
              <a:t>is basically the collection of facts and </a:t>
            </a:r>
            <a:r>
              <a:rPr lang="en-US" sz="3600" b="1" dirty="0" smtClean="0"/>
              <a:t>figures that </a:t>
            </a:r>
            <a:r>
              <a:rPr lang="en-US" sz="3600" b="1" dirty="0"/>
              <a:t>pertain to places, people, things, events, and </a:t>
            </a:r>
            <a:r>
              <a:rPr lang="en-US" sz="3600" b="1" dirty="0" smtClean="0"/>
              <a:t>concepts</a:t>
            </a:r>
            <a:r>
              <a:rPr lang="en-US" sz="3600" b="1" dirty="0"/>
              <a:t>.</a:t>
            </a:r>
            <a:endParaRPr lang="en-US" sz="2400" dirty="0"/>
          </a:p>
        </p:txBody>
      </p:sp>
    </p:spTree>
    <p:extLst>
      <p:ext uri="{BB962C8B-B14F-4D97-AF65-F5344CB8AC3E}">
        <p14:creationId xmlns:p14="http://schemas.microsoft.com/office/powerpoint/2010/main" val="2260842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System</a:t>
            </a:r>
            <a:endParaRPr lang="en-US" b="1" dirty="0"/>
          </a:p>
        </p:txBody>
      </p:sp>
      <p:sp>
        <p:nvSpPr>
          <p:cNvPr id="3" name="Content Placeholder 2"/>
          <p:cNvSpPr>
            <a:spLocks noGrp="1"/>
          </p:cNvSpPr>
          <p:nvPr>
            <p:ph idx="1"/>
          </p:nvPr>
        </p:nvSpPr>
        <p:spPr>
          <a:xfrm>
            <a:off x="685801" y="2065867"/>
            <a:ext cx="10627962" cy="3669797"/>
          </a:xfrm>
        </p:spPr>
        <p:txBody>
          <a:bodyPr>
            <a:noAutofit/>
          </a:bodyPr>
          <a:lstStyle/>
          <a:p>
            <a:pPr>
              <a:lnSpc>
                <a:spcPct val="150000"/>
              </a:lnSpc>
            </a:pPr>
            <a:r>
              <a:rPr lang="en-US" sz="2800" b="1" dirty="0"/>
              <a:t>A group of </a:t>
            </a:r>
            <a:r>
              <a:rPr lang="en-US" sz="2800" b="1" dirty="0">
                <a:solidFill>
                  <a:srgbClr val="FFFF00"/>
                </a:solidFill>
              </a:rPr>
              <a:t>interacting</a:t>
            </a:r>
            <a:r>
              <a:rPr lang="en-US" sz="2800" b="1" dirty="0"/>
              <a:t>, </a:t>
            </a:r>
            <a:r>
              <a:rPr lang="en-US" sz="2800" b="1" dirty="0">
                <a:solidFill>
                  <a:srgbClr val="FFFF00"/>
                </a:solidFill>
              </a:rPr>
              <a:t>interrelated</a:t>
            </a:r>
            <a:r>
              <a:rPr lang="en-US" sz="2800" b="1" dirty="0"/>
              <a:t>, or </a:t>
            </a:r>
            <a:r>
              <a:rPr lang="en-US" sz="2800" b="1" dirty="0">
                <a:solidFill>
                  <a:srgbClr val="FFFF00"/>
                </a:solidFill>
              </a:rPr>
              <a:t>interdependent</a:t>
            </a:r>
            <a:r>
              <a:rPr lang="en-US" sz="2800" b="1" dirty="0"/>
              <a:t> elements forming a complex whole (physical or conceptual in nature)</a:t>
            </a:r>
          </a:p>
          <a:p>
            <a:pPr lvl="1">
              <a:lnSpc>
                <a:spcPct val="150000"/>
              </a:lnSpc>
            </a:pPr>
            <a:r>
              <a:rPr lang="en-US" sz="2800" b="1" dirty="0"/>
              <a:t>The human body regarded as a functional physiological unit. </a:t>
            </a:r>
          </a:p>
          <a:p>
            <a:pPr lvl="1">
              <a:lnSpc>
                <a:spcPct val="150000"/>
              </a:lnSpc>
            </a:pPr>
            <a:r>
              <a:rPr lang="en-US" sz="2800" b="1" dirty="0"/>
              <a:t>Solar system</a:t>
            </a:r>
          </a:p>
          <a:p>
            <a:pPr lvl="1">
              <a:lnSpc>
                <a:spcPct val="150000"/>
              </a:lnSpc>
            </a:pPr>
            <a:r>
              <a:rPr lang="en-US" sz="2800" b="1" dirty="0"/>
              <a:t>Water distribution system</a:t>
            </a:r>
          </a:p>
          <a:p>
            <a:pPr lvl="1">
              <a:lnSpc>
                <a:spcPct val="150000"/>
              </a:lnSpc>
            </a:pPr>
            <a:r>
              <a:rPr lang="en-US" sz="2800" b="1" dirty="0"/>
              <a:t>Democratic political system</a:t>
            </a:r>
          </a:p>
        </p:txBody>
      </p:sp>
    </p:spTree>
    <p:extLst>
      <p:ext uri="{BB962C8B-B14F-4D97-AF65-F5344CB8AC3E}">
        <p14:creationId xmlns:p14="http://schemas.microsoft.com/office/powerpoint/2010/main" val="344694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62" name="Rectangle 10"/>
          <p:cNvSpPr>
            <a:spLocks noGrp="1" noChangeArrowheads="1"/>
          </p:cNvSpPr>
          <p:nvPr>
            <p:ph type="title"/>
          </p:nvPr>
        </p:nvSpPr>
        <p:spPr bwMode="auto">
          <a:xfrm>
            <a:off x="2628900" y="152400"/>
            <a:ext cx="6959600" cy="73025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900" tIns="44450" rIns="88900" bIns="44450" numCol="1" rtlCol="0" anchor="ctr" anchorCtr="0" compatLnSpc="1">
            <a:prstTxWarp prst="textNoShape">
              <a:avLst/>
            </a:prstTxWarp>
            <a:normAutofit/>
          </a:bodyPr>
          <a:lstStyle/>
          <a:p>
            <a:r>
              <a:rPr lang="en-US"/>
              <a:t>What is an Information System?</a:t>
            </a:r>
          </a:p>
        </p:txBody>
      </p:sp>
      <p:grpSp>
        <p:nvGrpSpPr>
          <p:cNvPr id="74786" name="Group 34"/>
          <p:cNvGrpSpPr>
            <a:grpSpLocks/>
          </p:cNvGrpSpPr>
          <p:nvPr/>
        </p:nvGrpSpPr>
        <p:grpSpPr bwMode="auto">
          <a:xfrm>
            <a:off x="1968501" y="4418014"/>
            <a:ext cx="7864475" cy="1709737"/>
            <a:chOff x="280" y="2783"/>
            <a:chExt cx="4954" cy="1077"/>
          </a:xfrm>
        </p:grpSpPr>
        <p:graphicFrame>
          <p:nvGraphicFramePr>
            <p:cNvPr id="74763" name="Object 11"/>
            <p:cNvGraphicFramePr>
              <a:graphicFrameLocks noChangeAspect="1"/>
            </p:cNvGraphicFramePr>
            <p:nvPr/>
          </p:nvGraphicFramePr>
          <p:xfrm>
            <a:off x="4304" y="2783"/>
            <a:ext cx="930" cy="1077"/>
          </p:xfrm>
          <a:graphic>
            <a:graphicData uri="http://schemas.openxmlformats.org/presentationml/2006/ole">
              <mc:AlternateContent xmlns:mc="http://schemas.openxmlformats.org/markup-compatibility/2006">
                <mc:Choice xmlns:v="urn:schemas-microsoft-com:vml" Requires="v">
                  <p:oleObj spid="_x0000_s1038" name="Photo Editor Photo" r:id="rId4" imgW="1142857" imgH="1324160" progId="MSPhotoEd.3">
                    <p:embed/>
                  </p:oleObj>
                </mc:Choice>
                <mc:Fallback>
                  <p:oleObj name="Photo Editor Photo" r:id="rId4" imgW="1142857" imgH="1324160" progId="MSPhotoEd.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4" y="2783"/>
                          <a:ext cx="930" cy="1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4766" name="Text Box 14"/>
            <p:cNvSpPr txBox="1">
              <a:spLocks noChangeArrowheads="1"/>
            </p:cNvSpPr>
            <p:nvPr/>
          </p:nvSpPr>
          <p:spPr bwMode="auto">
            <a:xfrm>
              <a:off x="280" y="3056"/>
              <a:ext cx="4080"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800"/>
                <a:t>Information systems can be very simple, such as a telephone directory. </a:t>
              </a:r>
            </a:p>
          </p:txBody>
        </p:sp>
      </p:grpSp>
      <p:grpSp>
        <p:nvGrpSpPr>
          <p:cNvPr id="74785" name="Group 33"/>
          <p:cNvGrpSpPr>
            <a:grpSpLocks/>
          </p:cNvGrpSpPr>
          <p:nvPr/>
        </p:nvGrpSpPr>
        <p:grpSpPr bwMode="auto">
          <a:xfrm>
            <a:off x="2679700" y="1625600"/>
            <a:ext cx="3619500" cy="2387600"/>
            <a:chOff x="728" y="1024"/>
            <a:chExt cx="2280" cy="1504"/>
          </a:xfrm>
        </p:grpSpPr>
        <p:sp>
          <p:nvSpPr>
            <p:cNvPr id="74770" name="Text Box 18"/>
            <p:cNvSpPr txBox="1">
              <a:spLocks noChangeArrowheads="1"/>
            </p:cNvSpPr>
            <p:nvPr/>
          </p:nvSpPr>
          <p:spPr bwMode="auto">
            <a:xfrm>
              <a:off x="1456" y="1608"/>
              <a:ext cx="864" cy="524"/>
            </a:xfrm>
            <a:prstGeom prst="rect">
              <a:avLst/>
            </a:prstGeom>
            <a:noFill/>
            <a:ln w="9525">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400">
                  <a:solidFill>
                    <a:schemeClr val="hlink"/>
                  </a:solidFill>
                </a:rPr>
                <a:t>Data Storage</a:t>
              </a:r>
              <a:endParaRPr lang="en-US" sz="2800"/>
            </a:p>
          </p:txBody>
        </p:sp>
        <p:sp>
          <p:nvSpPr>
            <p:cNvPr id="74771" name="Oval 19"/>
            <p:cNvSpPr>
              <a:spLocks noChangeArrowheads="1"/>
            </p:cNvSpPr>
            <p:nvPr/>
          </p:nvSpPr>
          <p:spPr bwMode="auto">
            <a:xfrm>
              <a:off x="728" y="1024"/>
              <a:ext cx="2280" cy="1504"/>
            </a:xfrm>
            <a:prstGeom prst="ellipse">
              <a:avLst/>
            </a:pr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72" name="Text Box 20"/>
            <p:cNvSpPr txBox="1">
              <a:spLocks noChangeArrowheads="1"/>
            </p:cNvSpPr>
            <p:nvPr/>
          </p:nvSpPr>
          <p:spPr bwMode="auto">
            <a:xfrm>
              <a:off x="1000" y="1216"/>
              <a:ext cx="1744" cy="2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400">
                  <a:solidFill>
                    <a:schemeClr val="accent1"/>
                  </a:solidFill>
                </a:rPr>
                <a:t>Information System</a:t>
              </a:r>
              <a:endParaRPr lang="en-US" sz="2800"/>
            </a:p>
          </p:txBody>
        </p:sp>
      </p:grpSp>
      <p:grpSp>
        <p:nvGrpSpPr>
          <p:cNvPr id="74793" name="Group 41"/>
          <p:cNvGrpSpPr>
            <a:grpSpLocks/>
          </p:cNvGrpSpPr>
          <p:nvPr/>
        </p:nvGrpSpPr>
        <p:grpSpPr bwMode="auto">
          <a:xfrm>
            <a:off x="6311901" y="1836739"/>
            <a:ext cx="2555875" cy="1976437"/>
            <a:chOff x="3016" y="1157"/>
            <a:chExt cx="1610" cy="1245"/>
          </a:xfrm>
        </p:grpSpPr>
        <p:sp>
          <p:nvSpPr>
            <p:cNvPr id="74767" name="Line 15"/>
            <p:cNvSpPr>
              <a:spLocks noChangeShapeType="1"/>
            </p:cNvSpPr>
            <p:nvPr/>
          </p:nvSpPr>
          <p:spPr bwMode="auto">
            <a:xfrm flipH="1">
              <a:off x="3016" y="1784"/>
              <a:ext cx="984"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68" name="Text Box 16"/>
            <p:cNvSpPr txBox="1">
              <a:spLocks noChangeArrowheads="1"/>
            </p:cNvSpPr>
            <p:nvPr/>
          </p:nvSpPr>
          <p:spPr bwMode="auto">
            <a:xfrm>
              <a:off x="3232" y="1560"/>
              <a:ext cx="5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a:solidFill>
                    <a:schemeClr val="accent1"/>
                  </a:solidFill>
                </a:rPr>
                <a:t>Query</a:t>
              </a:r>
              <a:endParaRPr lang="en-US" sz="2800"/>
            </a:p>
          </p:txBody>
        </p:sp>
        <p:graphicFrame>
          <p:nvGraphicFramePr>
            <p:cNvPr id="74779" name="Object 27"/>
            <p:cNvGraphicFramePr>
              <a:graphicFrameLocks noChangeAspect="1"/>
            </p:cNvGraphicFramePr>
            <p:nvPr/>
          </p:nvGraphicFramePr>
          <p:xfrm>
            <a:off x="4047" y="1157"/>
            <a:ext cx="579" cy="1245"/>
          </p:xfrm>
          <a:graphic>
            <a:graphicData uri="http://schemas.openxmlformats.org/presentationml/2006/ole">
              <mc:AlternateContent xmlns:mc="http://schemas.openxmlformats.org/markup-compatibility/2006">
                <mc:Choice xmlns:v="urn:schemas-microsoft-com:vml" Requires="v">
                  <p:oleObj spid="_x0000_s1039" name="Clip" r:id="rId6" imgW="1857600" imgH="3995640" progId="MS_ClipArt_Gallery.2">
                    <p:embed/>
                  </p:oleObj>
                </mc:Choice>
                <mc:Fallback>
                  <p:oleObj name="Clip" r:id="rId6" imgW="1857600" imgH="3995640"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47" y="1157"/>
                          <a:ext cx="579" cy="12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4792" name="Group 40"/>
          <p:cNvGrpSpPr>
            <a:grpSpLocks/>
          </p:cNvGrpSpPr>
          <p:nvPr/>
        </p:nvGrpSpPr>
        <p:grpSpPr bwMode="auto">
          <a:xfrm>
            <a:off x="6286501" y="1627189"/>
            <a:ext cx="2576513" cy="2270125"/>
            <a:chOff x="2976" y="1025"/>
            <a:chExt cx="1623" cy="1430"/>
          </a:xfrm>
        </p:grpSpPr>
        <p:sp>
          <p:nvSpPr>
            <p:cNvPr id="74773" name="Line 21"/>
            <p:cNvSpPr>
              <a:spLocks noChangeShapeType="1"/>
            </p:cNvSpPr>
            <p:nvPr/>
          </p:nvSpPr>
          <p:spPr bwMode="auto">
            <a:xfrm>
              <a:off x="2976" y="1944"/>
              <a:ext cx="109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74" name="Text Box 22"/>
            <p:cNvSpPr txBox="1">
              <a:spLocks noChangeArrowheads="1"/>
            </p:cNvSpPr>
            <p:nvPr/>
          </p:nvSpPr>
          <p:spPr bwMode="auto">
            <a:xfrm>
              <a:off x="3048" y="1752"/>
              <a:ext cx="9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sz="2000">
                  <a:solidFill>
                    <a:schemeClr val="accent1"/>
                  </a:solidFill>
                </a:rPr>
                <a:t>Information</a:t>
              </a:r>
              <a:endParaRPr lang="en-US" sz="2800"/>
            </a:p>
          </p:txBody>
        </p:sp>
        <p:graphicFrame>
          <p:nvGraphicFramePr>
            <p:cNvPr id="74787" name="Object 35"/>
            <p:cNvGraphicFramePr>
              <a:graphicFrameLocks noChangeAspect="1"/>
            </p:cNvGraphicFramePr>
            <p:nvPr/>
          </p:nvGraphicFramePr>
          <p:xfrm>
            <a:off x="4128" y="1025"/>
            <a:ext cx="471" cy="1430"/>
          </p:xfrm>
          <a:graphic>
            <a:graphicData uri="http://schemas.openxmlformats.org/presentationml/2006/ole">
              <mc:AlternateContent xmlns:mc="http://schemas.openxmlformats.org/markup-compatibility/2006">
                <mc:Choice xmlns:v="urn:schemas-microsoft-com:vml" Requires="v">
                  <p:oleObj spid="_x0000_s1040" name="Clip" r:id="rId8" imgW="1295640" imgH="3934080" progId="MS_ClipArt_Gallery.2">
                    <p:embed/>
                  </p:oleObj>
                </mc:Choice>
                <mc:Fallback>
                  <p:oleObj name="Clip" r:id="rId8" imgW="1295640" imgH="3934080" progId="MS_ClipArt_Gallery.2">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28" y="1025"/>
                          <a:ext cx="471" cy="14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15836010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74793"/>
                                        </p:tgtEl>
                                        <p:attrNameLst>
                                          <p:attrName>style.visibility</p:attrName>
                                        </p:attrNameLst>
                                      </p:cBhvr>
                                      <p:to>
                                        <p:strVal val="visible"/>
                                      </p:to>
                                    </p:set>
                                  </p:childTnLst>
                                  <p:subTnLst>
                                    <p:set>
                                      <p:cBhvr override="childStyle">
                                        <p:cTn dur="1" fill="hold" display="0" masterRel="nextClick" afterEffect="1"/>
                                        <p:tgtEl>
                                          <p:spTgt spid="74793"/>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479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74786"/>
                                        </p:tgtEl>
                                        <p:attrNameLst>
                                          <p:attrName>style.visibility</p:attrName>
                                        </p:attrNameLst>
                                      </p:cBhvr>
                                      <p:to>
                                        <p:strVal val="visible"/>
                                      </p:to>
                                    </p:set>
                                    <p:animEffect transition="in" filter="wipe(up)">
                                      <p:cBhvr>
                                        <p:cTn id="15" dur="500"/>
                                        <p:tgtEl>
                                          <p:spTgt spid="74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a “</a:t>
            </a:r>
            <a:r>
              <a:rPr lang="en-US" b="1" i="1" dirty="0" err="1" smtClean="0"/>
              <a:t>gis</a:t>
            </a:r>
            <a:r>
              <a:rPr lang="en-US" b="1" i="1" dirty="0" smtClean="0"/>
              <a:t>”</a:t>
            </a:r>
            <a:r>
              <a:rPr lang="en-US" dirty="0" smtClean="0"/>
              <a:t>?</a:t>
            </a:r>
            <a:endParaRPr lang="en-US" dirty="0"/>
          </a:p>
        </p:txBody>
      </p:sp>
      <p:sp>
        <p:nvSpPr>
          <p:cNvPr id="3" name="Content Placeholder 2"/>
          <p:cNvSpPr>
            <a:spLocks noGrp="1"/>
          </p:cNvSpPr>
          <p:nvPr>
            <p:ph idx="1"/>
          </p:nvPr>
        </p:nvSpPr>
        <p:spPr>
          <a:xfrm>
            <a:off x="685801" y="1977470"/>
            <a:ext cx="10906931" cy="4320726"/>
          </a:xfrm>
        </p:spPr>
        <p:txBody>
          <a:bodyPr>
            <a:normAutofit fontScale="85000" lnSpcReduction="20000"/>
          </a:bodyPr>
          <a:lstStyle/>
          <a:p>
            <a:r>
              <a:rPr lang="en-US" sz="4000" b="1" dirty="0"/>
              <a:t>A computer system for </a:t>
            </a:r>
          </a:p>
          <a:p>
            <a:pPr marL="914400" lvl="2" indent="0">
              <a:buNone/>
            </a:pPr>
            <a:r>
              <a:rPr lang="en-US" sz="3600" b="1" dirty="0">
                <a:solidFill>
                  <a:srgbClr val="FFFF00"/>
                </a:solidFill>
              </a:rPr>
              <a:t>- collecting, </a:t>
            </a:r>
          </a:p>
          <a:p>
            <a:pPr marL="914400" lvl="2" indent="0">
              <a:buNone/>
            </a:pPr>
            <a:r>
              <a:rPr lang="en-US" sz="3600" b="1" dirty="0">
                <a:solidFill>
                  <a:srgbClr val="FFFF00"/>
                </a:solidFill>
              </a:rPr>
              <a:t>- storing, </a:t>
            </a:r>
          </a:p>
          <a:p>
            <a:pPr marL="914400" lvl="2" indent="0">
              <a:buNone/>
            </a:pPr>
            <a:r>
              <a:rPr lang="en-US" sz="3600" b="1" dirty="0">
                <a:solidFill>
                  <a:srgbClr val="FFFF00"/>
                </a:solidFill>
              </a:rPr>
              <a:t>- manipulating, </a:t>
            </a:r>
          </a:p>
          <a:p>
            <a:pPr marL="914400" lvl="2" indent="0">
              <a:buNone/>
            </a:pPr>
            <a:r>
              <a:rPr lang="en-US" sz="3600" b="1" dirty="0">
                <a:solidFill>
                  <a:srgbClr val="FFFF00"/>
                </a:solidFill>
              </a:rPr>
              <a:t>- analyzing, </a:t>
            </a:r>
          </a:p>
          <a:p>
            <a:pPr marL="914400" lvl="2" indent="0">
              <a:buNone/>
            </a:pPr>
            <a:r>
              <a:rPr lang="en-US" sz="3600" b="1" dirty="0">
                <a:solidFill>
                  <a:srgbClr val="FFFF00"/>
                </a:solidFill>
              </a:rPr>
              <a:t>- displaying, and </a:t>
            </a:r>
          </a:p>
          <a:p>
            <a:pPr marL="914400" lvl="2" indent="0">
              <a:buNone/>
            </a:pPr>
            <a:r>
              <a:rPr lang="en-US" sz="3600" b="1" dirty="0">
                <a:solidFill>
                  <a:srgbClr val="FFFF00"/>
                </a:solidFill>
              </a:rPr>
              <a:t>- querying </a:t>
            </a:r>
          </a:p>
          <a:p>
            <a:pPr marL="0" indent="0">
              <a:buNone/>
            </a:pPr>
            <a:r>
              <a:rPr lang="en-US" sz="4000" b="1" dirty="0"/>
              <a:t>geographically related </a:t>
            </a:r>
            <a:r>
              <a:rPr lang="en-US" sz="4000" b="1" dirty="0" smtClean="0"/>
              <a:t>information</a:t>
            </a:r>
            <a:r>
              <a:rPr lang="en-US" sz="4000" b="1" dirty="0"/>
              <a:t>. </a:t>
            </a:r>
            <a:endParaRPr lang="en-US" sz="2800" dirty="0"/>
          </a:p>
        </p:txBody>
      </p:sp>
      <p:pic>
        <p:nvPicPr>
          <p:cNvPr id="4" name="Picture 3"/>
          <p:cNvPicPr>
            <a:picLocks noChangeAspect="1"/>
          </p:cNvPicPr>
          <p:nvPr/>
        </p:nvPicPr>
        <p:blipFill rotWithShape="1">
          <a:blip r:embed="rId2"/>
          <a:srcRect l="55541" t="25857" r="1235" b="15479"/>
          <a:stretch/>
        </p:blipFill>
        <p:spPr>
          <a:xfrm>
            <a:off x="7113722" y="1337733"/>
            <a:ext cx="5112863" cy="4722104"/>
          </a:xfrm>
          <a:prstGeom prst="rect">
            <a:avLst/>
          </a:prstGeom>
        </p:spPr>
      </p:pic>
    </p:spTree>
    <p:extLst>
      <p:ext uri="{BB962C8B-B14F-4D97-AF65-F5344CB8AC3E}">
        <p14:creationId xmlns:p14="http://schemas.microsoft.com/office/powerpoint/2010/main" val="705127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Defining a “</a:t>
            </a:r>
            <a:r>
              <a:rPr lang="en-US" b="1" i="1" dirty="0" err="1" smtClean="0"/>
              <a:t>gis</a:t>
            </a:r>
            <a:r>
              <a:rPr lang="en-US" b="1" i="1" dirty="0" smtClean="0"/>
              <a:t>”</a:t>
            </a:r>
            <a:r>
              <a:rPr lang="en-US" dirty="0" smtClean="0"/>
              <a:t>?</a:t>
            </a:r>
            <a:endParaRPr lang="en-US" dirty="0"/>
          </a:p>
        </p:txBody>
      </p:sp>
      <p:sp>
        <p:nvSpPr>
          <p:cNvPr id="3" name="Content Placeholder 2"/>
          <p:cNvSpPr>
            <a:spLocks noGrp="1"/>
          </p:cNvSpPr>
          <p:nvPr>
            <p:ph idx="1"/>
          </p:nvPr>
        </p:nvSpPr>
        <p:spPr>
          <a:xfrm>
            <a:off x="685801" y="1744996"/>
            <a:ext cx="10906931" cy="4320726"/>
          </a:xfrm>
        </p:spPr>
        <p:txBody>
          <a:bodyPr>
            <a:normAutofit lnSpcReduction="10000"/>
          </a:bodyPr>
          <a:lstStyle/>
          <a:p>
            <a:r>
              <a:rPr lang="en-US" sz="4000" b="1" i="1" dirty="0" smtClean="0"/>
              <a:t>“GIS” is a </a:t>
            </a:r>
            <a:r>
              <a:rPr lang="en-US" sz="4000" b="1" i="1" dirty="0" smtClean="0">
                <a:solidFill>
                  <a:srgbClr val="FFFF00"/>
                </a:solidFill>
              </a:rPr>
              <a:t>Toolbox</a:t>
            </a:r>
          </a:p>
          <a:p>
            <a:pPr marL="914400" lvl="2" indent="0">
              <a:lnSpc>
                <a:spcPct val="150000"/>
              </a:lnSpc>
              <a:buNone/>
            </a:pPr>
            <a:r>
              <a:rPr lang="en-US" sz="4000" b="1" dirty="0" smtClean="0"/>
              <a:t>A </a:t>
            </a:r>
            <a:r>
              <a:rPr lang="en-US" sz="4000" b="1" dirty="0"/>
              <a:t>powerful set of </a:t>
            </a:r>
            <a:r>
              <a:rPr lang="en-US" sz="4000" b="1" dirty="0">
                <a:solidFill>
                  <a:srgbClr val="FFFF00"/>
                </a:solidFill>
              </a:rPr>
              <a:t>tools</a:t>
            </a:r>
            <a:r>
              <a:rPr lang="en-US" sz="4000" b="1" dirty="0"/>
              <a:t> for </a:t>
            </a:r>
            <a:r>
              <a:rPr lang="en-US" sz="4000" b="1" dirty="0">
                <a:solidFill>
                  <a:srgbClr val="FFFF00"/>
                </a:solidFill>
              </a:rPr>
              <a:t>storing</a:t>
            </a:r>
            <a:r>
              <a:rPr lang="en-US" sz="4000" b="1" dirty="0"/>
              <a:t> </a:t>
            </a:r>
            <a:r>
              <a:rPr lang="en-US" sz="4000" b="1" dirty="0" smtClean="0"/>
              <a:t>and </a:t>
            </a:r>
            <a:r>
              <a:rPr lang="en-US" sz="4000" b="1" dirty="0" smtClean="0">
                <a:solidFill>
                  <a:srgbClr val="FFFF00"/>
                </a:solidFill>
              </a:rPr>
              <a:t>retrieving</a:t>
            </a:r>
            <a:r>
              <a:rPr lang="en-US" sz="4000" b="1" dirty="0"/>
              <a:t>, </a:t>
            </a:r>
            <a:r>
              <a:rPr lang="en-US" sz="4000" b="1" dirty="0" smtClean="0">
                <a:solidFill>
                  <a:srgbClr val="FFFF00"/>
                </a:solidFill>
              </a:rPr>
              <a:t>transforming</a:t>
            </a:r>
            <a:r>
              <a:rPr lang="en-US" sz="4000" b="1" dirty="0" smtClean="0"/>
              <a:t> </a:t>
            </a:r>
            <a:r>
              <a:rPr lang="en-US" sz="4000" b="1" dirty="0"/>
              <a:t>and </a:t>
            </a:r>
            <a:r>
              <a:rPr lang="en-US" sz="4000" b="1" dirty="0">
                <a:solidFill>
                  <a:srgbClr val="FFFF00"/>
                </a:solidFill>
              </a:rPr>
              <a:t>displaying</a:t>
            </a:r>
            <a:r>
              <a:rPr lang="en-US" sz="4000" b="1" dirty="0"/>
              <a:t> spatial data from </a:t>
            </a:r>
            <a:r>
              <a:rPr lang="en-US" sz="4000" b="1" dirty="0" smtClean="0"/>
              <a:t>the </a:t>
            </a:r>
            <a:r>
              <a:rPr lang="en-US" sz="4000" b="1" dirty="0"/>
              <a:t>real world for a particular set of </a:t>
            </a:r>
            <a:r>
              <a:rPr lang="en-US" sz="4000" b="1" dirty="0" smtClean="0"/>
              <a:t>purposes. </a:t>
            </a:r>
            <a:endParaRPr lang="en-US" sz="2800" dirty="0"/>
          </a:p>
        </p:txBody>
      </p:sp>
    </p:spTree>
    <p:extLst>
      <p:ext uri="{BB962C8B-B14F-4D97-AF65-F5344CB8AC3E}">
        <p14:creationId xmlns:p14="http://schemas.microsoft.com/office/powerpoint/2010/main" val="137088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err="1" smtClean="0">
                <a:latin typeface="+mn-lt"/>
              </a:rPr>
              <a:t>Contd</a:t>
            </a:r>
            <a:r>
              <a:rPr lang="en-US" dirty="0" smtClean="0">
                <a:latin typeface="+mn-lt"/>
              </a:rPr>
              <a:t>…</a:t>
            </a:r>
            <a:endParaRPr lang="en-US" dirty="0">
              <a:latin typeface="+mn-lt"/>
            </a:endParaRPr>
          </a:p>
        </p:txBody>
      </p:sp>
      <p:sp>
        <p:nvSpPr>
          <p:cNvPr id="3" name="Content Placeholder 2"/>
          <p:cNvSpPr>
            <a:spLocks noGrp="1"/>
          </p:cNvSpPr>
          <p:nvPr>
            <p:ph idx="1"/>
          </p:nvPr>
        </p:nvSpPr>
        <p:spPr>
          <a:xfrm>
            <a:off x="685801" y="1797803"/>
            <a:ext cx="10906931" cy="4500393"/>
          </a:xfrm>
        </p:spPr>
        <p:txBody>
          <a:bodyPr>
            <a:normAutofit fontScale="85000" lnSpcReduction="20000"/>
          </a:bodyPr>
          <a:lstStyle/>
          <a:p>
            <a:pPr>
              <a:lnSpc>
                <a:spcPct val="150000"/>
              </a:lnSpc>
            </a:pPr>
            <a:r>
              <a:rPr lang="en-US" sz="4000" b="1" i="1" dirty="0" smtClean="0"/>
              <a:t>“GIS” is an </a:t>
            </a:r>
            <a:r>
              <a:rPr lang="en-US" sz="4000" b="1" i="1" dirty="0" smtClean="0">
                <a:solidFill>
                  <a:srgbClr val="FFFF00"/>
                </a:solidFill>
              </a:rPr>
              <a:t>Information </a:t>
            </a:r>
            <a:r>
              <a:rPr lang="en-US" sz="4000" b="1" i="1" dirty="0">
                <a:solidFill>
                  <a:srgbClr val="FFFF00"/>
                </a:solidFill>
              </a:rPr>
              <a:t>System</a:t>
            </a:r>
            <a:endParaRPr lang="en-US" sz="4000" b="1" i="1" dirty="0" smtClean="0">
              <a:solidFill>
                <a:srgbClr val="FFFF00"/>
              </a:solidFill>
            </a:endParaRPr>
          </a:p>
          <a:p>
            <a:pPr marL="914400" lvl="2" indent="0">
              <a:lnSpc>
                <a:spcPct val="150000"/>
              </a:lnSpc>
              <a:buNone/>
            </a:pPr>
            <a:r>
              <a:rPr lang="en-US" sz="4000" b="1" dirty="0" smtClean="0"/>
              <a:t>A </a:t>
            </a:r>
            <a:r>
              <a:rPr lang="en-US" sz="4000" b="1" dirty="0"/>
              <a:t>special case of information system where the </a:t>
            </a:r>
            <a:r>
              <a:rPr lang="en-US" sz="4000" b="1" dirty="0" smtClean="0">
                <a:solidFill>
                  <a:srgbClr val="FFFF00"/>
                </a:solidFill>
              </a:rPr>
              <a:t>database</a:t>
            </a:r>
            <a:r>
              <a:rPr lang="en-US" sz="4000" b="1" dirty="0" smtClean="0"/>
              <a:t> </a:t>
            </a:r>
            <a:r>
              <a:rPr lang="en-US" sz="4000" b="1" dirty="0"/>
              <a:t>consists of </a:t>
            </a:r>
            <a:r>
              <a:rPr lang="en-US" sz="4000" b="1" dirty="0">
                <a:solidFill>
                  <a:srgbClr val="FFFF00"/>
                </a:solidFill>
              </a:rPr>
              <a:t>observations</a:t>
            </a:r>
            <a:r>
              <a:rPr lang="en-US" sz="4000" b="1" dirty="0"/>
              <a:t> on </a:t>
            </a:r>
            <a:r>
              <a:rPr lang="en-US" sz="4000" b="1" dirty="0">
                <a:solidFill>
                  <a:srgbClr val="FFFF00"/>
                </a:solidFill>
              </a:rPr>
              <a:t>spatially </a:t>
            </a:r>
            <a:r>
              <a:rPr lang="en-US" sz="4000" b="1" dirty="0" smtClean="0">
                <a:solidFill>
                  <a:srgbClr val="FFFF00"/>
                </a:solidFill>
              </a:rPr>
              <a:t>distributed </a:t>
            </a:r>
            <a:r>
              <a:rPr lang="en-US" sz="4000" b="1" dirty="0">
                <a:solidFill>
                  <a:srgbClr val="FFFF00"/>
                </a:solidFill>
              </a:rPr>
              <a:t>features</a:t>
            </a:r>
            <a:r>
              <a:rPr lang="en-US" sz="4000" b="1" dirty="0"/>
              <a:t>, </a:t>
            </a:r>
            <a:r>
              <a:rPr lang="en-US" sz="4000" b="1" dirty="0">
                <a:solidFill>
                  <a:srgbClr val="FFFF00"/>
                </a:solidFill>
              </a:rPr>
              <a:t>activities</a:t>
            </a:r>
            <a:r>
              <a:rPr lang="en-US" sz="4000" b="1" dirty="0"/>
              <a:t> or </a:t>
            </a:r>
            <a:r>
              <a:rPr lang="en-US" sz="4000" b="1" dirty="0">
                <a:solidFill>
                  <a:srgbClr val="FFFF00"/>
                </a:solidFill>
              </a:rPr>
              <a:t>events</a:t>
            </a:r>
            <a:r>
              <a:rPr lang="en-US" sz="4000" b="1" dirty="0"/>
              <a:t>, which </a:t>
            </a:r>
            <a:r>
              <a:rPr lang="en-US" sz="4000" b="1" dirty="0" smtClean="0"/>
              <a:t>are </a:t>
            </a:r>
            <a:r>
              <a:rPr lang="en-US" sz="4000" b="1" dirty="0"/>
              <a:t>definable in space as </a:t>
            </a:r>
            <a:r>
              <a:rPr lang="en-US" sz="4000" b="1" dirty="0">
                <a:solidFill>
                  <a:srgbClr val="FFFF00"/>
                </a:solidFill>
              </a:rPr>
              <a:t>points</a:t>
            </a:r>
            <a:r>
              <a:rPr lang="en-US" sz="4000" b="1" dirty="0"/>
              <a:t>, </a:t>
            </a:r>
            <a:r>
              <a:rPr lang="en-US" sz="4000" b="1" dirty="0">
                <a:solidFill>
                  <a:srgbClr val="FFFF00"/>
                </a:solidFill>
              </a:rPr>
              <a:t>lines</a:t>
            </a:r>
            <a:r>
              <a:rPr lang="en-US" sz="4000" b="1" dirty="0"/>
              <a:t> or </a:t>
            </a:r>
            <a:r>
              <a:rPr lang="en-US" sz="4000" b="1" dirty="0">
                <a:solidFill>
                  <a:srgbClr val="FFFF00"/>
                </a:solidFill>
              </a:rPr>
              <a:t>areas </a:t>
            </a:r>
            <a:r>
              <a:rPr lang="en-US" sz="4000" b="1" dirty="0" smtClean="0"/>
              <a:t>(</a:t>
            </a:r>
            <a:r>
              <a:rPr lang="en-US" sz="4000" b="1" dirty="0"/>
              <a:t>i.e. feature model) </a:t>
            </a:r>
            <a:endParaRPr lang="en-US" sz="2800" dirty="0"/>
          </a:p>
        </p:txBody>
      </p:sp>
    </p:spTree>
    <p:extLst>
      <p:ext uri="{BB962C8B-B14F-4D97-AF65-F5344CB8AC3E}">
        <p14:creationId xmlns:p14="http://schemas.microsoft.com/office/powerpoint/2010/main" val="3025576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253140"/>
            <a:ext cx="10131425" cy="1456267"/>
          </a:xfrm>
        </p:spPr>
        <p:txBody>
          <a:bodyPr/>
          <a:lstStyle/>
          <a:p>
            <a:pPr lvl="2" algn="l" defTabSz="457200" rtl="0">
              <a:spcBef>
                <a:spcPct val="0"/>
              </a:spcBef>
            </a:pPr>
            <a:r>
              <a:rPr lang="en-US" sz="4000" b="1" dirty="0"/>
              <a:t>The Feature </a:t>
            </a:r>
            <a:r>
              <a:rPr lang="en-US" sz="4000" b="1" dirty="0" smtClean="0"/>
              <a:t>Model</a:t>
            </a:r>
            <a:endParaRPr lang="en-US" dirty="0">
              <a:latin typeface="+mn-lt"/>
            </a:endParaRPr>
          </a:p>
        </p:txBody>
      </p:sp>
      <p:sp>
        <p:nvSpPr>
          <p:cNvPr id="3" name="Content Placeholder 2"/>
          <p:cNvSpPr>
            <a:spLocks noGrp="1"/>
          </p:cNvSpPr>
          <p:nvPr>
            <p:ph idx="1"/>
          </p:nvPr>
        </p:nvSpPr>
        <p:spPr>
          <a:xfrm>
            <a:off x="685801" y="1410343"/>
            <a:ext cx="10906931" cy="5027335"/>
          </a:xfrm>
        </p:spPr>
        <p:txBody>
          <a:bodyPr>
            <a:noAutofit/>
          </a:bodyPr>
          <a:lstStyle/>
          <a:p>
            <a:pPr marL="571500" lvl="2" indent="-571500">
              <a:lnSpc>
                <a:spcPct val="160000"/>
              </a:lnSpc>
            </a:pPr>
            <a:r>
              <a:rPr lang="en-US" sz="2800" b="1" dirty="0" smtClean="0"/>
              <a:t>Divides </a:t>
            </a:r>
            <a:r>
              <a:rPr lang="en-US" sz="2800" b="1" dirty="0"/>
              <a:t>a mapped landscape into </a:t>
            </a:r>
            <a:r>
              <a:rPr lang="en-US" sz="2800" b="1" dirty="0">
                <a:solidFill>
                  <a:srgbClr val="FFFF00"/>
                </a:solidFill>
              </a:rPr>
              <a:t>features</a:t>
            </a:r>
            <a:r>
              <a:rPr lang="en-US" sz="2800" b="1" dirty="0"/>
              <a:t>, that </a:t>
            </a:r>
            <a:r>
              <a:rPr lang="en-US" sz="2800" b="1" dirty="0" smtClean="0"/>
              <a:t>can </a:t>
            </a:r>
            <a:r>
              <a:rPr lang="en-US" sz="2800" b="1" dirty="0"/>
              <a:t>be </a:t>
            </a:r>
            <a:r>
              <a:rPr lang="en-US" sz="2800" b="1" dirty="0">
                <a:solidFill>
                  <a:srgbClr val="FFFF00"/>
                </a:solidFill>
              </a:rPr>
              <a:t>points</a:t>
            </a:r>
            <a:r>
              <a:rPr lang="en-US" sz="2800" b="1" dirty="0"/>
              <a:t>, </a:t>
            </a:r>
            <a:r>
              <a:rPr lang="en-US" sz="2800" b="1" dirty="0">
                <a:solidFill>
                  <a:srgbClr val="FFFF00"/>
                </a:solidFill>
              </a:rPr>
              <a:t>lines</a:t>
            </a:r>
            <a:r>
              <a:rPr lang="en-US" sz="2800" b="1" dirty="0"/>
              <a:t>, or </a:t>
            </a:r>
            <a:r>
              <a:rPr lang="en-US" sz="2800" b="1" dirty="0">
                <a:solidFill>
                  <a:srgbClr val="FFFF00"/>
                </a:solidFill>
              </a:rPr>
              <a:t>areas/polygons</a:t>
            </a:r>
          </a:p>
          <a:p>
            <a:pPr marL="571500" lvl="2" indent="-571500">
              <a:lnSpc>
                <a:spcPct val="160000"/>
              </a:lnSpc>
            </a:pPr>
            <a:r>
              <a:rPr lang="en-US" sz="2800" b="1" dirty="0" smtClean="0"/>
              <a:t>Using </a:t>
            </a:r>
            <a:r>
              <a:rPr lang="en-US" sz="2800" b="1" dirty="0"/>
              <a:t>a GIS involves capturing the </a:t>
            </a:r>
            <a:r>
              <a:rPr lang="en-US" sz="2800" b="1" dirty="0">
                <a:solidFill>
                  <a:srgbClr val="FFFF00"/>
                </a:solidFill>
              </a:rPr>
              <a:t>spatial </a:t>
            </a:r>
            <a:r>
              <a:rPr lang="en-US" sz="2800" b="1" dirty="0" smtClean="0">
                <a:solidFill>
                  <a:srgbClr val="FFFF00"/>
                </a:solidFill>
              </a:rPr>
              <a:t>distribution </a:t>
            </a:r>
            <a:r>
              <a:rPr lang="en-US" sz="2800" b="1" dirty="0"/>
              <a:t>of </a:t>
            </a:r>
            <a:r>
              <a:rPr lang="en-US" sz="2800" b="1" dirty="0">
                <a:solidFill>
                  <a:srgbClr val="FFFF00"/>
                </a:solidFill>
              </a:rPr>
              <a:t>features</a:t>
            </a:r>
            <a:r>
              <a:rPr lang="en-US" sz="2800" b="1" dirty="0"/>
              <a:t> by </a:t>
            </a:r>
            <a:r>
              <a:rPr lang="en-US" sz="2800" b="1" dirty="0">
                <a:solidFill>
                  <a:srgbClr val="FFFF00"/>
                </a:solidFill>
              </a:rPr>
              <a:t>measurements</a:t>
            </a:r>
            <a:r>
              <a:rPr lang="en-US" sz="2800" b="1" dirty="0"/>
              <a:t> of the </a:t>
            </a:r>
            <a:r>
              <a:rPr lang="en-US" sz="2800" b="1" dirty="0" smtClean="0"/>
              <a:t>world </a:t>
            </a:r>
            <a:r>
              <a:rPr lang="en-US" sz="2800" b="1" dirty="0"/>
              <a:t>or of maps</a:t>
            </a:r>
          </a:p>
          <a:p>
            <a:pPr marL="571500" lvl="2" indent="-571500">
              <a:lnSpc>
                <a:spcPct val="160000"/>
              </a:lnSpc>
            </a:pPr>
            <a:r>
              <a:rPr lang="en-US" sz="2800" b="1" dirty="0" smtClean="0"/>
              <a:t>Almost </a:t>
            </a:r>
            <a:r>
              <a:rPr lang="en-US" sz="2800" b="1" dirty="0"/>
              <a:t>all </a:t>
            </a:r>
            <a:r>
              <a:rPr lang="en-US" sz="2800" b="1" dirty="0">
                <a:solidFill>
                  <a:srgbClr val="FFFF00"/>
                </a:solidFill>
              </a:rPr>
              <a:t>human activity </a:t>
            </a:r>
            <a:r>
              <a:rPr lang="en-US" sz="2800" b="1" dirty="0"/>
              <a:t>and </a:t>
            </a:r>
            <a:r>
              <a:rPr lang="en-US" sz="2800" b="1" dirty="0" smtClean="0">
                <a:solidFill>
                  <a:srgbClr val="FFFF00"/>
                </a:solidFill>
              </a:rPr>
              <a:t>natural phenomena </a:t>
            </a:r>
            <a:r>
              <a:rPr lang="en-US" sz="2800" b="1" dirty="0"/>
              <a:t>are </a:t>
            </a:r>
            <a:r>
              <a:rPr lang="en-US" sz="2800" b="1" dirty="0">
                <a:solidFill>
                  <a:srgbClr val="FFFF00"/>
                </a:solidFill>
              </a:rPr>
              <a:t>spatially distributed,</a:t>
            </a:r>
            <a:r>
              <a:rPr lang="en-US" sz="2800" b="1" dirty="0"/>
              <a:t> and so can </a:t>
            </a:r>
            <a:r>
              <a:rPr lang="en-US" sz="2800" b="1" dirty="0" smtClean="0"/>
              <a:t>be </a:t>
            </a:r>
            <a:r>
              <a:rPr lang="en-US" sz="2800" b="1" dirty="0"/>
              <a:t>studied in GIS</a:t>
            </a:r>
          </a:p>
          <a:p>
            <a:pPr marL="571500" lvl="2" indent="-571500">
              <a:lnSpc>
                <a:spcPct val="160000"/>
              </a:lnSpc>
            </a:pPr>
            <a:r>
              <a:rPr lang="en-US" sz="2800" b="1" dirty="0" smtClean="0"/>
              <a:t>A </a:t>
            </a:r>
            <a:r>
              <a:rPr lang="en-US" sz="2800" b="1" dirty="0"/>
              <a:t>GIS uses </a:t>
            </a:r>
            <a:r>
              <a:rPr lang="en-US" sz="2800" b="1" dirty="0">
                <a:solidFill>
                  <a:srgbClr val="FFFF00"/>
                </a:solidFill>
              </a:rPr>
              <a:t>map features </a:t>
            </a:r>
            <a:r>
              <a:rPr lang="en-US" sz="2800" b="1" dirty="0"/>
              <a:t>to </a:t>
            </a:r>
            <a:r>
              <a:rPr lang="en-US" sz="2800" b="1" dirty="0">
                <a:solidFill>
                  <a:srgbClr val="FFFF00"/>
                </a:solidFill>
              </a:rPr>
              <a:t>manage data</a:t>
            </a:r>
            <a:endParaRPr lang="en-US" sz="2000" dirty="0">
              <a:solidFill>
                <a:srgbClr val="FFFF00"/>
              </a:solidFill>
            </a:endParaRPr>
          </a:p>
        </p:txBody>
      </p:sp>
    </p:spTree>
    <p:extLst>
      <p:ext uri="{BB962C8B-B14F-4D97-AF65-F5344CB8AC3E}">
        <p14:creationId xmlns:p14="http://schemas.microsoft.com/office/powerpoint/2010/main" val="4128048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253140"/>
            <a:ext cx="10131425" cy="1456267"/>
          </a:xfrm>
        </p:spPr>
        <p:txBody>
          <a:bodyPr/>
          <a:lstStyle/>
          <a:p>
            <a:pPr lvl="2" algn="l" defTabSz="457200" rtl="0">
              <a:spcBef>
                <a:spcPct val="0"/>
              </a:spcBef>
            </a:pPr>
            <a:r>
              <a:rPr lang="en-US" sz="4000" b="1" dirty="0" smtClean="0"/>
              <a:t>Features</a:t>
            </a:r>
            <a:endParaRPr lang="en-US" dirty="0">
              <a:latin typeface="+mn-lt"/>
            </a:endParaRPr>
          </a:p>
        </p:txBody>
      </p:sp>
      <p:pic>
        <p:nvPicPr>
          <p:cNvPr id="4" name="Picture 3"/>
          <p:cNvPicPr>
            <a:picLocks noChangeAspect="1"/>
          </p:cNvPicPr>
          <p:nvPr/>
        </p:nvPicPr>
        <p:blipFill rotWithShape="1">
          <a:blip r:embed="rId3"/>
          <a:srcRect l="3125" t="13939" r="1085" b="9641"/>
          <a:stretch/>
        </p:blipFill>
        <p:spPr>
          <a:xfrm>
            <a:off x="1193369" y="1338057"/>
            <a:ext cx="10073898" cy="5519943"/>
          </a:xfrm>
          <a:prstGeom prst="rect">
            <a:avLst/>
          </a:prstGeom>
        </p:spPr>
      </p:pic>
    </p:spTree>
    <p:extLst>
      <p:ext uri="{BB962C8B-B14F-4D97-AF65-F5344CB8AC3E}">
        <p14:creationId xmlns:p14="http://schemas.microsoft.com/office/powerpoint/2010/main" val="7619576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0" name="Oval 10"/>
          <p:cNvSpPr>
            <a:spLocks noChangeArrowheads="1"/>
          </p:cNvSpPr>
          <p:nvPr/>
        </p:nvSpPr>
        <p:spPr bwMode="auto">
          <a:xfrm>
            <a:off x="3106738" y="1570038"/>
            <a:ext cx="2349500" cy="1358900"/>
          </a:xfrm>
          <a:prstGeom prst="ellipse">
            <a:avLst/>
          </a:prstGeom>
          <a:gradFill rotWithShape="0">
            <a:gsLst>
              <a:gs pos="0">
                <a:srgbClr val="C0FEF9"/>
              </a:gs>
              <a:gs pos="100000">
                <a:srgbClr val="C0FEF9">
                  <a:gamma/>
                  <a:shade val="78824"/>
                  <a:invGamma/>
                </a:srgbClr>
              </a:gs>
            </a:gsLst>
            <a:lin ang="27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49" name="Rectangle 69"/>
          <p:cNvSpPr>
            <a:spLocks noChangeArrowheads="1"/>
          </p:cNvSpPr>
          <p:nvPr/>
        </p:nvSpPr>
        <p:spPr bwMode="auto">
          <a:xfrm>
            <a:off x="3494089" y="1949450"/>
            <a:ext cx="1463675"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2800" b="1">
                <a:solidFill>
                  <a:srgbClr val="000000"/>
                </a:solidFill>
              </a:rPr>
              <a:t>Decision</a:t>
            </a:r>
            <a:endParaRPr lang="en-US" sz="2800">
              <a:solidFill>
                <a:srgbClr val="000000"/>
              </a:solidFill>
            </a:endParaRPr>
          </a:p>
        </p:txBody>
      </p:sp>
      <p:sp>
        <p:nvSpPr>
          <p:cNvPr id="20495" name="Arc 15"/>
          <p:cNvSpPr>
            <a:spLocks/>
          </p:cNvSpPr>
          <p:nvPr/>
        </p:nvSpPr>
        <p:spPr bwMode="auto">
          <a:xfrm>
            <a:off x="9080500" y="2590800"/>
            <a:ext cx="711200" cy="711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0800" cap="rnd">
            <a:solidFill>
              <a:schemeClr val="hlink"/>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6" name="Arc 16"/>
          <p:cNvSpPr>
            <a:spLocks/>
          </p:cNvSpPr>
          <p:nvPr/>
        </p:nvSpPr>
        <p:spPr bwMode="auto">
          <a:xfrm rot="5400000">
            <a:off x="9124950" y="4970463"/>
            <a:ext cx="711200" cy="711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0800" cap="rnd">
            <a:solidFill>
              <a:schemeClr val="hlink"/>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7" name="Freeform 17"/>
          <p:cNvSpPr>
            <a:spLocks/>
          </p:cNvSpPr>
          <p:nvPr/>
        </p:nvSpPr>
        <p:spPr bwMode="auto">
          <a:xfrm>
            <a:off x="5276850" y="6472238"/>
            <a:ext cx="1519238" cy="127000"/>
          </a:xfrm>
          <a:custGeom>
            <a:avLst/>
            <a:gdLst>
              <a:gd name="T0" fmla="*/ 0 w 957"/>
              <a:gd name="T1" fmla="*/ 0 h 80"/>
              <a:gd name="T2" fmla="*/ 128 w 957"/>
              <a:gd name="T3" fmla="*/ 42 h 80"/>
              <a:gd name="T4" fmla="*/ 252 w 957"/>
              <a:gd name="T5" fmla="*/ 67 h 80"/>
              <a:gd name="T6" fmla="*/ 349 w 957"/>
              <a:gd name="T7" fmla="*/ 73 h 80"/>
              <a:gd name="T8" fmla="*/ 480 w 957"/>
              <a:gd name="T9" fmla="*/ 79 h 80"/>
              <a:gd name="T10" fmla="*/ 670 w 957"/>
              <a:gd name="T11" fmla="*/ 69 h 80"/>
              <a:gd name="T12" fmla="*/ 833 w 957"/>
              <a:gd name="T13" fmla="*/ 48 h 80"/>
              <a:gd name="T14" fmla="*/ 956 w 957"/>
              <a:gd name="T15" fmla="*/ 15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7" h="80">
                <a:moveTo>
                  <a:pt x="0" y="0"/>
                </a:moveTo>
                <a:lnTo>
                  <a:pt x="128" y="42"/>
                </a:lnTo>
                <a:lnTo>
                  <a:pt x="252" y="67"/>
                </a:lnTo>
                <a:lnTo>
                  <a:pt x="349" y="73"/>
                </a:lnTo>
                <a:lnTo>
                  <a:pt x="480" y="79"/>
                </a:lnTo>
                <a:lnTo>
                  <a:pt x="670" y="69"/>
                </a:lnTo>
                <a:lnTo>
                  <a:pt x="833" y="48"/>
                </a:lnTo>
                <a:lnTo>
                  <a:pt x="956" y="15"/>
                </a:lnTo>
              </a:path>
            </a:pathLst>
          </a:custGeom>
          <a:noFill/>
          <a:ln w="50800" cap="rnd" cmpd="sng">
            <a:solidFill>
              <a:schemeClr val="hlink"/>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8" name="Arc 18"/>
          <p:cNvSpPr>
            <a:spLocks/>
          </p:cNvSpPr>
          <p:nvPr/>
        </p:nvSpPr>
        <p:spPr bwMode="auto">
          <a:xfrm rot="10800000">
            <a:off x="2298700" y="4889500"/>
            <a:ext cx="711200" cy="711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0800" cap="rnd">
            <a:solidFill>
              <a:schemeClr val="hlink"/>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9" name="Arc 19"/>
          <p:cNvSpPr>
            <a:spLocks/>
          </p:cNvSpPr>
          <p:nvPr/>
        </p:nvSpPr>
        <p:spPr bwMode="auto">
          <a:xfrm rot="16200000">
            <a:off x="2184400" y="2590800"/>
            <a:ext cx="711200" cy="711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0800" cap="rnd">
            <a:solidFill>
              <a:schemeClr val="hlink"/>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00" name="Freeform 20"/>
          <p:cNvSpPr>
            <a:spLocks/>
          </p:cNvSpPr>
          <p:nvPr/>
        </p:nvSpPr>
        <p:spPr bwMode="auto">
          <a:xfrm>
            <a:off x="5321300" y="1598613"/>
            <a:ext cx="1519238" cy="127000"/>
          </a:xfrm>
          <a:custGeom>
            <a:avLst/>
            <a:gdLst>
              <a:gd name="T0" fmla="*/ 956 w 957"/>
              <a:gd name="T1" fmla="*/ 79 h 80"/>
              <a:gd name="T2" fmla="*/ 828 w 957"/>
              <a:gd name="T3" fmla="*/ 37 h 80"/>
              <a:gd name="T4" fmla="*/ 704 w 957"/>
              <a:gd name="T5" fmla="*/ 12 h 80"/>
              <a:gd name="T6" fmla="*/ 607 w 957"/>
              <a:gd name="T7" fmla="*/ 6 h 80"/>
              <a:gd name="T8" fmla="*/ 476 w 957"/>
              <a:gd name="T9" fmla="*/ 0 h 80"/>
              <a:gd name="T10" fmla="*/ 286 w 957"/>
              <a:gd name="T11" fmla="*/ 10 h 80"/>
              <a:gd name="T12" fmla="*/ 123 w 957"/>
              <a:gd name="T13" fmla="*/ 31 h 80"/>
              <a:gd name="T14" fmla="*/ 0 w 957"/>
              <a:gd name="T15" fmla="*/ 64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7" h="80">
                <a:moveTo>
                  <a:pt x="956" y="79"/>
                </a:moveTo>
                <a:lnTo>
                  <a:pt x="828" y="37"/>
                </a:lnTo>
                <a:lnTo>
                  <a:pt x="704" y="12"/>
                </a:lnTo>
                <a:lnTo>
                  <a:pt x="607" y="6"/>
                </a:lnTo>
                <a:lnTo>
                  <a:pt x="476" y="0"/>
                </a:lnTo>
                <a:lnTo>
                  <a:pt x="286" y="10"/>
                </a:lnTo>
                <a:lnTo>
                  <a:pt x="123" y="31"/>
                </a:lnTo>
                <a:lnTo>
                  <a:pt x="0" y="64"/>
                </a:lnTo>
              </a:path>
            </a:pathLst>
          </a:custGeom>
          <a:noFill/>
          <a:ln w="50800" cap="rnd" cmpd="sng">
            <a:solidFill>
              <a:schemeClr val="hlink"/>
            </a:solidFill>
            <a:prstDash val="sysDot"/>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501" name="Rectangle 21"/>
          <p:cNvSpPr>
            <a:spLocks noChangeArrowheads="1"/>
          </p:cNvSpPr>
          <p:nvPr/>
        </p:nvSpPr>
        <p:spPr bwMode="auto">
          <a:xfrm>
            <a:off x="5080000" y="3276601"/>
            <a:ext cx="2141538"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lnSpc>
                <a:spcPct val="80000"/>
              </a:lnSpc>
            </a:pPr>
            <a:r>
              <a:rPr lang="en-US" sz="4800" b="1">
                <a:solidFill>
                  <a:srgbClr val="0033CC"/>
                </a:solidFill>
                <a:effectLst>
                  <a:outerShdw blurRad="38100" dist="38100" dir="2700000" algn="tl">
                    <a:srgbClr val="C0C0C0"/>
                  </a:outerShdw>
                </a:effectLst>
              </a:rPr>
              <a:t>GIS </a:t>
            </a:r>
          </a:p>
          <a:p>
            <a:pPr algn="ctr">
              <a:lnSpc>
                <a:spcPct val="80000"/>
              </a:lnSpc>
            </a:pPr>
            <a:r>
              <a:rPr lang="en-US" sz="4800" b="1">
                <a:solidFill>
                  <a:srgbClr val="0033CC"/>
                </a:solidFill>
                <a:effectLst>
                  <a:outerShdw blurRad="38100" dist="38100" dir="2700000" algn="tl">
                    <a:srgbClr val="C0C0C0"/>
                  </a:outerShdw>
                </a:effectLst>
              </a:rPr>
              <a:t>Process</a:t>
            </a:r>
            <a:endParaRPr lang="en-US" sz="4800" b="1">
              <a:solidFill>
                <a:srgbClr val="FAFD00"/>
              </a:solidFill>
              <a:effectLst>
                <a:outerShdw blurRad="38100" dist="38100" dir="2700000" algn="tl">
                  <a:srgbClr val="C0C0C0"/>
                </a:outerShdw>
              </a:effectLst>
            </a:endParaRPr>
          </a:p>
        </p:txBody>
      </p:sp>
      <p:sp>
        <p:nvSpPr>
          <p:cNvPr id="20517" name="Oval 37"/>
          <p:cNvSpPr>
            <a:spLocks noChangeArrowheads="1"/>
          </p:cNvSpPr>
          <p:nvPr/>
        </p:nvSpPr>
        <p:spPr bwMode="auto">
          <a:xfrm>
            <a:off x="2032000" y="3365500"/>
            <a:ext cx="2349500" cy="1358900"/>
          </a:xfrm>
          <a:prstGeom prst="ellipse">
            <a:avLst/>
          </a:prstGeom>
          <a:gradFill rotWithShape="0">
            <a:gsLst>
              <a:gs pos="0">
                <a:srgbClr val="C0FEF9"/>
              </a:gs>
              <a:gs pos="100000">
                <a:srgbClr val="C0FEF9">
                  <a:gamma/>
                  <a:shade val="78824"/>
                  <a:invGamma/>
                </a:srgbClr>
              </a:gs>
            </a:gsLst>
            <a:lin ang="27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18" name="Rectangle 38"/>
          <p:cNvSpPr>
            <a:spLocks noChangeArrowheads="1"/>
          </p:cNvSpPr>
          <p:nvPr/>
        </p:nvSpPr>
        <p:spPr bwMode="auto">
          <a:xfrm>
            <a:off x="2563814" y="3749675"/>
            <a:ext cx="1290637"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2800" b="1">
                <a:solidFill>
                  <a:srgbClr val="000000"/>
                </a:solidFill>
              </a:rPr>
              <a:t>Output</a:t>
            </a:r>
            <a:endParaRPr lang="en-US" sz="2800">
              <a:solidFill>
                <a:srgbClr val="000000"/>
              </a:solidFill>
            </a:endParaRPr>
          </a:p>
        </p:txBody>
      </p:sp>
      <p:sp>
        <p:nvSpPr>
          <p:cNvPr id="20521" name="Oval 41"/>
          <p:cNvSpPr>
            <a:spLocks noChangeArrowheads="1"/>
          </p:cNvSpPr>
          <p:nvPr/>
        </p:nvSpPr>
        <p:spPr bwMode="auto">
          <a:xfrm>
            <a:off x="3108325" y="5068888"/>
            <a:ext cx="2349500" cy="1358900"/>
          </a:xfrm>
          <a:prstGeom prst="ellipse">
            <a:avLst/>
          </a:prstGeom>
          <a:gradFill rotWithShape="0">
            <a:gsLst>
              <a:gs pos="0">
                <a:srgbClr val="C0FEF9"/>
              </a:gs>
              <a:gs pos="100000">
                <a:srgbClr val="C0FEF9">
                  <a:gamma/>
                  <a:shade val="78824"/>
                  <a:invGamma/>
                </a:srgbClr>
              </a:gs>
            </a:gsLst>
            <a:lin ang="27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22" name="Rectangle 42"/>
          <p:cNvSpPr>
            <a:spLocks noChangeArrowheads="1"/>
          </p:cNvSpPr>
          <p:nvPr/>
        </p:nvSpPr>
        <p:spPr bwMode="auto">
          <a:xfrm>
            <a:off x="3567114" y="5224464"/>
            <a:ext cx="1385887"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2800" b="1">
                <a:solidFill>
                  <a:srgbClr val="000000"/>
                </a:solidFill>
              </a:rPr>
              <a:t>GIS</a:t>
            </a:r>
            <a:br>
              <a:rPr lang="en-US" sz="2800" b="1">
                <a:solidFill>
                  <a:srgbClr val="000000"/>
                </a:solidFill>
              </a:rPr>
            </a:br>
            <a:r>
              <a:rPr lang="en-US" sz="2800" b="1">
                <a:solidFill>
                  <a:srgbClr val="000000"/>
                </a:solidFill>
              </a:rPr>
              <a:t>analysis</a:t>
            </a:r>
            <a:endParaRPr lang="en-US" sz="2800">
              <a:solidFill>
                <a:srgbClr val="000000"/>
              </a:solidFill>
            </a:endParaRPr>
          </a:p>
        </p:txBody>
      </p:sp>
      <p:sp>
        <p:nvSpPr>
          <p:cNvPr id="20530" name="Oval 50"/>
          <p:cNvSpPr>
            <a:spLocks noChangeArrowheads="1"/>
          </p:cNvSpPr>
          <p:nvPr/>
        </p:nvSpPr>
        <p:spPr bwMode="auto">
          <a:xfrm>
            <a:off x="6546850" y="5038725"/>
            <a:ext cx="2408238" cy="1417638"/>
          </a:xfrm>
          <a:prstGeom prst="ellipse">
            <a:avLst/>
          </a:prstGeom>
          <a:gradFill rotWithShape="0">
            <a:gsLst>
              <a:gs pos="0">
                <a:srgbClr val="C0FEF9"/>
              </a:gs>
              <a:gs pos="100000">
                <a:srgbClr val="C0FEF9">
                  <a:gamma/>
                  <a:shade val="78824"/>
                  <a:invGamma/>
                </a:srgbClr>
              </a:gs>
            </a:gsLst>
            <a:lin ang="27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31" name="Rectangle 51"/>
          <p:cNvSpPr>
            <a:spLocks noChangeArrowheads="1"/>
          </p:cNvSpPr>
          <p:nvPr/>
        </p:nvSpPr>
        <p:spPr bwMode="auto">
          <a:xfrm>
            <a:off x="6619875" y="5173664"/>
            <a:ext cx="2287588"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2800" b="1">
                <a:solidFill>
                  <a:srgbClr val="000000"/>
                </a:solidFill>
              </a:rPr>
              <a:t>Import or</a:t>
            </a:r>
            <a:br>
              <a:rPr lang="en-US" sz="2800" b="1">
                <a:solidFill>
                  <a:srgbClr val="000000"/>
                </a:solidFill>
              </a:rPr>
            </a:br>
            <a:r>
              <a:rPr lang="en-US" sz="2800" b="1">
                <a:solidFill>
                  <a:srgbClr val="000000"/>
                </a:solidFill>
              </a:rPr>
              <a:t>build datasets</a:t>
            </a:r>
            <a:endParaRPr lang="en-US" sz="2800">
              <a:solidFill>
                <a:srgbClr val="000000"/>
              </a:solidFill>
            </a:endParaRPr>
          </a:p>
        </p:txBody>
      </p:sp>
      <p:sp>
        <p:nvSpPr>
          <p:cNvPr id="20534" name="Oval 54">
            <a:hlinkClick r:id="" action="ppaction://noaction" highlightClick="1"/>
          </p:cNvPr>
          <p:cNvSpPr>
            <a:spLocks noChangeArrowheads="1"/>
          </p:cNvSpPr>
          <p:nvPr/>
        </p:nvSpPr>
        <p:spPr bwMode="auto">
          <a:xfrm>
            <a:off x="7594600" y="3365500"/>
            <a:ext cx="2349500" cy="1358900"/>
          </a:xfrm>
          <a:prstGeom prst="ellipse">
            <a:avLst/>
          </a:prstGeom>
          <a:gradFill rotWithShape="0">
            <a:gsLst>
              <a:gs pos="0">
                <a:srgbClr val="C0FEF9"/>
              </a:gs>
              <a:gs pos="100000">
                <a:srgbClr val="C0FEF9">
                  <a:gamma/>
                  <a:shade val="78824"/>
                  <a:invGamma/>
                </a:srgbClr>
              </a:gs>
            </a:gsLst>
            <a:lin ang="27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35" name="Rectangle 55"/>
          <p:cNvSpPr>
            <a:spLocks noChangeArrowheads="1"/>
          </p:cNvSpPr>
          <p:nvPr/>
        </p:nvSpPr>
        <p:spPr bwMode="auto">
          <a:xfrm>
            <a:off x="7918482" y="3609976"/>
            <a:ext cx="1739836" cy="951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2800" b="1">
                <a:solidFill>
                  <a:srgbClr val="000000"/>
                </a:solidFill>
              </a:rPr>
              <a:t>Define GIS</a:t>
            </a:r>
            <a:br>
              <a:rPr lang="en-US" sz="2800" b="1">
                <a:solidFill>
                  <a:srgbClr val="000000"/>
                </a:solidFill>
              </a:rPr>
            </a:br>
            <a:r>
              <a:rPr lang="en-US" sz="2800" b="1">
                <a:solidFill>
                  <a:srgbClr val="000000"/>
                </a:solidFill>
              </a:rPr>
              <a:t>criteria</a:t>
            </a:r>
            <a:endParaRPr lang="en-US" sz="2800">
              <a:solidFill>
                <a:srgbClr val="000000"/>
              </a:solidFill>
            </a:endParaRPr>
          </a:p>
        </p:txBody>
      </p:sp>
      <p:sp>
        <p:nvSpPr>
          <p:cNvPr id="20538" name="Oval 58"/>
          <p:cNvSpPr>
            <a:spLocks noChangeArrowheads="1"/>
          </p:cNvSpPr>
          <p:nvPr/>
        </p:nvSpPr>
        <p:spPr bwMode="auto">
          <a:xfrm>
            <a:off x="6705600" y="1601788"/>
            <a:ext cx="2349500" cy="1358900"/>
          </a:xfrm>
          <a:prstGeom prst="ellipse">
            <a:avLst/>
          </a:prstGeom>
          <a:gradFill rotWithShape="0">
            <a:gsLst>
              <a:gs pos="0">
                <a:srgbClr val="C0FEF9"/>
              </a:gs>
              <a:gs pos="100000">
                <a:srgbClr val="C0FEF9">
                  <a:gamma/>
                  <a:shade val="78824"/>
                  <a:invGamma/>
                </a:srgbClr>
              </a:gs>
            </a:gsLst>
            <a:lin ang="27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39" name="Rectangle 59"/>
          <p:cNvSpPr>
            <a:spLocks noChangeArrowheads="1"/>
          </p:cNvSpPr>
          <p:nvPr/>
        </p:nvSpPr>
        <p:spPr bwMode="auto">
          <a:xfrm>
            <a:off x="7127876" y="1757364"/>
            <a:ext cx="1465263"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2800" b="1">
                <a:solidFill>
                  <a:srgbClr val="000000"/>
                </a:solidFill>
              </a:rPr>
              <a:t>Define</a:t>
            </a:r>
            <a:br>
              <a:rPr lang="en-US" sz="2800" b="1">
                <a:solidFill>
                  <a:srgbClr val="000000"/>
                </a:solidFill>
              </a:rPr>
            </a:br>
            <a:r>
              <a:rPr lang="en-US" sz="2800" b="1">
                <a:solidFill>
                  <a:srgbClr val="000000"/>
                </a:solidFill>
              </a:rPr>
              <a:t>problem</a:t>
            </a:r>
            <a:endParaRPr lang="en-US" sz="2800">
              <a:solidFill>
                <a:srgbClr val="000000"/>
              </a:solidFill>
            </a:endParaRPr>
          </a:p>
        </p:txBody>
      </p:sp>
      <p:grpSp>
        <p:nvGrpSpPr>
          <p:cNvPr id="20586" name="Group 106"/>
          <p:cNvGrpSpPr>
            <a:grpSpLocks/>
          </p:cNvGrpSpPr>
          <p:nvPr/>
        </p:nvGrpSpPr>
        <p:grpSpPr bwMode="auto">
          <a:xfrm>
            <a:off x="2027238" y="1566863"/>
            <a:ext cx="7912100" cy="5029200"/>
            <a:chOff x="416" y="1085"/>
            <a:chExt cx="4984" cy="3168"/>
          </a:xfrm>
        </p:grpSpPr>
        <p:sp>
          <p:nvSpPr>
            <p:cNvPr id="20567" name="Oval 87"/>
            <p:cNvSpPr>
              <a:spLocks noChangeArrowheads="1"/>
            </p:cNvSpPr>
            <p:nvPr/>
          </p:nvSpPr>
          <p:spPr bwMode="auto">
            <a:xfrm>
              <a:off x="1093" y="1085"/>
              <a:ext cx="1480" cy="856"/>
            </a:xfrm>
            <a:prstGeom prst="ellipse">
              <a:avLst/>
            </a:prstGeom>
            <a:gradFill rotWithShape="0">
              <a:gsLst>
                <a:gs pos="0">
                  <a:srgbClr val="C0FEF9"/>
                </a:gs>
                <a:gs pos="100000">
                  <a:srgbClr val="C0FEF9">
                    <a:gamma/>
                    <a:shade val="78824"/>
                    <a:invGamma/>
                  </a:srgbClr>
                </a:gs>
              </a:gsLst>
              <a:lin ang="27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68" name="Rectangle 88"/>
            <p:cNvSpPr>
              <a:spLocks noChangeArrowheads="1"/>
            </p:cNvSpPr>
            <p:nvPr/>
          </p:nvSpPr>
          <p:spPr bwMode="auto">
            <a:xfrm>
              <a:off x="1337" y="1324"/>
              <a:ext cx="922"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2800" b="1">
                  <a:solidFill>
                    <a:srgbClr val="000000"/>
                  </a:solidFill>
                </a:rPr>
                <a:t>Decision</a:t>
              </a:r>
              <a:endParaRPr lang="en-US" sz="2800">
                <a:solidFill>
                  <a:srgbClr val="000000"/>
                </a:solidFill>
              </a:endParaRPr>
            </a:p>
          </p:txBody>
        </p:sp>
        <p:sp>
          <p:nvSpPr>
            <p:cNvPr id="20569" name="Arc 89"/>
            <p:cNvSpPr>
              <a:spLocks/>
            </p:cNvSpPr>
            <p:nvPr/>
          </p:nvSpPr>
          <p:spPr bwMode="auto">
            <a:xfrm>
              <a:off x="4856" y="1728"/>
              <a:ext cx="448" cy="44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0800" cap="rnd">
              <a:solidFill>
                <a:schemeClr val="hlink"/>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70" name="Arc 90"/>
            <p:cNvSpPr>
              <a:spLocks/>
            </p:cNvSpPr>
            <p:nvPr/>
          </p:nvSpPr>
          <p:spPr bwMode="auto">
            <a:xfrm rot="5400000">
              <a:off x="4884" y="3227"/>
              <a:ext cx="448" cy="44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0800" cap="rnd">
              <a:solidFill>
                <a:schemeClr val="hlink"/>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71" name="Freeform 91"/>
            <p:cNvSpPr>
              <a:spLocks/>
            </p:cNvSpPr>
            <p:nvPr/>
          </p:nvSpPr>
          <p:spPr bwMode="auto">
            <a:xfrm>
              <a:off x="2460" y="4173"/>
              <a:ext cx="957" cy="80"/>
            </a:xfrm>
            <a:custGeom>
              <a:avLst/>
              <a:gdLst>
                <a:gd name="T0" fmla="*/ 0 w 957"/>
                <a:gd name="T1" fmla="*/ 0 h 80"/>
                <a:gd name="T2" fmla="*/ 128 w 957"/>
                <a:gd name="T3" fmla="*/ 42 h 80"/>
                <a:gd name="T4" fmla="*/ 252 w 957"/>
                <a:gd name="T5" fmla="*/ 67 h 80"/>
                <a:gd name="T6" fmla="*/ 349 w 957"/>
                <a:gd name="T7" fmla="*/ 73 h 80"/>
                <a:gd name="T8" fmla="*/ 480 w 957"/>
                <a:gd name="T9" fmla="*/ 79 h 80"/>
                <a:gd name="T10" fmla="*/ 670 w 957"/>
                <a:gd name="T11" fmla="*/ 69 h 80"/>
                <a:gd name="T12" fmla="*/ 833 w 957"/>
                <a:gd name="T13" fmla="*/ 48 h 80"/>
                <a:gd name="T14" fmla="*/ 956 w 957"/>
                <a:gd name="T15" fmla="*/ 15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7" h="80">
                  <a:moveTo>
                    <a:pt x="0" y="0"/>
                  </a:moveTo>
                  <a:lnTo>
                    <a:pt x="128" y="42"/>
                  </a:lnTo>
                  <a:lnTo>
                    <a:pt x="252" y="67"/>
                  </a:lnTo>
                  <a:lnTo>
                    <a:pt x="349" y="73"/>
                  </a:lnTo>
                  <a:lnTo>
                    <a:pt x="480" y="79"/>
                  </a:lnTo>
                  <a:lnTo>
                    <a:pt x="670" y="69"/>
                  </a:lnTo>
                  <a:lnTo>
                    <a:pt x="833" y="48"/>
                  </a:lnTo>
                  <a:lnTo>
                    <a:pt x="956" y="15"/>
                  </a:lnTo>
                </a:path>
              </a:pathLst>
            </a:custGeom>
            <a:noFill/>
            <a:ln w="50800" cap="rnd" cmpd="sng">
              <a:solidFill>
                <a:schemeClr val="hlink"/>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572" name="Arc 92"/>
            <p:cNvSpPr>
              <a:spLocks/>
            </p:cNvSpPr>
            <p:nvPr/>
          </p:nvSpPr>
          <p:spPr bwMode="auto">
            <a:xfrm rot="10800000">
              <a:off x="584" y="3176"/>
              <a:ext cx="448" cy="44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0800" cap="rnd">
              <a:solidFill>
                <a:schemeClr val="hlink"/>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73" name="Arc 93"/>
            <p:cNvSpPr>
              <a:spLocks/>
            </p:cNvSpPr>
            <p:nvPr/>
          </p:nvSpPr>
          <p:spPr bwMode="auto">
            <a:xfrm rot="16200000">
              <a:off x="512" y="1728"/>
              <a:ext cx="448" cy="44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0800" cap="rnd">
              <a:solidFill>
                <a:schemeClr val="hlink"/>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74" name="Freeform 94"/>
            <p:cNvSpPr>
              <a:spLocks/>
            </p:cNvSpPr>
            <p:nvPr/>
          </p:nvSpPr>
          <p:spPr bwMode="auto">
            <a:xfrm>
              <a:off x="2488" y="1103"/>
              <a:ext cx="957" cy="80"/>
            </a:xfrm>
            <a:custGeom>
              <a:avLst/>
              <a:gdLst>
                <a:gd name="T0" fmla="*/ 956 w 957"/>
                <a:gd name="T1" fmla="*/ 79 h 80"/>
                <a:gd name="T2" fmla="*/ 828 w 957"/>
                <a:gd name="T3" fmla="*/ 37 h 80"/>
                <a:gd name="T4" fmla="*/ 704 w 957"/>
                <a:gd name="T5" fmla="*/ 12 h 80"/>
                <a:gd name="T6" fmla="*/ 607 w 957"/>
                <a:gd name="T7" fmla="*/ 6 h 80"/>
                <a:gd name="T8" fmla="*/ 476 w 957"/>
                <a:gd name="T9" fmla="*/ 0 h 80"/>
                <a:gd name="T10" fmla="*/ 286 w 957"/>
                <a:gd name="T11" fmla="*/ 10 h 80"/>
                <a:gd name="T12" fmla="*/ 123 w 957"/>
                <a:gd name="T13" fmla="*/ 31 h 80"/>
                <a:gd name="T14" fmla="*/ 0 w 957"/>
                <a:gd name="T15" fmla="*/ 64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7" h="80">
                  <a:moveTo>
                    <a:pt x="956" y="79"/>
                  </a:moveTo>
                  <a:lnTo>
                    <a:pt x="828" y="37"/>
                  </a:lnTo>
                  <a:lnTo>
                    <a:pt x="704" y="12"/>
                  </a:lnTo>
                  <a:lnTo>
                    <a:pt x="607" y="6"/>
                  </a:lnTo>
                  <a:lnTo>
                    <a:pt x="476" y="0"/>
                  </a:lnTo>
                  <a:lnTo>
                    <a:pt x="286" y="10"/>
                  </a:lnTo>
                  <a:lnTo>
                    <a:pt x="123" y="31"/>
                  </a:lnTo>
                  <a:lnTo>
                    <a:pt x="0" y="64"/>
                  </a:lnTo>
                </a:path>
              </a:pathLst>
            </a:custGeom>
            <a:noFill/>
            <a:ln w="50800" cap="rnd" cmpd="sng">
              <a:solidFill>
                <a:schemeClr val="hlink"/>
              </a:solidFill>
              <a:prstDash val="sysDot"/>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575" name="Rectangle 95"/>
            <p:cNvSpPr>
              <a:spLocks noChangeArrowheads="1"/>
            </p:cNvSpPr>
            <p:nvPr/>
          </p:nvSpPr>
          <p:spPr bwMode="auto">
            <a:xfrm>
              <a:off x="2336" y="2160"/>
              <a:ext cx="1349" cy="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lnSpc>
                  <a:spcPct val="80000"/>
                </a:lnSpc>
              </a:pPr>
              <a:r>
                <a:rPr lang="en-US" sz="4800" b="1">
                  <a:solidFill>
                    <a:srgbClr val="0033CC"/>
                  </a:solidFill>
                  <a:effectLst>
                    <a:outerShdw blurRad="38100" dist="38100" dir="2700000" algn="tl">
                      <a:srgbClr val="C0C0C0"/>
                    </a:outerShdw>
                  </a:effectLst>
                </a:rPr>
                <a:t>GIS </a:t>
              </a:r>
            </a:p>
            <a:p>
              <a:pPr algn="ctr">
                <a:lnSpc>
                  <a:spcPct val="80000"/>
                </a:lnSpc>
              </a:pPr>
              <a:r>
                <a:rPr lang="en-US" sz="4800" b="1">
                  <a:solidFill>
                    <a:srgbClr val="0033CC"/>
                  </a:solidFill>
                  <a:effectLst>
                    <a:outerShdw blurRad="38100" dist="38100" dir="2700000" algn="tl">
                      <a:srgbClr val="C0C0C0"/>
                    </a:outerShdw>
                  </a:effectLst>
                </a:rPr>
                <a:t>Process</a:t>
              </a:r>
              <a:endParaRPr lang="en-US" sz="4800" b="1">
                <a:solidFill>
                  <a:srgbClr val="FAFD00"/>
                </a:solidFill>
                <a:effectLst>
                  <a:outerShdw blurRad="38100" dist="38100" dir="2700000" algn="tl">
                    <a:srgbClr val="C0C0C0"/>
                  </a:outerShdw>
                </a:effectLst>
              </a:endParaRPr>
            </a:p>
          </p:txBody>
        </p:sp>
        <p:sp>
          <p:nvSpPr>
            <p:cNvPr id="20576" name="Oval 96"/>
            <p:cNvSpPr>
              <a:spLocks noChangeArrowheads="1"/>
            </p:cNvSpPr>
            <p:nvPr/>
          </p:nvSpPr>
          <p:spPr bwMode="auto">
            <a:xfrm>
              <a:off x="416" y="2216"/>
              <a:ext cx="1480" cy="856"/>
            </a:xfrm>
            <a:prstGeom prst="ellipse">
              <a:avLst/>
            </a:prstGeom>
            <a:gradFill rotWithShape="0">
              <a:gsLst>
                <a:gs pos="0">
                  <a:srgbClr val="C0FEF9"/>
                </a:gs>
                <a:gs pos="100000">
                  <a:srgbClr val="C0FEF9">
                    <a:gamma/>
                    <a:shade val="78824"/>
                    <a:invGamma/>
                  </a:srgbClr>
                </a:gs>
              </a:gsLst>
              <a:lin ang="27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77" name="Rectangle 97"/>
            <p:cNvSpPr>
              <a:spLocks noChangeArrowheads="1"/>
            </p:cNvSpPr>
            <p:nvPr/>
          </p:nvSpPr>
          <p:spPr bwMode="auto">
            <a:xfrm>
              <a:off x="751" y="2458"/>
              <a:ext cx="813"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2800" b="1">
                  <a:solidFill>
                    <a:srgbClr val="000000"/>
                  </a:solidFill>
                </a:rPr>
                <a:t>Output</a:t>
              </a:r>
              <a:endParaRPr lang="en-US" sz="2800">
                <a:solidFill>
                  <a:srgbClr val="000000"/>
                </a:solidFill>
              </a:endParaRPr>
            </a:p>
          </p:txBody>
        </p:sp>
        <p:sp>
          <p:nvSpPr>
            <p:cNvPr id="20578" name="Oval 98"/>
            <p:cNvSpPr>
              <a:spLocks noChangeArrowheads="1"/>
            </p:cNvSpPr>
            <p:nvPr/>
          </p:nvSpPr>
          <p:spPr bwMode="auto">
            <a:xfrm>
              <a:off x="1094" y="3289"/>
              <a:ext cx="1480" cy="856"/>
            </a:xfrm>
            <a:prstGeom prst="ellipse">
              <a:avLst/>
            </a:prstGeom>
            <a:gradFill rotWithShape="0">
              <a:gsLst>
                <a:gs pos="0">
                  <a:srgbClr val="C0FEF9"/>
                </a:gs>
                <a:gs pos="100000">
                  <a:srgbClr val="C0FEF9">
                    <a:gamma/>
                    <a:shade val="78824"/>
                    <a:invGamma/>
                  </a:srgbClr>
                </a:gs>
              </a:gsLst>
              <a:lin ang="27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79" name="Rectangle 99"/>
            <p:cNvSpPr>
              <a:spLocks noChangeArrowheads="1"/>
            </p:cNvSpPr>
            <p:nvPr/>
          </p:nvSpPr>
          <p:spPr bwMode="auto">
            <a:xfrm>
              <a:off x="1383" y="3387"/>
              <a:ext cx="873" cy="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2800" b="1">
                  <a:solidFill>
                    <a:srgbClr val="000000"/>
                  </a:solidFill>
                </a:rPr>
                <a:t>GIS</a:t>
              </a:r>
              <a:br>
                <a:rPr lang="en-US" sz="2800" b="1">
                  <a:solidFill>
                    <a:srgbClr val="000000"/>
                  </a:solidFill>
                </a:rPr>
              </a:br>
              <a:r>
                <a:rPr lang="en-US" sz="2800" b="1">
                  <a:solidFill>
                    <a:srgbClr val="000000"/>
                  </a:solidFill>
                </a:rPr>
                <a:t>analysis</a:t>
              </a:r>
              <a:endParaRPr lang="en-US" sz="2800">
                <a:solidFill>
                  <a:srgbClr val="000000"/>
                </a:solidFill>
              </a:endParaRPr>
            </a:p>
          </p:txBody>
        </p:sp>
        <p:sp>
          <p:nvSpPr>
            <p:cNvPr id="20580" name="Oval 100"/>
            <p:cNvSpPr>
              <a:spLocks noChangeArrowheads="1"/>
            </p:cNvSpPr>
            <p:nvPr/>
          </p:nvSpPr>
          <p:spPr bwMode="auto">
            <a:xfrm>
              <a:off x="3260" y="3270"/>
              <a:ext cx="1517" cy="893"/>
            </a:xfrm>
            <a:prstGeom prst="ellipse">
              <a:avLst/>
            </a:prstGeom>
            <a:gradFill rotWithShape="0">
              <a:gsLst>
                <a:gs pos="0">
                  <a:srgbClr val="C0FEF9"/>
                </a:gs>
                <a:gs pos="100000">
                  <a:srgbClr val="C0FEF9">
                    <a:gamma/>
                    <a:shade val="78824"/>
                    <a:invGamma/>
                  </a:srgbClr>
                </a:gs>
              </a:gsLst>
              <a:lin ang="27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81" name="Rectangle 101"/>
            <p:cNvSpPr>
              <a:spLocks noChangeArrowheads="1"/>
            </p:cNvSpPr>
            <p:nvPr/>
          </p:nvSpPr>
          <p:spPr bwMode="auto">
            <a:xfrm>
              <a:off x="3306" y="3355"/>
              <a:ext cx="1441" cy="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2800" b="1">
                  <a:solidFill>
                    <a:srgbClr val="000000"/>
                  </a:solidFill>
                </a:rPr>
                <a:t>Import or</a:t>
              </a:r>
              <a:br>
                <a:rPr lang="en-US" sz="2800" b="1">
                  <a:solidFill>
                    <a:srgbClr val="000000"/>
                  </a:solidFill>
                </a:rPr>
              </a:br>
              <a:r>
                <a:rPr lang="en-US" sz="2800" b="1">
                  <a:solidFill>
                    <a:srgbClr val="000000"/>
                  </a:solidFill>
                </a:rPr>
                <a:t>build datasets</a:t>
              </a:r>
              <a:endParaRPr lang="en-US" sz="2800">
                <a:solidFill>
                  <a:srgbClr val="000000"/>
                </a:solidFill>
              </a:endParaRPr>
            </a:p>
          </p:txBody>
        </p:sp>
        <p:sp>
          <p:nvSpPr>
            <p:cNvPr id="20582" name="Oval 102">
              <a:hlinkClick r:id="" action="ppaction://noaction" highlightClick="1"/>
            </p:cNvPr>
            <p:cNvSpPr>
              <a:spLocks noChangeArrowheads="1"/>
            </p:cNvSpPr>
            <p:nvPr/>
          </p:nvSpPr>
          <p:spPr bwMode="auto">
            <a:xfrm>
              <a:off x="3920" y="2216"/>
              <a:ext cx="1480" cy="856"/>
            </a:xfrm>
            <a:prstGeom prst="ellipse">
              <a:avLst/>
            </a:prstGeom>
            <a:gradFill rotWithShape="0">
              <a:gsLst>
                <a:gs pos="0">
                  <a:srgbClr val="C0FEF9"/>
                </a:gs>
                <a:gs pos="100000">
                  <a:srgbClr val="C0FEF9">
                    <a:gamma/>
                    <a:shade val="78824"/>
                    <a:invGamma/>
                  </a:srgbClr>
                </a:gs>
              </a:gsLst>
              <a:lin ang="27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83" name="Rectangle 103"/>
            <p:cNvSpPr>
              <a:spLocks noChangeArrowheads="1"/>
            </p:cNvSpPr>
            <p:nvPr/>
          </p:nvSpPr>
          <p:spPr bwMode="auto">
            <a:xfrm>
              <a:off x="4124" y="2370"/>
              <a:ext cx="1096" cy="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2800" b="1">
                  <a:solidFill>
                    <a:srgbClr val="000000"/>
                  </a:solidFill>
                </a:rPr>
                <a:t>Define GIS</a:t>
              </a:r>
              <a:br>
                <a:rPr lang="en-US" sz="2800" b="1">
                  <a:solidFill>
                    <a:srgbClr val="000000"/>
                  </a:solidFill>
                </a:rPr>
              </a:br>
              <a:r>
                <a:rPr lang="en-US" sz="2800" b="1">
                  <a:solidFill>
                    <a:srgbClr val="000000"/>
                  </a:solidFill>
                </a:rPr>
                <a:t>criteria</a:t>
              </a:r>
              <a:endParaRPr lang="en-US" sz="2800">
                <a:solidFill>
                  <a:srgbClr val="000000"/>
                </a:solidFill>
              </a:endParaRPr>
            </a:p>
          </p:txBody>
        </p:sp>
        <p:sp>
          <p:nvSpPr>
            <p:cNvPr id="20584" name="Oval 104"/>
            <p:cNvSpPr>
              <a:spLocks noChangeArrowheads="1"/>
            </p:cNvSpPr>
            <p:nvPr/>
          </p:nvSpPr>
          <p:spPr bwMode="auto">
            <a:xfrm>
              <a:off x="3360" y="1105"/>
              <a:ext cx="1480" cy="856"/>
            </a:xfrm>
            <a:prstGeom prst="ellipse">
              <a:avLst/>
            </a:prstGeom>
            <a:gradFill rotWithShape="0">
              <a:gsLst>
                <a:gs pos="0">
                  <a:srgbClr val="C0FEF9"/>
                </a:gs>
                <a:gs pos="100000">
                  <a:srgbClr val="C0FEF9">
                    <a:gamma/>
                    <a:shade val="78824"/>
                    <a:invGamma/>
                  </a:srgbClr>
                </a:gs>
              </a:gsLst>
              <a:lin ang="27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85" name="Rectangle 105"/>
            <p:cNvSpPr>
              <a:spLocks noChangeArrowheads="1"/>
            </p:cNvSpPr>
            <p:nvPr/>
          </p:nvSpPr>
          <p:spPr bwMode="auto">
            <a:xfrm>
              <a:off x="3626" y="1203"/>
              <a:ext cx="923" cy="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2800" b="1">
                  <a:solidFill>
                    <a:srgbClr val="000000"/>
                  </a:solidFill>
                </a:rPr>
                <a:t>Define</a:t>
              </a:r>
              <a:br>
                <a:rPr lang="en-US" sz="2800" b="1">
                  <a:solidFill>
                    <a:srgbClr val="000000"/>
                  </a:solidFill>
                </a:rPr>
              </a:br>
              <a:r>
                <a:rPr lang="en-US" sz="2800" b="1">
                  <a:solidFill>
                    <a:srgbClr val="000000"/>
                  </a:solidFill>
                </a:rPr>
                <a:t>problem</a:t>
              </a:r>
              <a:endParaRPr lang="en-US" sz="2800">
                <a:solidFill>
                  <a:srgbClr val="000000"/>
                </a:solidFill>
              </a:endParaRPr>
            </a:p>
          </p:txBody>
        </p:sp>
      </p:grpSp>
      <p:sp>
        <p:nvSpPr>
          <p:cNvPr id="2" name="Title 1"/>
          <p:cNvSpPr>
            <a:spLocks noGrp="1"/>
          </p:cNvSpPr>
          <p:nvPr>
            <p:ph type="title"/>
          </p:nvPr>
        </p:nvSpPr>
        <p:spPr>
          <a:xfrm>
            <a:off x="756139" y="200818"/>
            <a:ext cx="10131425" cy="1100933"/>
          </a:xfrm>
        </p:spPr>
        <p:txBody>
          <a:bodyPr/>
          <a:lstStyle/>
          <a:p>
            <a:endParaRPr lang="en-US" dirty="0"/>
          </a:p>
        </p:txBody>
      </p:sp>
    </p:spTree>
    <p:extLst>
      <p:ext uri="{BB962C8B-B14F-4D97-AF65-F5344CB8AC3E}">
        <p14:creationId xmlns:p14="http://schemas.microsoft.com/office/powerpoint/2010/main" val="19621834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538"/>
                                        </p:tgtEl>
                                        <p:attrNameLst>
                                          <p:attrName>style.visibility</p:attrName>
                                        </p:attrNameLst>
                                      </p:cBhvr>
                                      <p:to>
                                        <p:strVal val="visible"/>
                                      </p:to>
                                    </p:set>
                                  </p:childTnLst>
                                  <p:subTnLst>
                                    <p:animClr clrSpc="rgb" dir="cw">
                                      <p:cBhvr override="childStyle">
                                        <p:cTn dur="1" fill="hold" display="0" masterRel="nextClick" afterEffect="1"/>
                                        <p:tgtEl>
                                          <p:spTgt spid="20538"/>
                                        </p:tgtEl>
                                        <p:attrNameLst>
                                          <p:attrName>ppt_c</p:attrName>
                                        </p:attrNameLst>
                                      </p:cBhvr>
                                      <p:to>
                                        <a:srgbClr val="008080"/>
                                      </p:to>
                                    </p:animClr>
                                  </p:sub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0539"/>
                                        </p:tgtEl>
                                        <p:attrNameLst>
                                          <p:attrName>style.visibility</p:attrName>
                                        </p:attrNameLst>
                                      </p:cBhvr>
                                      <p:to>
                                        <p:strVal val="visible"/>
                                      </p:to>
                                    </p:set>
                                  </p:childTnLst>
                                  <p:subTnLst>
                                    <p:animClr clrSpc="rgb" dir="cw">
                                      <p:cBhvr override="childStyle">
                                        <p:cTn dur="1" fill="hold" display="0" masterRel="nextClick" afterEffect="1"/>
                                        <p:tgtEl>
                                          <p:spTgt spid="20539"/>
                                        </p:tgtEl>
                                        <p:attrNameLst>
                                          <p:attrName>ppt_c</p:attrName>
                                        </p:attrNameLst>
                                      </p:cBhvr>
                                      <p:to>
                                        <a:schemeClr val="folHlink"/>
                                      </p:to>
                                    </p:animClr>
                                  </p:sub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20495"/>
                                        </p:tgtEl>
                                        <p:attrNameLst>
                                          <p:attrName>style.visibility</p:attrName>
                                        </p:attrNameLst>
                                      </p:cBhvr>
                                      <p:to>
                                        <p:strVal val="visible"/>
                                      </p:to>
                                    </p:set>
                                  </p:childTnLst>
                                </p:cTn>
                              </p:par>
                            </p:childTnLst>
                          </p:cTn>
                        </p:par>
                        <p:par>
                          <p:cTn id="14" fill="hold" nodeType="afterGroup">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20534"/>
                                        </p:tgtEl>
                                        <p:attrNameLst>
                                          <p:attrName>style.visibility</p:attrName>
                                        </p:attrNameLst>
                                      </p:cBhvr>
                                      <p:to>
                                        <p:strVal val="visible"/>
                                      </p:to>
                                    </p:set>
                                  </p:childTnLst>
                                  <p:subTnLst>
                                    <p:animClr clrSpc="rgb" dir="cw">
                                      <p:cBhvr override="childStyle">
                                        <p:cTn dur="1" fill="hold" display="0" masterRel="nextClick" afterEffect="1"/>
                                        <p:tgtEl>
                                          <p:spTgt spid="20534"/>
                                        </p:tgtEl>
                                        <p:attrNameLst>
                                          <p:attrName>ppt_c</p:attrName>
                                        </p:attrNameLst>
                                      </p:cBhvr>
                                      <p:to>
                                        <a:srgbClr val="008080"/>
                                      </p:to>
                                    </p:animClr>
                                  </p:subTnLst>
                                </p:cTn>
                              </p:par>
                            </p:childTnLst>
                          </p:cTn>
                        </p:par>
                        <p:par>
                          <p:cTn id="17" fill="hold" nodeType="afterGroup">
                            <p:stCondLst>
                              <p:cond delay="1000"/>
                            </p:stCondLst>
                            <p:childTnLst>
                              <p:par>
                                <p:cTn id="18" presetID="1" presetClass="entr" presetSubtype="0" fill="hold" grpId="0" nodeType="afterEffect">
                                  <p:stCondLst>
                                    <p:cond delay="0"/>
                                  </p:stCondLst>
                                  <p:childTnLst>
                                    <p:set>
                                      <p:cBhvr>
                                        <p:cTn id="19" dur="1" fill="hold">
                                          <p:stCondLst>
                                            <p:cond delay="499"/>
                                          </p:stCondLst>
                                        </p:cTn>
                                        <p:tgtEl>
                                          <p:spTgt spid="20535"/>
                                        </p:tgtEl>
                                        <p:attrNameLst>
                                          <p:attrName>style.visibility</p:attrName>
                                        </p:attrNameLst>
                                      </p:cBhvr>
                                      <p:to>
                                        <p:strVal val="visible"/>
                                      </p:to>
                                    </p:set>
                                  </p:childTnLst>
                                  <p:subTnLst>
                                    <p:animClr clrSpc="rgb" dir="cw">
                                      <p:cBhvr override="childStyle">
                                        <p:cTn dur="1" fill="hold" display="0" masterRel="nextClick" afterEffect="1"/>
                                        <p:tgtEl>
                                          <p:spTgt spid="20535"/>
                                        </p:tgtEl>
                                        <p:attrNameLst>
                                          <p:attrName>ppt_c</p:attrName>
                                        </p:attrNameLst>
                                      </p:cBhvr>
                                      <p:to>
                                        <a:schemeClr val="folHlink"/>
                                      </p:to>
                                    </p:animClr>
                                  </p:sub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20496"/>
                                        </p:tgtEl>
                                        <p:attrNameLst>
                                          <p:attrName>style.visibility</p:attrName>
                                        </p:attrNameLst>
                                      </p:cBhvr>
                                      <p:to>
                                        <p:strVal val="visible"/>
                                      </p:to>
                                    </p:set>
                                  </p:childTnLst>
                                </p:cTn>
                              </p:par>
                            </p:childTnLst>
                          </p:cTn>
                        </p:par>
                        <p:par>
                          <p:cTn id="24" fill="hold" nodeType="afterGroup">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20530"/>
                                        </p:tgtEl>
                                        <p:attrNameLst>
                                          <p:attrName>style.visibility</p:attrName>
                                        </p:attrNameLst>
                                      </p:cBhvr>
                                      <p:to>
                                        <p:strVal val="visible"/>
                                      </p:to>
                                    </p:set>
                                  </p:childTnLst>
                                  <p:subTnLst>
                                    <p:animClr clrSpc="rgb" dir="cw">
                                      <p:cBhvr override="childStyle">
                                        <p:cTn dur="1" fill="hold" display="0" masterRel="nextClick" afterEffect="1"/>
                                        <p:tgtEl>
                                          <p:spTgt spid="20530"/>
                                        </p:tgtEl>
                                        <p:attrNameLst>
                                          <p:attrName>ppt_c</p:attrName>
                                        </p:attrNameLst>
                                      </p:cBhvr>
                                      <p:to>
                                        <a:srgbClr val="008080"/>
                                      </p:to>
                                    </p:animClr>
                                  </p:subTnLst>
                                </p:cTn>
                              </p:par>
                            </p:childTnLst>
                          </p:cTn>
                        </p:par>
                        <p:par>
                          <p:cTn id="27" fill="hold" nodeType="afterGroup">
                            <p:stCondLst>
                              <p:cond delay="1000"/>
                            </p:stCondLst>
                            <p:childTnLst>
                              <p:par>
                                <p:cTn id="28" presetID="1" presetClass="entr" presetSubtype="0" fill="hold" grpId="0" nodeType="afterEffect">
                                  <p:stCondLst>
                                    <p:cond delay="0"/>
                                  </p:stCondLst>
                                  <p:childTnLst>
                                    <p:set>
                                      <p:cBhvr>
                                        <p:cTn id="29" dur="1" fill="hold">
                                          <p:stCondLst>
                                            <p:cond delay="499"/>
                                          </p:stCondLst>
                                        </p:cTn>
                                        <p:tgtEl>
                                          <p:spTgt spid="20531"/>
                                        </p:tgtEl>
                                        <p:attrNameLst>
                                          <p:attrName>style.visibility</p:attrName>
                                        </p:attrNameLst>
                                      </p:cBhvr>
                                      <p:to>
                                        <p:strVal val="visible"/>
                                      </p:to>
                                    </p:set>
                                  </p:childTnLst>
                                  <p:subTnLst>
                                    <p:animClr clrSpc="rgb" dir="cw">
                                      <p:cBhvr override="childStyle">
                                        <p:cTn dur="1" fill="hold" display="0" masterRel="nextClick" afterEffect="1"/>
                                        <p:tgtEl>
                                          <p:spTgt spid="20531"/>
                                        </p:tgtEl>
                                        <p:attrNameLst>
                                          <p:attrName>ppt_c</p:attrName>
                                        </p:attrNameLst>
                                      </p:cBhvr>
                                      <p:to>
                                        <a:schemeClr val="folHlink"/>
                                      </p:to>
                                    </p:animClr>
                                  </p:sub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20497"/>
                                        </p:tgtEl>
                                        <p:attrNameLst>
                                          <p:attrName>style.visibility</p:attrName>
                                        </p:attrNameLst>
                                      </p:cBhvr>
                                      <p:to>
                                        <p:strVal val="visible"/>
                                      </p:to>
                                    </p:set>
                                  </p:childTnLst>
                                </p:cTn>
                              </p:par>
                            </p:childTnLst>
                          </p:cTn>
                        </p:par>
                        <p:par>
                          <p:cTn id="34" fill="hold" nodeType="afterGroup">
                            <p:stCondLst>
                              <p:cond delay="500"/>
                            </p:stCondLst>
                            <p:childTnLst>
                              <p:par>
                                <p:cTn id="35" presetID="1" presetClass="entr" presetSubtype="0" fill="hold" grpId="0" nodeType="afterEffect">
                                  <p:stCondLst>
                                    <p:cond delay="0"/>
                                  </p:stCondLst>
                                  <p:childTnLst>
                                    <p:set>
                                      <p:cBhvr>
                                        <p:cTn id="36" dur="1" fill="hold">
                                          <p:stCondLst>
                                            <p:cond delay="499"/>
                                          </p:stCondLst>
                                        </p:cTn>
                                        <p:tgtEl>
                                          <p:spTgt spid="20521"/>
                                        </p:tgtEl>
                                        <p:attrNameLst>
                                          <p:attrName>style.visibility</p:attrName>
                                        </p:attrNameLst>
                                      </p:cBhvr>
                                      <p:to>
                                        <p:strVal val="visible"/>
                                      </p:to>
                                    </p:set>
                                  </p:childTnLst>
                                  <p:subTnLst>
                                    <p:animClr clrSpc="rgb" dir="cw">
                                      <p:cBhvr override="childStyle">
                                        <p:cTn dur="1" fill="hold" display="0" masterRel="nextClick" afterEffect="1"/>
                                        <p:tgtEl>
                                          <p:spTgt spid="20521"/>
                                        </p:tgtEl>
                                        <p:attrNameLst>
                                          <p:attrName>ppt_c</p:attrName>
                                        </p:attrNameLst>
                                      </p:cBhvr>
                                      <p:to>
                                        <a:srgbClr val="008080"/>
                                      </p:to>
                                    </p:animClr>
                                  </p:subTnLst>
                                </p:cTn>
                              </p:par>
                            </p:childTnLst>
                          </p:cTn>
                        </p:par>
                        <p:par>
                          <p:cTn id="37" fill="hold" nodeType="afterGroup">
                            <p:stCondLst>
                              <p:cond delay="1000"/>
                            </p:stCondLst>
                            <p:childTnLst>
                              <p:par>
                                <p:cTn id="38" presetID="1" presetClass="entr" presetSubtype="0" fill="hold" grpId="0" nodeType="afterEffect">
                                  <p:stCondLst>
                                    <p:cond delay="0"/>
                                  </p:stCondLst>
                                  <p:childTnLst>
                                    <p:set>
                                      <p:cBhvr>
                                        <p:cTn id="39" dur="1" fill="hold">
                                          <p:stCondLst>
                                            <p:cond delay="499"/>
                                          </p:stCondLst>
                                        </p:cTn>
                                        <p:tgtEl>
                                          <p:spTgt spid="20522"/>
                                        </p:tgtEl>
                                        <p:attrNameLst>
                                          <p:attrName>style.visibility</p:attrName>
                                        </p:attrNameLst>
                                      </p:cBhvr>
                                      <p:to>
                                        <p:strVal val="visible"/>
                                      </p:to>
                                    </p:set>
                                  </p:childTnLst>
                                  <p:subTnLst>
                                    <p:animClr clrSpc="rgb" dir="cw">
                                      <p:cBhvr override="childStyle">
                                        <p:cTn dur="1" fill="hold" display="0" masterRel="nextClick" afterEffect="1"/>
                                        <p:tgtEl>
                                          <p:spTgt spid="20522"/>
                                        </p:tgtEl>
                                        <p:attrNameLst>
                                          <p:attrName>ppt_c</p:attrName>
                                        </p:attrNameLst>
                                      </p:cBhvr>
                                      <p:to>
                                        <a:schemeClr val="folHlink"/>
                                      </p:to>
                                    </p:animClr>
                                  </p:sub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20498"/>
                                        </p:tgtEl>
                                        <p:attrNameLst>
                                          <p:attrName>style.visibility</p:attrName>
                                        </p:attrNameLst>
                                      </p:cBhvr>
                                      <p:to>
                                        <p:strVal val="visible"/>
                                      </p:to>
                                    </p:set>
                                  </p:childTnLst>
                                </p:cTn>
                              </p:par>
                            </p:childTnLst>
                          </p:cTn>
                        </p:par>
                        <p:par>
                          <p:cTn id="44" fill="hold" nodeType="afterGroup">
                            <p:stCondLst>
                              <p:cond delay="500"/>
                            </p:stCondLst>
                            <p:childTnLst>
                              <p:par>
                                <p:cTn id="45" presetID="1" presetClass="entr" presetSubtype="0" fill="hold" grpId="0" nodeType="afterEffect">
                                  <p:stCondLst>
                                    <p:cond delay="0"/>
                                  </p:stCondLst>
                                  <p:childTnLst>
                                    <p:set>
                                      <p:cBhvr>
                                        <p:cTn id="46" dur="1" fill="hold">
                                          <p:stCondLst>
                                            <p:cond delay="499"/>
                                          </p:stCondLst>
                                        </p:cTn>
                                        <p:tgtEl>
                                          <p:spTgt spid="20517"/>
                                        </p:tgtEl>
                                        <p:attrNameLst>
                                          <p:attrName>style.visibility</p:attrName>
                                        </p:attrNameLst>
                                      </p:cBhvr>
                                      <p:to>
                                        <p:strVal val="visible"/>
                                      </p:to>
                                    </p:set>
                                  </p:childTnLst>
                                  <p:subTnLst>
                                    <p:animClr clrSpc="rgb" dir="cw">
                                      <p:cBhvr override="childStyle">
                                        <p:cTn dur="1" fill="hold" display="0" masterRel="nextClick" afterEffect="1"/>
                                        <p:tgtEl>
                                          <p:spTgt spid="20517"/>
                                        </p:tgtEl>
                                        <p:attrNameLst>
                                          <p:attrName>ppt_c</p:attrName>
                                        </p:attrNameLst>
                                      </p:cBhvr>
                                      <p:to>
                                        <a:srgbClr val="008080"/>
                                      </p:to>
                                    </p:animClr>
                                  </p:subTnLst>
                                </p:cTn>
                              </p:par>
                            </p:childTnLst>
                          </p:cTn>
                        </p:par>
                        <p:par>
                          <p:cTn id="47" fill="hold" nodeType="afterGroup">
                            <p:stCondLst>
                              <p:cond delay="1000"/>
                            </p:stCondLst>
                            <p:childTnLst>
                              <p:par>
                                <p:cTn id="48" presetID="1" presetClass="entr" presetSubtype="0" fill="hold" grpId="0" nodeType="afterEffect">
                                  <p:stCondLst>
                                    <p:cond delay="0"/>
                                  </p:stCondLst>
                                  <p:childTnLst>
                                    <p:set>
                                      <p:cBhvr>
                                        <p:cTn id="49" dur="1" fill="hold">
                                          <p:stCondLst>
                                            <p:cond delay="499"/>
                                          </p:stCondLst>
                                        </p:cTn>
                                        <p:tgtEl>
                                          <p:spTgt spid="20518"/>
                                        </p:tgtEl>
                                        <p:attrNameLst>
                                          <p:attrName>style.visibility</p:attrName>
                                        </p:attrNameLst>
                                      </p:cBhvr>
                                      <p:to>
                                        <p:strVal val="visible"/>
                                      </p:to>
                                    </p:set>
                                  </p:childTnLst>
                                  <p:subTnLst>
                                    <p:animClr clrSpc="rgb" dir="cw">
                                      <p:cBhvr override="childStyle">
                                        <p:cTn dur="1" fill="hold" display="0" masterRel="nextClick" afterEffect="1"/>
                                        <p:tgtEl>
                                          <p:spTgt spid="20518"/>
                                        </p:tgtEl>
                                        <p:attrNameLst>
                                          <p:attrName>ppt_c</p:attrName>
                                        </p:attrNameLst>
                                      </p:cBhvr>
                                      <p:to>
                                        <a:schemeClr val="folHlink"/>
                                      </p:to>
                                    </p:animClr>
                                  </p:sub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20499"/>
                                        </p:tgtEl>
                                        <p:attrNameLst>
                                          <p:attrName>style.visibility</p:attrName>
                                        </p:attrNameLst>
                                      </p:cBhvr>
                                      <p:to>
                                        <p:strVal val="visible"/>
                                      </p:to>
                                    </p:set>
                                  </p:childTnLst>
                                </p:cTn>
                              </p:par>
                            </p:childTnLst>
                          </p:cTn>
                        </p:par>
                        <p:par>
                          <p:cTn id="54" fill="hold" nodeType="afterGroup">
                            <p:stCondLst>
                              <p:cond delay="500"/>
                            </p:stCondLst>
                            <p:childTnLst>
                              <p:par>
                                <p:cTn id="55" presetID="1" presetClass="entr" presetSubtype="0" fill="hold" grpId="0" nodeType="afterEffect">
                                  <p:stCondLst>
                                    <p:cond delay="0"/>
                                  </p:stCondLst>
                                  <p:childTnLst>
                                    <p:set>
                                      <p:cBhvr>
                                        <p:cTn id="56" dur="1" fill="hold">
                                          <p:stCondLst>
                                            <p:cond delay="499"/>
                                          </p:stCondLst>
                                        </p:cTn>
                                        <p:tgtEl>
                                          <p:spTgt spid="20490"/>
                                        </p:tgtEl>
                                        <p:attrNameLst>
                                          <p:attrName>style.visibility</p:attrName>
                                        </p:attrNameLst>
                                      </p:cBhvr>
                                      <p:to>
                                        <p:strVal val="visible"/>
                                      </p:to>
                                    </p:set>
                                  </p:childTnLst>
                                </p:cTn>
                              </p:par>
                            </p:childTnLst>
                          </p:cTn>
                        </p:par>
                        <p:par>
                          <p:cTn id="57" fill="hold" nodeType="afterGroup">
                            <p:stCondLst>
                              <p:cond delay="1000"/>
                            </p:stCondLst>
                            <p:childTnLst>
                              <p:par>
                                <p:cTn id="58" presetID="1" presetClass="entr" presetSubtype="0" fill="hold" grpId="0" nodeType="afterEffect">
                                  <p:stCondLst>
                                    <p:cond delay="0"/>
                                  </p:stCondLst>
                                  <p:childTnLst>
                                    <p:set>
                                      <p:cBhvr>
                                        <p:cTn id="59" dur="1" fill="hold">
                                          <p:stCondLst>
                                            <p:cond delay="499"/>
                                          </p:stCondLst>
                                        </p:cTn>
                                        <p:tgtEl>
                                          <p:spTgt spid="20549"/>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499"/>
                                          </p:stCondLst>
                                        </p:cTn>
                                        <p:tgtEl>
                                          <p:spTgt spid="20500"/>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nodeType="clickEffect">
                                  <p:stCondLst>
                                    <p:cond delay="0"/>
                                  </p:stCondLst>
                                  <p:childTnLst>
                                    <p:set>
                                      <p:cBhvr>
                                        <p:cTn id="67" dur="1" fill="hold">
                                          <p:stCondLst>
                                            <p:cond delay="499"/>
                                          </p:stCondLst>
                                        </p:cTn>
                                        <p:tgtEl>
                                          <p:spTgt spid="205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0" grpId="0" animBg="1"/>
      <p:bldP spid="20549" grpId="0" autoUpdateAnimBg="0"/>
      <p:bldP spid="20495" grpId="0" animBg="1"/>
      <p:bldP spid="20496" grpId="0" animBg="1"/>
      <p:bldP spid="20497" grpId="0" animBg="1"/>
      <p:bldP spid="20498" grpId="0" animBg="1"/>
      <p:bldP spid="20499" grpId="0" animBg="1"/>
      <p:bldP spid="20500" grpId="0" animBg="1"/>
      <p:bldP spid="20517" grpId="0" animBg="1"/>
      <p:bldP spid="20518" grpId="0" autoUpdateAnimBg="0"/>
      <p:bldP spid="20521" grpId="0" animBg="1"/>
      <p:bldP spid="20522" grpId="0" autoUpdateAnimBg="0"/>
      <p:bldP spid="20530" grpId="0" animBg="1"/>
      <p:bldP spid="20531" grpId="0" autoUpdateAnimBg="0"/>
      <p:bldP spid="20534" grpId="0" animBg="1"/>
      <p:bldP spid="20535" grpId="0" autoUpdateAnimBg="0"/>
      <p:bldP spid="20538" grpId="0" animBg="1"/>
      <p:bldP spid="20539"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latin typeface="+mn-lt"/>
              </a:rPr>
              <a:t>Gis</a:t>
            </a:r>
            <a:r>
              <a:rPr lang="en-US" b="1" dirty="0" smtClean="0">
                <a:latin typeface="+mn-lt"/>
              </a:rPr>
              <a:t> in the planning process</a:t>
            </a:r>
            <a:endParaRPr lang="en-US" b="1" dirty="0">
              <a:latin typeface="+mn-lt"/>
            </a:endParaRPr>
          </a:p>
        </p:txBody>
      </p:sp>
      <p:pic>
        <p:nvPicPr>
          <p:cNvPr id="4" name="Content Placeholder 3"/>
          <p:cNvPicPr>
            <a:picLocks noGrp="1" noChangeAspect="1"/>
          </p:cNvPicPr>
          <p:nvPr>
            <p:ph idx="1"/>
          </p:nvPr>
        </p:nvPicPr>
        <p:blipFill rotWithShape="1">
          <a:blip r:embed="rId2"/>
          <a:srcRect t="11973"/>
          <a:stretch/>
        </p:blipFill>
        <p:spPr>
          <a:xfrm>
            <a:off x="685801" y="0"/>
            <a:ext cx="10476854" cy="6925647"/>
          </a:xfrm>
          <a:prstGeom prst="rect">
            <a:avLst/>
          </a:prstGeom>
        </p:spPr>
      </p:pic>
    </p:spTree>
    <p:extLst>
      <p:ext uri="{BB962C8B-B14F-4D97-AF65-F5344CB8AC3E}">
        <p14:creationId xmlns:p14="http://schemas.microsoft.com/office/powerpoint/2010/main" val="3887131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131425" cy="1456267"/>
          </a:xfrm>
        </p:spPr>
        <p:txBody>
          <a:bodyPr/>
          <a:lstStyle/>
          <a:p>
            <a:r>
              <a:rPr lang="en-US" b="1" dirty="0" err="1" smtClean="0">
                <a:latin typeface="+mn-lt"/>
              </a:rPr>
              <a:t>Gis</a:t>
            </a:r>
            <a:r>
              <a:rPr lang="en-US" b="1" dirty="0" smtClean="0">
                <a:latin typeface="+mn-lt"/>
              </a:rPr>
              <a:t> work in layers</a:t>
            </a:r>
            <a:endParaRPr lang="en-US" b="1" dirty="0">
              <a:latin typeface="+mn-lt"/>
            </a:endParaRPr>
          </a:p>
        </p:txBody>
      </p:sp>
      <p:pic>
        <p:nvPicPr>
          <p:cNvPr id="5" name="Content Placeholder 4"/>
          <p:cNvPicPr>
            <a:picLocks noGrp="1" noChangeAspect="1"/>
          </p:cNvPicPr>
          <p:nvPr>
            <p:ph idx="1"/>
          </p:nvPr>
        </p:nvPicPr>
        <p:blipFill>
          <a:blip r:embed="rId2"/>
          <a:stretch>
            <a:fillRect/>
          </a:stretch>
        </p:blipFill>
        <p:spPr>
          <a:xfrm>
            <a:off x="-1" y="0"/>
            <a:ext cx="12192001" cy="6889087"/>
          </a:xfrm>
          <a:prstGeom prst="rect">
            <a:avLst/>
          </a:prstGeom>
        </p:spPr>
      </p:pic>
    </p:spTree>
    <p:extLst>
      <p:ext uri="{BB962C8B-B14F-4D97-AF65-F5344CB8AC3E}">
        <p14:creationId xmlns:p14="http://schemas.microsoft.com/office/powerpoint/2010/main" val="3432399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131425" cy="1456267"/>
          </a:xfrm>
        </p:spPr>
        <p:txBody>
          <a:bodyPr/>
          <a:lstStyle/>
          <a:p>
            <a:r>
              <a:rPr lang="en-US" b="1" dirty="0">
                <a:latin typeface="+mn-lt"/>
              </a:rPr>
              <a:t>Capabilities of GIS / Subsystems</a:t>
            </a:r>
            <a:endParaRPr lang="en-US" b="1" dirty="0" smtClean="0">
              <a:latin typeface="+mn-lt"/>
            </a:endParaRPr>
          </a:p>
        </p:txBody>
      </p:sp>
      <p:sp>
        <p:nvSpPr>
          <p:cNvPr id="3" name="Content Placeholder 2"/>
          <p:cNvSpPr>
            <a:spLocks noGrp="1"/>
          </p:cNvSpPr>
          <p:nvPr>
            <p:ph idx="1"/>
          </p:nvPr>
        </p:nvSpPr>
        <p:spPr>
          <a:xfrm>
            <a:off x="685801" y="991893"/>
            <a:ext cx="11030918" cy="5949482"/>
          </a:xfrm>
        </p:spPr>
        <p:txBody>
          <a:bodyPr>
            <a:normAutofit fontScale="92500" lnSpcReduction="10000"/>
          </a:bodyPr>
          <a:lstStyle/>
          <a:p>
            <a:pPr marL="0" indent="0">
              <a:lnSpc>
                <a:spcPct val="150000"/>
              </a:lnSpc>
              <a:buNone/>
            </a:pPr>
            <a:r>
              <a:rPr lang="en-US" sz="2400" b="1" i="1" dirty="0" smtClean="0">
                <a:solidFill>
                  <a:srgbClr val="FFFF00"/>
                </a:solidFill>
              </a:rPr>
              <a:t>• </a:t>
            </a:r>
            <a:r>
              <a:rPr lang="en-US" sz="2400" b="1" i="1" dirty="0">
                <a:solidFill>
                  <a:srgbClr val="FFFF00"/>
                </a:solidFill>
              </a:rPr>
              <a:t>Data Input Subsystem</a:t>
            </a:r>
          </a:p>
          <a:p>
            <a:pPr marL="0" indent="0">
              <a:lnSpc>
                <a:spcPct val="150000"/>
              </a:lnSpc>
              <a:buNone/>
            </a:pPr>
            <a:r>
              <a:rPr lang="en-US" sz="2400" dirty="0" smtClean="0"/>
              <a:t>	– </a:t>
            </a:r>
            <a:r>
              <a:rPr lang="en-US" sz="2400" dirty="0"/>
              <a:t>Converts existing data into GIS format</a:t>
            </a:r>
          </a:p>
          <a:p>
            <a:pPr marL="0" indent="0">
              <a:lnSpc>
                <a:spcPct val="150000"/>
              </a:lnSpc>
              <a:buNone/>
            </a:pPr>
            <a:r>
              <a:rPr lang="en-US" sz="2400" dirty="0" smtClean="0"/>
              <a:t>	– </a:t>
            </a:r>
            <a:r>
              <a:rPr lang="en-US" sz="2400" dirty="0"/>
              <a:t>Common sources of data include paper </a:t>
            </a:r>
            <a:r>
              <a:rPr lang="en-US" sz="2400" dirty="0" smtClean="0"/>
              <a:t>maps</a:t>
            </a:r>
            <a:r>
              <a:rPr lang="en-US" sz="2400" dirty="0"/>
              <a:t>, tables of attributes, aerial photos, and </a:t>
            </a:r>
            <a:r>
              <a:rPr lang="en-US" sz="2400" dirty="0" smtClean="0"/>
              <a:t>			satellite </a:t>
            </a:r>
            <a:r>
              <a:rPr lang="en-US" sz="2400" dirty="0"/>
              <a:t>imageries</a:t>
            </a:r>
          </a:p>
          <a:p>
            <a:pPr marL="0" indent="0">
              <a:lnSpc>
                <a:spcPct val="150000"/>
              </a:lnSpc>
              <a:buNone/>
            </a:pPr>
            <a:r>
              <a:rPr lang="en-US" sz="2400" dirty="0" smtClean="0"/>
              <a:t>	– </a:t>
            </a:r>
            <a:r>
              <a:rPr lang="en-US" sz="2400" dirty="0"/>
              <a:t>A major bottleneck in the implementation of </a:t>
            </a:r>
            <a:r>
              <a:rPr lang="en-US" sz="2400" dirty="0" smtClean="0"/>
              <a:t>GIS</a:t>
            </a:r>
            <a:endParaRPr lang="en-US" sz="2400" dirty="0"/>
          </a:p>
          <a:p>
            <a:pPr marL="0" indent="0">
              <a:lnSpc>
                <a:spcPct val="150000"/>
              </a:lnSpc>
              <a:buNone/>
            </a:pPr>
            <a:r>
              <a:rPr lang="en-US" sz="2400" b="1" i="1" dirty="0" smtClean="0">
                <a:solidFill>
                  <a:srgbClr val="FFFF00"/>
                </a:solidFill>
              </a:rPr>
              <a:t>• </a:t>
            </a:r>
            <a:r>
              <a:rPr lang="en-US" sz="2400" b="1" i="1" dirty="0">
                <a:solidFill>
                  <a:srgbClr val="FFFF00"/>
                </a:solidFill>
              </a:rPr>
              <a:t>Data Storage and Retrieval Subsystem</a:t>
            </a:r>
          </a:p>
          <a:p>
            <a:pPr marL="0" indent="0">
              <a:lnSpc>
                <a:spcPct val="150000"/>
              </a:lnSpc>
              <a:buNone/>
            </a:pPr>
            <a:r>
              <a:rPr lang="en-US" sz="2400" dirty="0" smtClean="0"/>
              <a:t>	– </a:t>
            </a:r>
            <a:r>
              <a:rPr lang="en-US" sz="2400" dirty="0"/>
              <a:t>Organizes the data, spatial and attribute, in a </a:t>
            </a:r>
            <a:r>
              <a:rPr lang="en-US" sz="2400" dirty="0" smtClean="0"/>
              <a:t>form </a:t>
            </a:r>
            <a:r>
              <a:rPr lang="en-US" sz="2400" dirty="0"/>
              <a:t>which permits it to be quickly retrieved </a:t>
            </a:r>
            <a:r>
              <a:rPr lang="en-US" sz="2400" dirty="0" smtClean="0"/>
              <a:t>		by </a:t>
            </a:r>
            <a:r>
              <a:rPr lang="en-US" sz="2400" dirty="0"/>
              <a:t>the user for </a:t>
            </a:r>
            <a:r>
              <a:rPr lang="en-US" sz="2400" dirty="0" smtClean="0"/>
              <a:t>analysis.</a:t>
            </a:r>
            <a:endParaRPr lang="en-US" sz="2400" dirty="0"/>
          </a:p>
          <a:p>
            <a:pPr marL="0" indent="0">
              <a:lnSpc>
                <a:spcPct val="150000"/>
              </a:lnSpc>
              <a:buNone/>
            </a:pPr>
            <a:r>
              <a:rPr lang="en-US" sz="2400" dirty="0" smtClean="0"/>
              <a:t>	– </a:t>
            </a:r>
            <a:r>
              <a:rPr lang="en-US" sz="2400" dirty="0"/>
              <a:t>Permits rapid and accurate updates to be </a:t>
            </a:r>
            <a:r>
              <a:rPr lang="en-US" sz="2400" dirty="0" smtClean="0"/>
              <a:t>made </a:t>
            </a:r>
            <a:r>
              <a:rPr lang="en-US" sz="2400" dirty="0"/>
              <a:t>to the database</a:t>
            </a:r>
          </a:p>
          <a:p>
            <a:pPr marL="0" indent="0">
              <a:lnSpc>
                <a:spcPct val="150000"/>
              </a:lnSpc>
              <a:buNone/>
            </a:pPr>
            <a:r>
              <a:rPr lang="en-US" sz="2400" dirty="0" smtClean="0"/>
              <a:t>	– </a:t>
            </a:r>
            <a:r>
              <a:rPr lang="en-US" sz="2400" dirty="0"/>
              <a:t>Involves use of a database management </a:t>
            </a:r>
            <a:r>
              <a:rPr lang="en-US" sz="2400" dirty="0" smtClean="0"/>
              <a:t>system </a:t>
            </a:r>
            <a:r>
              <a:rPr lang="en-US" sz="2400" dirty="0"/>
              <a:t>(DBMS) for maintaining attribute data </a:t>
            </a:r>
          </a:p>
        </p:txBody>
      </p:sp>
    </p:spTree>
    <p:extLst>
      <p:ext uri="{BB962C8B-B14F-4D97-AF65-F5344CB8AC3E}">
        <p14:creationId xmlns:p14="http://schemas.microsoft.com/office/powerpoint/2010/main" val="1126339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131425" cy="1456267"/>
          </a:xfrm>
        </p:spPr>
        <p:txBody>
          <a:bodyPr/>
          <a:lstStyle/>
          <a:p>
            <a:r>
              <a:rPr lang="en-US" b="1" dirty="0">
                <a:latin typeface="+mn-lt"/>
              </a:rPr>
              <a:t>Capabilities of GIS / Subsystems</a:t>
            </a:r>
            <a:endParaRPr lang="en-US" b="1" dirty="0" smtClean="0">
              <a:latin typeface="+mn-lt"/>
            </a:endParaRPr>
          </a:p>
        </p:txBody>
      </p:sp>
      <p:sp>
        <p:nvSpPr>
          <p:cNvPr id="3" name="Content Placeholder 2"/>
          <p:cNvSpPr>
            <a:spLocks noGrp="1"/>
          </p:cNvSpPr>
          <p:nvPr>
            <p:ph idx="1"/>
          </p:nvPr>
        </p:nvSpPr>
        <p:spPr>
          <a:xfrm>
            <a:off x="371959" y="1162373"/>
            <a:ext cx="11391255" cy="5695626"/>
          </a:xfrm>
        </p:spPr>
        <p:txBody>
          <a:bodyPr>
            <a:normAutofit fontScale="92500"/>
          </a:bodyPr>
          <a:lstStyle/>
          <a:p>
            <a:pPr marL="0" indent="0">
              <a:lnSpc>
                <a:spcPct val="150000"/>
              </a:lnSpc>
              <a:buNone/>
            </a:pPr>
            <a:r>
              <a:rPr lang="en-US" sz="2400" b="1" i="1" dirty="0" smtClean="0">
                <a:solidFill>
                  <a:srgbClr val="FFFF00"/>
                </a:solidFill>
              </a:rPr>
              <a:t>• </a:t>
            </a:r>
            <a:r>
              <a:rPr lang="en-US" sz="2400" b="1" i="1" dirty="0">
                <a:solidFill>
                  <a:srgbClr val="FFFF00"/>
                </a:solidFill>
              </a:rPr>
              <a:t>Data Manipulation and Analysis </a:t>
            </a:r>
            <a:r>
              <a:rPr lang="en-US" sz="2400" b="1" i="1" dirty="0" smtClean="0">
                <a:solidFill>
                  <a:srgbClr val="FFFF00"/>
                </a:solidFill>
              </a:rPr>
              <a:t>Subsystem</a:t>
            </a:r>
          </a:p>
          <a:p>
            <a:pPr marL="0" indent="0">
              <a:lnSpc>
                <a:spcPct val="150000"/>
              </a:lnSpc>
              <a:buNone/>
            </a:pPr>
            <a:r>
              <a:rPr lang="en-US" sz="2400" dirty="0"/>
              <a:t>	</a:t>
            </a:r>
            <a:r>
              <a:rPr lang="en-US" sz="2400" dirty="0" smtClean="0"/>
              <a:t>– </a:t>
            </a:r>
            <a:r>
              <a:rPr lang="en-US" sz="2400" dirty="0"/>
              <a:t>Allows the user to define and execute spatial and </a:t>
            </a:r>
            <a:r>
              <a:rPr lang="en-US" sz="2400" dirty="0" smtClean="0"/>
              <a:t>attribute </a:t>
            </a:r>
            <a:r>
              <a:rPr lang="en-US" sz="2400" dirty="0"/>
              <a:t>procedures to generate derived </a:t>
            </a:r>
            <a:r>
              <a:rPr lang="en-US" sz="2400" dirty="0" smtClean="0"/>
              <a:t>			information</a:t>
            </a:r>
            <a:endParaRPr lang="en-US" sz="2400" dirty="0"/>
          </a:p>
          <a:p>
            <a:pPr marL="0" indent="0">
              <a:lnSpc>
                <a:spcPct val="150000"/>
              </a:lnSpc>
              <a:buNone/>
            </a:pPr>
            <a:r>
              <a:rPr lang="en-US" sz="2400" dirty="0" smtClean="0"/>
              <a:t>	– </a:t>
            </a:r>
            <a:r>
              <a:rPr lang="en-US" sz="2400" dirty="0"/>
              <a:t>This subsystem is commonly thought of as the heart </a:t>
            </a:r>
            <a:r>
              <a:rPr lang="en-US" sz="2400" dirty="0" smtClean="0"/>
              <a:t>of </a:t>
            </a:r>
            <a:r>
              <a:rPr lang="en-US" sz="2400" dirty="0"/>
              <a:t>a GIS, and usually distinguishes it </a:t>
            </a:r>
            <a:r>
              <a:rPr lang="en-US" sz="2400" dirty="0" smtClean="0"/>
              <a:t>			from other database </a:t>
            </a:r>
            <a:r>
              <a:rPr lang="en-US" sz="2400" dirty="0"/>
              <a:t>information systems and computer-aided </a:t>
            </a:r>
            <a:r>
              <a:rPr lang="en-US" sz="2400" dirty="0" smtClean="0"/>
              <a:t>drafting </a:t>
            </a:r>
            <a:r>
              <a:rPr lang="en-US" sz="2400" dirty="0"/>
              <a:t>(CAD) systems. </a:t>
            </a:r>
            <a:endParaRPr lang="en-US" sz="2400" dirty="0" smtClean="0"/>
          </a:p>
          <a:p>
            <a:pPr marL="0" indent="0">
              <a:lnSpc>
                <a:spcPct val="150000"/>
              </a:lnSpc>
              <a:buNone/>
            </a:pPr>
            <a:r>
              <a:rPr lang="en-US" sz="2400" b="1" i="1" dirty="0" smtClean="0">
                <a:solidFill>
                  <a:srgbClr val="FFFF00"/>
                </a:solidFill>
              </a:rPr>
              <a:t>• </a:t>
            </a:r>
            <a:r>
              <a:rPr lang="en-US" sz="2400" b="1" i="1" dirty="0">
                <a:solidFill>
                  <a:srgbClr val="FFFF00"/>
                </a:solidFill>
              </a:rPr>
              <a:t>Data Output and Display Subsystem</a:t>
            </a:r>
          </a:p>
          <a:p>
            <a:pPr marL="0" indent="0">
              <a:lnSpc>
                <a:spcPct val="150000"/>
              </a:lnSpc>
              <a:buNone/>
            </a:pPr>
            <a:r>
              <a:rPr lang="en-US" sz="2400" dirty="0" smtClean="0"/>
              <a:t>	– </a:t>
            </a:r>
            <a:r>
              <a:rPr lang="en-US" sz="2400" dirty="0"/>
              <a:t>Presentation of outputs by maps and </a:t>
            </a:r>
            <a:r>
              <a:rPr lang="en-US" sz="2400" dirty="0" smtClean="0"/>
              <a:t>visualization </a:t>
            </a:r>
            <a:r>
              <a:rPr lang="en-US" sz="2400" dirty="0"/>
              <a:t>tools (e.g. 3-D, animation)</a:t>
            </a:r>
          </a:p>
          <a:p>
            <a:pPr marL="0" indent="0">
              <a:lnSpc>
                <a:spcPct val="150000"/>
              </a:lnSpc>
              <a:buNone/>
            </a:pPr>
            <a:r>
              <a:rPr lang="en-US" sz="2400" dirty="0" smtClean="0"/>
              <a:t>	– </a:t>
            </a:r>
            <a:r>
              <a:rPr lang="en-US" sz="2400" dirty="0"/>
              <a:t>Allows the user to generate graphic displays, </a:t>
            </a:r>
            <a:r>
              <a:rPr lang="en-US" sz="2400" dirty="0" smtClean="0"/>
              <a:t>normally </a:t>
            </a:r>
            <a:r>
              <a:rPr lang="en-US" sz="2400" dirty="0"/>
              <a:t>maps, and tabular </a:t>
            </a:r>
            <a:r>
              <a:rPr lang="en-US" sz="2400" dirty="0" smtClean="0"/>
              <a:t>reports 					representing </a:t>
            </a:r>
            <a:r>
              <a:rPr lang="en-US" sz="2400" dirty="0"/>
              <a:t>derived information products</a:t>
            </a:r>
          </a:p>
        </p:txBody>
      </p:sp>
    </p:spTree>
    <p:extLst>
      <p:ext uri="{BB962C8B-B14F-4D97-AF65-F5344CB8AC3E}">
        <p14:creationId xmlns:p14="http://schemas.microsoft.com/office/powerpoint/2010/main" val="4043963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131425" cy="1456267"/>
          </a:xfrm>
        </p:spPr>
        <p:txBody>
          <a:bodyPr/>
          <a:lstStyle/>
          <a:p>
            <a:r>
              <a:rPr lang="en-US" b="1" dirty="0" smtClean="0">
                <a:latin typeface="+mn-lt"/>
              </a:rPr>
              <a:t>Key activities/tasks in a </a:t>
            </a:r>
            <a:r>
              <a:rPr lang="en-US" b="1" i="1" dirty="0" smtClean="0">
                <a:latin typeface="+mn-lt"/>
              </a:rPr>
              <a:t>“</a:t>
            </a:r>
            <a:r>
              <a:rPr lang="en-US" b="1" i="1" dirty="0" err="1" smtClean="0">
                <a:latin typeface="+mn-lt"/>
              </a:rPr>
              <a:t>gis</a:t>
            </a:r>
            <a:r>
              <a:rPr lang="en-US" b="1" i="1" dirty="0" smtClean="0">
                <a:latin typeface="+mn-lt"/>
              </a:rPr>
              <a:t>”</a:t>
            </a:r>
          </a:p>
        </p:txBody>
      </p:sp>
      <p:pic>
        <p:nvPicPr>
          <p:cNvPr id="4" name="Picture 3"/>
          <p:cNvPicPr>
            <a:picLocks noChangeAspect="1"/>
          </p:cNvPicPr>
          <p:nvPr/>
        </p:nvPicPr>
        <p:blipFill rotWithShape="1">
          <a:blip r:embed="rId2"/>
          <a:srcRect t="19037" b="9348"/>
          <a:stretch/>
        </p:blipFill>
        <p:spPr>
          <a:xfrm>
            <a:off x="774914" y="1078805"/>
            <a:ext cx="10879811" cy="5779195"/>
          </a:xfrm>
          <a:prstGeom prst="rect">
            <a:avLst/>
          </a:prstGeom>
        </p:spPr>
      </p:pic>
    </p:spTree>
    <p:extLst>
      <p:ext uri="{BB962C8B-B14F-4D97-AF65-F5344CB8AC3E}">
        <p14:creationId xmlns:p14="http://schemas.microsoft.com/office/powerpoint/2010/main" val="1056597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131425" cy="805912"/>
          </a:xfrm>
        </p:spPr>
        <p:txBody>
          <a:bodyPr/>
          <a:lstStyle/>
          <a:p>
            <a:r>
              <a:rPr lang="en-US" b="1" i="1" dirty="0" smtClean="0">
                <a:latin typeface="+mn-lt"/>
              </a:rPr>
              <a:t>“</a:t>
            </a:r>
            <a:r>
              <a:rPr lang="en-US" b="1" i="1" dirty="0" err="1" smtClean="0">
                <a:latin typeface="+mn-lt"/>
              </a:rPr>
              <a:t>gis</a:t>
            </a:r>
            <a:r>
              <a:rPr lang="en-US" b="1" i="1" dirty="0" smtClean="0">
                <a:latin typeface="+mn-lt"/>
              </a:rPr>
              <a:t>” processing flow</a:t>
            </a:r>
          </a:p>
        </p:txBody>
      </p:sp>
      <p:pic>
        <p:nvPicPr>
          <p:cNvPr id="3" name="Picture 2"/>
          <p:cNvPicPr>
            <a:picLocks noChangeAspect="1"/>
          </p:cNvPicPr>
          <p:nvPr/>
        </p:nvPicPr>
        <p:blipFill rotWithShape="1">
          <a:blip r:embed="rId2"/>
          <a:srcRect t="18211"/>
          <a:stretch/>
        </p:blipFill>
        <p:spPr>
          <a:xfrm>
            <a:off x="910128" y="635433"/>
            <a:ext cx="10605119" cy="6252158"/>
          </a:xfrm>
          <a:prstGeom prst="rect">
            <a:avLst/>
          </a:prstGeom>
        </p:spPr>
      </p:pic>
    </p:spTree>
    <p:extLst>
      <p:ext uri="{BB962C8B-B14F-4D97-AF65-F5344CB8AC3E}">
        <p14:creationId xmlns:p14="http://schemas.microsoft.com/office/powerpoint/2010/main" val="1938172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1710" y="0"/>
            <a:ext cx="10131425" cy="1456267"/>
          </a:xfrm>
        </p:spPr>
        <p:txBody>
          <a:bodyPr/>
          <a:lstStyle/>
          <a:p>
            <a:r>
              <a:rPr lang="en-US" b="1" dirty="0" smtClean="0"/>
              <a:t>How </a:t>
            </a:r>
            <a:r>
              <a:rPr lang="en-US" b="1" dirty="0"/>
              <a:t>“</a:t>
            </a:r>
            <a:r>
              <a:rPr lang="en-US" b="1" i="1" dirty="0" err="1"/>
              <a:t>gis</a:t>
            </a:r>
            <a:r>
              <a:rPr lang="en-US" b="1" i="1" dirty="0"/>
              <a:t>”</a:t>
            </a:r>
            <a:r>
              <a:rPr lang="en-US" b="1" dirty="0"/>
              <a:t> </a:t>
            </a:r>
            <a:r>
              <a:rPr lang="en-US" b="1" dirty="0" smtClean="0"/>
              <a:t>works?</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35331698"/>
              </p:ext>
            </p:extLst>
          </p:nvPr>
        </p:nvGraphicFramePr>
        <p:xfrm>
          <a:off x="4948524" y="94128"/>
          <a:ext cx="7684056" cy="67638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255493" y="1456267"/>
            <a:ext cx="5351929" cy="923330"/>
          </a:xfrm>
          <a:prstGeom prst="rect">
            <a:avLst/>
          </a:prstGeom>
          <a:noFill/>
        </p:spPr>
        <p:txBody>
          <a:bodyPr wrap="square" rtlCol="0">
            <a:spAutoFit/>
          </a:bodyPr>
          <a:lstStyle/>
          <a:p>
            <a:pPr>
              <a:lnSpc>
                <a:spcPct val="150000"/>
              </a:lnSpc>
            </a:pPr>
            <a:r>
              <a:rPr lang="en-US" b="1" i="1" dirty="0" smtClean="0">
                <a:solidFill>
                  <a:srgbClr val="FFFF00"/>
                </a:solidFill>
                <a:latin typeface="Cambria" panose="02040503050406030204" pitchFamily="18" charset="0"/>
              </a:rPr>
              <a:t>Data</a:t>
            </a:r>
            <a:r>
              <a:rPr lang="en-US" i="1" dirty="0" smtClean="0">
                <a:solidFill>
                  <a:srgbClr val="FFFF00"/>
                </a:solidFill>
                <a:latin typeface="Cambria" panose="02040503050406030204" pitchFamily="18" charset="0"/>
              </a:rPr>
              <a:t> </a:t>
            </a:r>
            <a:r>
              <a:rPr lang="en-US" i="1" dirty="0" smtClean="0">
                <a:latin typeface="Cambria" panose="02040503050406030204" pitchFamily="18" charset="0"/>
              </a:rPr>
              <a:t>has </a:t>
            </a:r>
            <a:r>
              <a:rPr lang="en-US" i="1" dirty="0" smtClean="0">
                <a:solidFill>
                  <a:srgbClr val="00B050"/>
                </a:solidFill>
                <a:latin typeface="Cambria" panose="02040503050406030204" pitchFamily="18" charset="0"/>
              </a:rPr>
              <a:t>spatial</a:t>
            </a:r>
            <a:r>
              <a:rPr lang="en-US" i="1" dirty="0" smtClean="0">
                <a:latin typeface="Cambria" panose="02040503050406030204" pitchFamily="18" charset="0"/>
              </a:rPr>
              <a:t> and </a:t>
            </a:r>
            <a:r>
              <a:rPr lang="en-US" i="1" dirty="0" smtClean="0">
                <a:solidFill>
                  <a:srgbClr val="00B050"/>
                </a:solidFill>
                <a:latin typeface="Cambria" panose="02040503050406030204" pitchFamily="18" charset="0"/>
              </a:rPr>
              <a:t>attribute</a:t>
            </a:r>
            <a:r>
              <a:rPr lang="en-US" i="1" dirty="0" smtClean="0">
                <a:latin typeface="Cambria" panose="02040503050406030204" pitchFamily="18" charset="0"/>
              </a:rPr>
              <a:t> information to explain where something is and what something is</a:t>
            </a:r>
            <a:endParaRPr lang="en-US" i="1" dirty="0">
              <a:latin typeface="Cambria" panose="02040503050406030204" pitchFamily="18" charset="0"/>
            </a:endParaRPr>
          </a:p>
        </p:txBody>
      </p:sp>
      <p:sp>
        <p:nvSpPr>
          <p:cNvPr id="6" name="TextBox 5"/>
          <p:cNvSpPr txBox="1"/>
          <p:nvPr/>
        </p:nvSpPr>
        <p:spPr>
          <a:xfrm>
            <a:off x="255493" y="2379597"/>
            <a:ext cx="5351929" cy="923330"/>
          </a:xfrm>
          <a:prstGeom prst="rect">
            <a:avLst/>
          </a:prstGeom>
          <a:noFill/>
        </p:spPr>
        <p:txBody>
          <a:bodyPr wrap="square" rtlCol="0">
            <a:spAutoFit/>
          </a:bodyPr>
          <a:lstStyle/>
          <a:p>
            <a:pPr>
              <a:lnSpc>
                <a:spcPct val="150000"/>
              </a:lnSpc>
            </a:pPr>
            <a:r>
              <a:rPr lang="en-US" i="1" dirty="0" smtClean="0">
                <a:latin typeface="Cambria" panose="02040503050406030204" pitchFamily="18" charset="0"/>
              </a:rPr>
              <a:t>Software is used to </a:t>
            </a:r>
            <a:r>
              <a:rPr lang="en-US" i="1" dirty="0" smtClean="0">
                <a:solidFill>
                  <a:srgbClr val="00B050"/>
                </a:solidFill>
                <a:latin typeface="Cambria" panose="02040503050406030204" pitchFamily="18" charset="0"/>
              </a:rPr>
              <a:t>open</a:t>
            </a:r>
            <a:r>
              <a:rPr lang="en-US" i="1" dirty="0" smtClean="0">
                <a:latin typeface="Cambria" panose="02040503050406030204" pitchFamily="18" charset="0"/>
              </a:rPr>
              <a:t>, </a:t>
            </a:r>
            <a:r>
              <a:rPr lang="en-US" i="1" dirty="0" err="1" smtClean="0">
                <a:solidFill>
                  <a:srgbClr val="00B050"/>
                </a:solidFill>
                <a:latin typeface="Cambria" panose="02040503050406030204" pitchFamily="18" charset="0"/>
              </a:rPr>
              <a:t>analyse</a:t>
            </a:r>
            <a:r>
              <a:rPr lang="en-US" i="1" dirty="0" smtClean="0">
                <a:latin typeface="Cambria" panose="02040503050406030204" pitchFamily="18" charset="0"/>
              </a:rPr>
              <a:t>, </a:t>
            </a:r>
            <a:r>
              <a:rPr lang="en-US" i="1" dirty="0" smtClean="0">
                <a:solidFill>
                  <a:srgbClr val="00B050"/>
                </a:solidFill>
                <a:latin typeface="Cambria" panose="02040503050406030204" pitchFamily="18" charset="0"/>
              </a:rPr>
              <a:t>display</a:t>
            </a:r>
            <a:r>
              <a:rPr lang="en-US" i="1" dirty="0" smtClean="0">
                <a:latin typeface="Cambria" panose="02040503050406030204" pitchFamily="18" charset="0"/>
              </a:rPr>
              <a:t> and </a:t>
            </a:r>
            <a:r>
              <a:rPr lang="en-US" i="1" dirty="0" smtClean="0">
                <a:solidFill>
                  <a:srgbClr val="00B050"/>
                </a:solidFill>
                <a:latin typeface="Cambria" panose="02040503050406030204" pitchFamily="18" charset="0"/>
              </a:rPr>
              <a:t>store</a:t>
            </a:r>
            <a:r>
              <a:rPr lang="en-US" i="1" dirty="0" smtClean="0">
                <a:latin typeface="Cambria" panose="02040503050406030204" pitchFamily="18" charset="0"/>
              </a:rPr>
              <a:t> geographic data.</a:t>
            </a:r>
            <a:endParaRPr lang="en-US" i="1" dirty="0">
              <a:latin typeface="Cambria" panose="02040503050406030204" pitchFamily="18" charset="0"/>
            </a:endParaRPr>
          </a:p>
        </p:txBody>
      </p:sp>
      <p:sp>
        <p:nvSpPr>
          <p:cNvPr id="7" name="TextBox 6"/>
          <p:cNvSpPr txBox="1"/>
          <p:nvPr/>
        </p:nvSpPr>
        <p:spPr>
          <a:xfrm>
            <a:off x="255493" y="3302927"/>
            <a:ext cx="5351929" cy="1754326"/>
          </a:xfrm>
          <a:prstGeom prst="rect">
            <a:avLst/>
          </a:prstGeom>
          <a:noFill/>
        </p:spPr>
        <p:txBody>
          <a:bodyPr wrap="square" rtlCol="0">
            <a:spAutoFit/>
          </a:bodyPr>
          <a:lstStyle/>
          <a:p>
            <a:pPr>
              <a:lnSpc>
                <a:spcPct val="150000"/>
              </a:lnSpc>
            </a:pPr>
            <a:r>
              <a:rPr lang="en-US" i="1" dirty="0" smtClean="0">
                <a:latin typeface="Cambria" panose="02040503050406030204" pitchFamily="18" charset="0"/>
              </a:rPr>
              <a:t>Data and software run-off </a:t>
            </a:r>
            <a:r>
              <a:rPr lang="en-US" b="1" i="1" dirty="0" smtClean="0">
                <a:solidFill>
                  <a:srgbClr val="FFFF00"/>
                </a:solidFill>
                <a:latin typeface="Cambria" panose="02040503050406030204" pitchFamily="18" charset="0"/>
              </a:rPr>
              <a:t>hardware</a:t>
            </a:r>
            <a:r>
              <a:rPr lang="en-US" i="1" dirty="0" smtClean="0">
                <a:latin typeface="Cambria" panose="02040503050406030204" pitchFamily="18" charset="0"/>
              </a:rPr>
              <a:t> (ranging from centralized computers to desktops and to handheld devices. GI can be </a:t>
            </a:r>
            <a:r>
              <a:rPr lang="en-US" i="1" dirty="0" smtClean="0">
                <a:solidFill>
                  <a:srgbClr val="00B050"/>
                </a:solidFill>
                <a:latin typeface="Cambria" panose="02040503050406030204" pitchFamily="18" charset="0"/>
              </a:rPr>
              <a:t>created</a:t>
            </a:r>
            <a:r>
              <a:rPr lang="en-US" i="1" dirty="0" smtClean="0">
                <a:latin typeface="Cambria" panose="02040503050406030204" pitchFamily="18" charset="0"/>
              </a:rPr>
              <a:t>, </a:t>
            </a:r>
            <a:r>
              <a:rPr lang="en-US" i="1" dirty="0" smtClean="0">
                <a:solidFill>
                  <a:srgbClr val="00B050"/>
                </a:solidFill>
                <a:latin typeface="Cambria" panose="02040503050406030204" pitchFamily="18" charset="0"/>
              </a:rPr>
              <a:t>shared</a:t>
            </a:r>
            <a:r>
              <a:rPr lang="en-US" i="1" dirty="0" smtClean="0">
                <a:latin typeface="Cambria" panose="02040503050406030204" pitchFamily="18" charset="0"/>
              </a:rPr>
              <a:t> and </a:t>
            </a:r>
            <a:r>
              <a:rPr lang="en-US" i="1" dirty="0" smtClean="0">
                <a:solidFill>
                  <a:srgbClr val="00B050"/>
                </a:solidFill>
                <a:latin typeface="Cambria" panose="02040503050406030204" pitchFamily="18" charset="0"/>
              </a:rPr>
              <a:t>used</a:t>
            </a:r>
            <a:r>
              <a:rPr lang="en-US" i="1" dirty="0" smtClean="0">
                <a:latin typeface="Cambria" panose="02040503050406030204" pitchFamily="18" charset="0"/>
              </a:rPr>
              <a:t> from each of these hardware devices.</a:t>
            </a:r>
            <a:endParaRPr lang="en-US" i="1" dirty="0">
              <a:latin typeface="Cambria" panose="02040503050406030204" pitchFamily="18" charset="0"/>
            </a:endParaRPr>
          </a:p>
        </p:txBody>
      </p:sp>
      <p:sp>
        <p:nvSpPr>
          <p:cNvPr id="8" name="TextBox 7"/>
          <p:cNvSpPr txBox="1"/>
          <p:nvPr/>
        </p:nvSpPr>
        <p:spPr>
          <a:xfrm>
            <a:off x="255492" y="5047686"/>
            <a:ext cx="5351929" cy="1754326"/>
          </a:xfrm>
          <a:prstGeom prst="rect">
            <a:avLst/>
          </a:prstGeom>
          <a:noFill/>
        </p:spPr>
        <p:txBody>
          <a:bodyPr wrap="square" rtlCol="0">
            <a:spAutoFit/>
          </a:bodyPr>
          <a:lstStyle/>
          <a:p>
            <a:pPr>
              <a:lnSpc>
                <a:spcPct val="150000"/>
              </a:lnSpc>
            </a:pPr>
            <a:r>
              <a:rPr lang="en-US" b="1" i="1" dirty="0" smtClean="0">
                <a:solidFill>
                  <a:srgbClr val="FFFF00"/>
                </a:solidFill>
                <a:latin typeface="Cambria" panose="02040503050406030204" pitchFamily="18" charset="0"/>
              </a:rPr>
              <a:t>People</a:t>
            </a:r>
            <a:r>
              <a:rPr lang="en-US" i="1" dirty="0" smtClean="0">
                <a:solidFill>
                  <a:srgbClr val="FFFF00"/>
                </a:solidFill>
                <a:latin typeface="Cambria" panose="02040503050406030204" pitchFamily="18" charset="0"/>
              </a:rPr>
              <a:t> </a:t>
            </a:r>
            <a:r>
              <a:rPr lang="en-US" i="1" dirty="0" smtClean="0">
                <a:latin typeface="Cambria" panose="02040503050406030204" pitchFamily="18" charset="0"/>
              </a:rPr>
              <a:t>use </a:t>
            </a:r>
            <a:r>
              <a:rPr lang="en-US" i="1" dirty="0" smtClean="0">
                <a:solidFill>
                  <a:srgbClr val="00B050"/>
                </a:solidFill>
                <a:latin typeface="Cambria" panose="02040503050406030204" pitchFamily="18" charset="0"/>
              </a:rPr>
              <a:t>GIS software</a:t>
            </a:r>
            <a:r>
              <a:rPr lang="en-US" i="1" dirty="0" smtClean="0">
                <a:latin typeface="Cambria" panose="02040503050406030204" pitchFamily="18" charset="0"/>
              </a:rPr>
              <a:t> to </a:t>
            </a:r>
            <a:r>
              <a:rPr lang="en-US" i="1" dirty="0" smtClean="0">
                <a:solidFill>
                  <a:srgbClr val="00B050"/>
                </a:solidFill>
                <a:latin typeface="Cambria" panose="02040503050406030204" pitchFamily="18" charset="0"/>
              </a:rPr>
              <a:t>perform</a:t>
            </a:r>
            <a:r>
              <a:rPr lang="en-US" i="1" dirty="0" smtClean="0">
                <a:latin typeface="Cambria" panose="02040503050406030204" pitchFamily="18" charset="0"/>
              </a:rPr>
              <a:t> GIS tasks on geographic data. People </a:t>
            </a:r>
            <a:r>
              <a:rPr lang="en-US" i="1" dirty="0" smtClean="0">
                <a:solidFill>
                  <a:srgbClr val="00B050"/>
                </a:solidFill>
                <a:latin typeface="Cambria" panose="02040503050406030204" pitchFamily="18" charset="0"/>
              </a:rPr>
              <a:t>create</a:t>
            </a:r>
            <a:r>
              <a:rPr lang="en-US" i="1" dirty="0" smtClean="0">
                <a:latin typeface="Cambria" panose="02040503050406030204" pitchFamily="18" charset="0"/>
              </a:rPr>
              <a:t> and </a:t>
            </a:r>
            <a:r>
              <a:rPr lang="en-US" i="1" dirty="0" smtClean="0">
                <a:solidFill>
                  <a:srgbClr val="00B050"/>
                </a:solidFill>
                <a:latin typeface="Cambria" panose="02040503050406030204" pitchFamily="18" charset="0"/>
              </a:rPr>
              <a:t>follow</a:t>
            </a:r>
            <a:r>
              <a:rPr lang="en-US" i="1" dirty="0" smtClean="0">
                <a:latin typeface="Cambria" panose="02040503050406030204" pitchFamily="18" charset="0"/>
              </a:rPr>
              <a:t> </a:t>
            </a:r>
            <a:r>
              <a:rPr lang="en-US" b="1" i="1" dirty="0" smtClean="0">
                <a:solidFill>
                  <a:srgbClr val="FFFF00"/>
                </a:solidFill>
                <a:latin typeface="Cambria" panose="02040503050406030204" pitchFamily="18" charset="0"/>
              </a:rPr>
              <a:t>procedures</a:t>
            </a:r>
            <a:r>
              <a:rPr lang="en-US" i="1" dirty="0" smtClean="0">
                <a:solidFill>
                  <a:srgbClr val="FFFF00"/>
                </a:solidFill>
                <a:latin typeface="Cambria" panose="02040503050406030204" pitchFamily="18" charset="0"/>
              </a:rPr>
              <a:t> </a:t>
            </a:r>
            <a:r>
              <a:rPr lang="en-US" i="1" dirty="0" smtClean="0">
                <a:latin typeface="Cambria" panose="02040503050406030204" pitchFamily="18" charset="0"/>
              </a:rPr>
              <a:t>to order GIS tasks and make their work more </a:t>
            </a:r>
            <a:r>
              <a:rPr lang="en-US" i="1" dirty="0" smtClean="0">
                <a:solidFill>
                  <a:srgbClr val="00B050"/>
                </a:solidFill>
                <a:latin typeface="Cambria" panose="02040503050406030204" pitchFamily="18" charset="0"/>
              </a:rPr>
              <a:t>efficient</a:t>
            </a:r>
            <a:r>
              <a:rPr lang="en-US" i="1" dirty="0" smtClean="0">
                <a:latin typeface="Cambria" panose="02040503050406030204" pitchFamily="18" charset="0"/>
              </a:rPr>
              <a:t>.</a:t>
            </a:r>
            <a:endParaRPr lang="en-US" i="1" dirty="0">
              <a:latin typeface="Cambria" panose="02040503050406030204" pitchFamily="18" charset="0"/>
            </a:endParaRPr>
          </a:p>
        </p:txBody>
      </p:sp>
    </p:spTree>
    <p:extLst>
      <p:ext uri="{BB962C8B-B14F-4D97-AF65-F5344CB8AC3E}">
        <p14:creationId xmlns:p14="http://schemas.microsoft.com/office/powerpoint/2010/main" val="335624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4" grpId="0">
        <p:bldAsOne/>
      </p:bldGraphic>
      <p:bldP spid="5" grpId="0"/>
      <p:bldP spid="6"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11821"/>
          <a:stretch/>
        </p:blipFill>
        <p:spPr>
          <a:xfrm>
            <a:off x="0" y="1"/>
            <a:ext cx="12347372" cy="6857999"/>
          </a:xfrm>
          <a:prstGeom prst="rect">
            <a:avLst/>
          </a:prstGeom>
        </p:spPr>
      </p:pic>
      <p:sp>
        <p:nvSpPr>
          <p:cNvPr id="2" name="Title 1"/>
          <p:cNvSpPr>
            <a:spLocks noGrp="1"/>
          </p:cNvSpPr>
          <p:nvPr>
            <p:ph type="title"/>
          </p:nvPr>
        </p:nvSpPr>
        <p:spPr>
          <a:xfrm>
            <a:off x="0" y="1"/>
            <a:ext cx="10131425" cy="805912"/>
          </a:xfrm>
        </p:spPr>
        <p:txBody>
          <a:bodyPr/>
          <a:lstStyle/>
          <a:p>
            <a:r>
              <a:rPr lang="en-US" b="1" i="1" dirty="0" smtClean="0">
                <a:solidFill>
                  <a:schemeClr val="bg1"/>
                </a:solidFill>
                <a:latin typeface="+mn-lt"/>
              </a:rPr>
              <a:t>“</a:t>
            </a:r>
            <a:r>
              <a:rPr lang="en-US" b="1" i="1" dirty="0" err="1" smtClean="0">
                <a:solidFill>
                  <a:schemeClr val="bg1"/>
                </a:solidFill>
                <a:latin typeface="+mn-lt"/>
              </a:rPr>
              <a:t>gis</a:t>
            </a:r>
            <a:r>
              <a:rPr lang="en-US" b="1" i="1" dirty="0" smtClean="0">
                <a:solidFill>
                  <a:schemeClr val="bg1"/>
                </a:solidFill>
                <a:latin typeface="+mn-lt"/>
              </a:rPr>
              <a:t>” Data</a:t>
            </a:r>
          </a:p>
        </p:txBody>
      </p:sp>
    </p:spTree>
    <p:extLst>
      <p:ext uri="{BB962C8B-B14F-4D97-AF65-F5344CB8AC3E}">
        <p14:creationId xmlns:p14="http://schemas.microsoft.com/office/powerpoint/2010/main" val="993991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l="33879" t="30032" r="33364" b="37129"/>
          <a:stretch/>
        </p:blipFill>
        <p:spPr>
          <a:xfrm>
            <a:off x="-1" y="3394130"/>
            <a:ext cx="5935851" cy="3463870"/>
          </a:xfrm>
          <a:prstGeom prst="rect">
            <a:avLst/>
          </a:prstGeom>
        </p:spPr>
      </p:pic>
      <p:pic>
        <p:nvPicPr>
          <p:cNvPr id="5" name="Picture 4"/>
          <p:cNvPicPr>
            <a:picLocks noChangeAspect="1"/>
          </p:cNvPicPr>
          <p:nvPr/>
        </p:nvPicPr>
        <p:blipFill rotWithShape="1">
          <a:blip r:embed="rId3"/>
          <a:srcRect l="32451" t="26006" r="31577" b="27596"/>
          <a:stretch/>
        </p:blipFill>
        <p:spPr>
          <a:xfrm>
            <a:off x="0" y="0"/>
            <a:ext cx="5935851" cy="3394130"/>
          </a:xfrm>
          <a:prstGeom prst="rect">
            <a:avLst/>
          </a:prstGeom>
        </p:spPr>
      </p:pic>
      <p:sp>
        <p:nvSpPr>
          <p:cNvPr id="2" name="Title 1"/>
          <p:cNvSpPr>
            <a:spLocks noGrp="1"/>
          </p:cNvSpPr>
          <p:nvPr>
            <p:ph type="title"/>
          </p:nvPr>
        </p:nvSpPr>
        <p:spPr>
          <a:xfrm>
            <a:off x="0" y="1"/>
            <a:ext cx="5222929" cy="805912"/>
          </a:xfrm>
        </p:spPr>
        <p:txBody>
          <a:bodyPr/>
          <a:lstStyle/>
          <a:p>
            <a:r>
              <a:rPr lang="en-US" b="1" i="1" dirty="0" smtClean="0">
                <a:solidFill>
                  <a:schemeClr val="bg1"/>
                </a:solidFill>
                <a:latin typeface="+mn-lt"/>
              </a:rPr>
              <a:t>“</a:t>
            </a:r>
            <a:r>
              <a:rPr lang="en-US" b="1" i="1" dirty="0" err="1" smtClean="0">
                <a:solidFill>
                  <a:schemeClr val="bg1"/>
                </a:solidFill>
                <a:latin typeface="+mn-lt"/>
              </a:rPr>
              <a:t>gis</a:t>
            </a:r>
            <a:r>
              <a:rPr lang="en-US" b="1" i="1" dirty="0" smtClean="0">
                <a:solidFill>
                  <a:schemeClr val="bg1"/>
                </a:solidFill>
                <a:latin typeface="+mn-lt"/>
              </a:rPr>
              <a:t>” </a:t>
            </a:r>
            <a:r>
              <a:rPr lang="en-US" b="1" i="1" dirty="0" err="1" smtClean="0">
                <a:solidFill>
                  <a:schemeClr val="bg1"/>
                </a:solidFill>
                <a:latin typeface="+mn-lt"/>
              </a:rPr>
              <a:t>Softwares</a:t>
            </a:r>
            <a:endParaRPr lang="en-US" b="1" i="1" dirty="0" smtClean="0">
              <a:solidFill>
                <a:schemeClr val="bg1"/>
              </a:solidFill>
              <a:latin typeface="+mn-lt"/>
            </a:endParaRPr>
          </a:p>
        </p:txBody>
      </p:sp>
      <p:pic>
        <p:nvPicPr>
          <p:cNvPr id="8" name="Picture 7"/>
          <p:cNvPicPr>
            <a:picLocks noChangeAspect="1"/>
          </p:cNvPicPr>
          <p:nvPr/>
        </p:nvPicPr>
        <p:blipFill rotWithShape="1">
          <a:blip r:embed="rId4"/>
          <a:srcRect l="33165" t="29396" r="33006" b="34586"/>
          <a:stretch/>
        </p:blipFill>
        <p:spPr>
          <a:xfrm>
            <a:off x="5951348" y="-30997"/>
            <a:ext cx="6256150" cy="3404716"/>
          </a:xfrm>
          <a:prstGeom prst="rect">
            <a:avLst/>
          </a:prstGeom>
        </p:spPr>
      </p:pic>
      <p:pic>
        <p:nvPicPr>
          <p:cNvPr id="9" name="Picture 8"/>
          <p:cNvPicPr>
            <a:picLocks noChangeAspect="1"/>
          </p:cNvPicPr>
          <p:nvPr/>
        </p:nvPicPr>
        <p:blipFill rotWithShape="1">
          <a:blip r:embed="rId5"/>
          <a:srcRect l="27805" t="31091" r="28123" b="30985"/>
          <a:stretch/>
        </p:blipFill>
        <p:spPr>
          <a:xfrm>
            <a:off x="5935850" y="3425128"/>
            <a:ext cx="6246937" cy="3432872"/>
          </a:xfrm>
          <a:prstGeom prst="roundRect">
            <a:avLst>
              <a:gd name="adj" fmla="val 27281"/>
            </a:avLst>
          </a:prstGeom>
        </p:spPr>
      </p:pic>
    </p:spTree>
    <p:extLst>
      <p:ext uri="{BB962C8B-B14F-4D97-AF65-F5344CB8AC3E}">
        <p14:creationId xmlns:p14="http://schemas.microsoft.com/office/powerpoint/2010/main" val="4282750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down)">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 y="0"/>
            <a:ext cx="12192001" cy="6858000"/>
          </a:xfrm>
          <a:prstGeom prst="rect">
            <a:avLst/>
          </a:prstGeom>
        </p:spPr>
      </p:pic>
      <p:sp>
        <p:nvSpPr>
          <p:cNvPr id="2" name="Title 1"/>
          <p:cNvSpPr>
            <a:spLocks noGrp="1"/>
          </p:cNvSpPr>
          <p:nvPr>
            <p:ph type="title"/>
          </p:nvPr>
        </p:nvSpPr>
        <p:spPr>
          <a:xfrm>
            <a:off x="0" y="1"/>
            <a:ext cx="10131425" cy="805912"/>
          </a:xfrm>
        </p:spPr>
        <p:txBody>
          <a:bodyPr/>
          <a:lstStyle/>
          <a:p>
            <a:r>
              <a:rPr lang="en-US" b="1" i="1" dirty="0" smtClean="0">
                <a:solidFill>
                  <a:schemeClr val="bg1"/>
                </a:solidFill>
                <a:latin typeface="+mn-lt"/>
              </a:rPr>
              <a:t>“</a:t>
            </a:r>
            <a:r>
              <a:rPr lang="en-US" b="1" i="1" dirty="0" err="1" smtClean="0">
                <a:solidFill>
                  <a:schemeClr val="bg1"/>
                </a:solidFill>
                <a:latin typeface="+mn-lt"/>
              </a:rPr>
              <a:t>gis</a:t>
            </a:r>
            <a:r>
              <a:rPr lang="en-US" b="1" i="1" dirty="0" smtClean="0">
                <a:solidFill>
                  <a:schemeClr val="bg1"/>
                </a:solidFill>
                <a:latin typeface="+mn-lt"/>
              </a:rPr>
              <a:t>” Hardware</a:t>
            </a:r>
          </a:p>
        </p:txBody>
      </p:sp>
    </p:spTree>
    <p:extLst>
      <p:ext uri="{BB962C8B-B14F-4D97-AF65-F5344CB8AC3E}">
        <p14:creationId xmlns:p14="http://schemas.microsoft.com/office/powerpoint/2010/main" val="1769058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1"/>
            <a:ext cx="12192000" cy="6952352"/>
          </a:xfrm>
          <a:prstGeom prst="rect">
            <a:avLst/>
          </a:prstGeom>
        </p:spPr>
      </p:pic>
      <p:sp>
        <p:nvSpPr>
          <p:cNvPr id="2" name="Title 1"/>
          <p:cNvSpPr>
            <a:spLocks noGrp="1"/>
          </p:cNvSpPr>
          <p:nvPr>
            <p:ph type="title"/>
          </p:nvPr>
        </p:nvSpPr>
        <p:spPr>
          <a:xfrm>
            <a:off x="0" y="1"/>
            <a:ext cx="10131425" cy="805912"/>
          </a:xfrm>
        </p:spPr>
        <p:txBody>
          <a:bodyPr/>
          <a:lstStyle/>
          <a:p>
            <a:r>
              <a:rPr lang="en-US" b="1" i="1" dirty="0" smtClean="0">
                <a:solidFill>
                  <a:schemeClr val="bg1"/>
                </a:solidFill>
                <a:latin typeface="+mn-lt"/>
              </a:rPr>
              <a:t>“</a:t>
            </a:r>
            <a:r>
              <a:rPr lang="en-US" b="1" i="1" dirty="0" err="1" smtClean="0">
                <a:solidFill>
                  <a:schemeClr val="bg1"/>
                </a:solidFill>
                <a:latin typeface="+mn-lt"/>
              </a:rPr>
              <a:t>gis</a:t>
            </a:r>
            <a:r>
              <a:rPr lang="en-US" b="1" i="1" dirty="0" smtClean="0">
                <a:solidFill>
                  <a:schemeClr val="bg1"/>
                </a:solidFill>
                <a:latin typeface="+mn-lt"/>
              </a:rPr>
              <a:t>” workflows</a:t>
            </a:r>
          </a:p>
        </p:txBody>
      </p:sp>
    </p:spTree>
    <p:extLst>
      <p:ext uri="{BB962C8B-B14F-4D97-AF65-F5344CB8AC3E}">
        <p14:creationId xmlns:p14="http://schemas.microsoft.com/office/powerpoint/2010/main" val="3637446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263472"/>
            <a:ext cx="10131425" cy="805912"/>
          </a:xfrm>
        </p:spPr>
        <p:txBody>
          <a:bodyPr/>
          <a:lstStyle/>
          <a:p>
            <a:r>
              <a:rPr lang="en-US" b="1" i="1" dirty="0" smtClean="0">
                <a:latin typeface="+mn-lt"/>
              </a:rPr>
              <a:t>SPATIAL ANALYSIS METHODS</a:t>
            </a:r>
          </a:p>
        </p:txBody>
      </p:sp>
      <p:sp>
        <p:nvSpPr>
          <p:cNvPr id="4" name="Rectangle 3"/>
          <p:cNvSpPr/>
          <p:nvPr/>
        </p:nvSpPr>
        <p:spPr>
          <a:xfrm>
            <a:off x="666427" y="945400"/>
            <a:ext cx="8446576" cy="604627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000" b="1" i="1" dirty="0" smtClean="0">
                <a:solidFill>
                  <a:srgbClr val="FFFF00"/>
                </a:solidFill>
              </a:rPr>
              <a:t>Analysis and manipulation of attribute data</a:t>
            </a:r>
          </a:p>
          <a:p>
            <a:pPr>
              <a:lnSpc>
                <a:spcPct val="150000"/>
              </a:lnSpc>
            </a:pPr>
            <a:r>
              <a:rPr lang="en-US" sz="2000" dirty="0" smtClean="0"/>
              <a:t>– Transform</a:t>
            </a:r>
          </a:p>
          <a:p>
            <a:pPr>
              <a:lnSpc>
                <a:spcPct val="150000"/>
              </a:lnSpc>
            </a:pPr>
            <a:r>
              <a:rPr lang="en-US" sz="2000" dirty="0" smtClean="0"/>
              <a:t>– Aggregation</a:t>
            </a:r>
          </a:p>
          <a:p>
            <a:pPr>
              <a:lnSpc>
                <a:spcPct val="150000"/>
              </a:lnSpc>
            </a:pPr>
            <a:r>
              <a:rPr lang="en-US" sz="2000" dirty="0" smtClean="0"/>
              <a:t>– Overlay, etc.</a:t>
            </a:r>
          </a:p>
          <a:p>
            <a:pPr marL="342900" indent="-342900">
              <a:lnSpc>
                <a:spcPct val="150000"/>
              </a:lnSpc>
              <a:buFont typeface="Arial" panose="020B0604020202020204" pitchFamily="34" charset="0"/>
              <a:buChar char="•"/>
            </a:pPr>
            <a:r>
              <a:rPr lang="en-US" sz="2000" b="1" i="1" dirty="0" smtClean="0">
                <a:solidFill>
                  <a:srgbClr val="FFFF00"/>
                </a:solidFill>
              </a:rPr>
              <a:t>Spatial analysis</a:t>
            </a:r>
          </a:p>
          <a:p>
            <a:pPr>
              <a:lnSpc>
                <a:spcPct val="150000"/>
              </a:lnSpc>
            </a:pPr>
            <a:r>
              <a:rPr lang="en-US" sz="2000" dirty="0" smtClean="0"/>
              <a:t>– Buffering</a:t>
            </a:r>
          </a:p>
          <a:p>
            <a:pPr>
              <a:lnSpc>
                <a:spcPct val="150000"/>
              </a:lnSpc>
            </a:pPr>
            <a:r>
              <a:rPr lang="en-US" sz="2000" dirty="0" smtClean="0"/>
              <a:t>– Neighborhood analysis</a:t>
            </a:r>
          </a:p>
          <a:p>
            <a:pPr>
              <a:lnSpc>
                <a:spcPct val="150000"/>
              </a:lnSpc>
            </a:pPr>
            <a:r>
              <a:rPr lang="en-US" sz="2000" dirty="0" smtClean="0"/>
              <a:t>– Network analysis</a:t>
            </a:r>
          </a:p>
          <a:p>
            <a:pPr>
              <a:lnSpc>
                <a:spcPct val="150000"/>
              </a:lnSpc>
            </a:pPr>
            <a:r>
              <a:rPr lang="en-US" sz="2000" dirty="0" smtClean="0"/>
              <a:t>– Spatial statistical analysis, etc.</a:t>
            </a:r>
          </a:p>
          <a:p>
            <a:pPr marL="342900" indent="-342900">
              <a:lnSpc>
                <a:spcPct val="150000"/>
              </a:lnSpc>
              <a:buFont typeface="Arial" panose="020B0604020202020204" pitchFamily="34" charset="0"/>
              <a:buChar char="•"/>
            </a:pPr>
            <a:r>
              <a:rPr lang="en-US" sz="2000" b="1" i="1" dirty="0" smtClean="0">
                <a:solidFill>
                  <a:srgbClr val="FFFF00"/>
                </a:solidFill>
              </a:rPr>
              <a:t>Spatial interpolation</a:t>
            </a:r>
          </a:p>
          <a:p>
            <a:pPr>
              <a:lnSpc>
                <a:spcPct val="150000"/>
              </a:lnSpc>
            </a:pPr>
            <a:r>
              <a:rPr lang="en-US" sz="2000" dirty="0" smtClean="0"/>
              <a:t>– Point-based data, Areal or volume data</a:t>
            </a:r>
          </a:p>
          <a:p>
            <a:pPr marL="342900" indent="-342900">
              <a:lnSpc>
                <a:spcPct val="150000"/>
              </a:lnSpc>
              <a:buFont typeface="Arial" panose="020B0604020202020204" pitchFamily="34" charset="0"/>
              <a:buChar char="•"/>
            </a:pPr>
            <a:r>
              <a:rPr lang="en-US" sz="2000" b="1" i="1" dirty="0" smtClean="0">
                <a:solidFill>
                  <a:srgbClr val="FFFF00"/>
                </a:solidFill>
              </a:rPr>
              <a:t>Computation </a:t>
            </a:r>
            <a:r>
              <a:rPr lang="en-US" sz="2000" b="1" i="1" dirty="0">
                <a:solidFill>
                  <a:srgbClr val="FFFF00"/>
                </a:solidFill>
              </a:rPr>
              <a:t>of measures</a:t>
            </a:r>
          </a:p>
          <a:p>
            <a:pPr marL="342900" indent="-342900">
              <a:lnSpc>
                <a:spcPct val="150000"/>
              </a:lnSpc>
              <a:buFont typeface="Arial" panose="020B0604020202020204" pitchFamily="34" charset="0"/>
              <a:buChar char="•"/>
            </a:pPr>
            <a:r>
              <a:rPr lang="en-US" sz="2000" b="1" i="1" dirty="0" smtClean="0">
                <a:solidFill>
                  <a:srgbClr val="FFFF00"/>
                </a:solidFill>
              </a:rPr>
              <a:t>Geometric </a:t>
            </a:r>
            <a:r>
              <a:rPr lang="en-US" sz="2000" b="1" i="1" dirty="0">
                <a:solidFill>
                  <a:srgbClr val="FFFF00"/>
                </a:solidFill>
              </a:rPr>
              <a:t>(coordinate) transformation</a:t>
            </a:r>
          </a:p>
        </p:txBody>
      </p:sp>
    </p:spTree>
    <p:extLst>
      <p:ext uri="{BB962C8B-B14F-4D97-AF65-F5344CB8AC3E}">
        <p14:creationId xmlns:p14="http://schemas.microsoft.com/office/powerpoint/2010/main" val="2563820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1710" y="0"/>
            <a:ext cx="10131425" cy="1456267"/>
          </a:xfrm>
        </p:spPr>
        <p:txBody>
          <a:bodyPr/>
          <a:lstStyle/>
          <a:p>
            <a:r>
              <a:rPr lang="en-US" b="1" dirty="0" smtClean="0"/>
              <a:t>What “</a:t>
            </a:r>
            <a:r>
              <a:rPr lang="en-US" b="1" i="1" dirty="0" err="1" smtClean="0"/>
              <a:t>gis</a:t>
            </a:r>
            <a:r>
              <a:rPr lang="en-US" b="1" i="1" dirty="0" smtClean="0"/>
              <a:t>”</a:t>
            </a:r>
            <a:r>
              <a:rPr lang="en-US" b="1" dirty="0" smtClean="0"/>
              <a:t> can do for us?</a:t>
            </a:r>
            <a:endParaRPr lang="en-US" b="1"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1823" y="-104932"/>
            <a:ext cx="7270751" cy="7300211"/>
          </a:xfrm>
          <a:prstGeom prst="rect">
            <a:avLst/>
          </a:prstGeom>
        </p:spPr>
      </p:pic>
      <p:sp>
        <p:nvSpPr>
          <p:cNvPr id="8" name="TextBox 7"/>
          <p:cNvSpPr txBox="1"/>
          <p:nvPr/>
        </p:nvSpPr>
        <p:spPr>
          <a:xfrm>
            <a:off x="-1" y="1324951"/>
            <a:ext cx="4657725" cy="2585323"/>
          </a:xfrm>
          <a:prstGeom prst="rect">
            <a:avLst/>
          </a:prstGeom>
          <a:noFill/>
        </p:spPr>
        <p:txBody>
          <a:bodyPr wrap="square" rtlCol="0">
            <a:spAutoFit/>
          </a:bodyPr>
          <a:lstStyle/>
          <a:p>
            <a:pPr algn="just">
              <a:lnSpc>
                <a:spcPct val="150000"/>
              </a:lnSpc>
            </a:pPr>
            <a:r>
              <a:rPr lang="en-US" i="1" dirty="0" smtClean="0">
                <a:latin typeface="Cambria" panose="02040503050406030204" pitchFamily="18" charset="0"/>
              </a:rPr>
              <a:t>This </a:t>
            </a:r>
            <a:r>
              <a:rPr lang="en-US" i="1" dirty="0">
                <a:latin typeface="Cambria" panose="02040503050406030204" pitchFamily="18" charset="0"/>
              </a:rPr>
              <a:t>map illustrates the location of countries, rivers, and cities within the continent of Africa. Locational maps can be used to determine where things are situated in relation to each other and are often used with navigation.</a:t>
            </a:r>
          </a:p>
          <a:p>
            <a:pPr algn="just">
              <a:lnSpc>
                <a:spcPct val="150000"/>
              </a:lnSpc>
            </a:pPr>
            <a:endParaRPr lang="en-US" i="1" dirty="0">
              <a:latin typeface="Cambria" panose="02040503050406030204" pitchFamily="18" charset="0"/>
            </a:endParaRPr>
          </a:p>
        </p:txBody>
      </p:sp>
      <p:sp>
        <p:nvSpPr>
          <p:cNvPr id="10" name="TextBox 9"/>
          <p:cNvSpPr txBox="1"/>
          <p:nvPr/>
        </p:nvSpPr>
        <p:spPr>
          <a:xfrm>
            <a:off x="0" y="728133"/>
            <a:ext cx="4422098" cy="577787"/>
          </a:xfrm>
          <a:prstGeom prst="rect">
            <a:avLst/>
          </a:prstGeom>
          <a:noFill/>
        </p:spPr>
        <p:txBody>
          <a:bodyPr wrap="square" rtlCol="0">
            <a:spAutoFit/>
          </a:bodyPr>
          <a:lstStyle/>
          <a:p>
            <a:pPr algn="just">
              <a:lnSpc>
                <a:spcPct val="150000"/>
              </a:lnSpc>
            </a:pPr>
            <a:r>
              <a:rPr lang="en-US" sz="2400" b="1" i="1" dirty="0" smtClean="0">
                <a:solidFill>
                  <a:srgbClr val="FFFF00"/>
                </a:solidFill>
                <a:latin typeface="Cambria" panose="02040503050406030204" pitchFamily="18" charset="0"/>
              </a:rPr>
              <a:t>Map Location</a:t>
            </a:r>
            <a:endParaRPr lang="en-US" sz="2400" b="1" i="1" dirty="0">
              <a:solidFill>
                <a:srgbClr val="FFFF00"/>
              </a:solidFill>
              <a:latin typeface="Cambria" panose="02040503050406030204" pitchFamily="18" charset="0"/>
            </a:endParaRPr>
          </a:p>
        </p:txBody>
      </p:sp>
    </p:spTree>
    <p:extLst>
      <p:ext uri="{BB962C8B-B14F-4D97-AF65-F5344CB8AC3E}">
        <p14:creationId xmlns:p14="http://schemas.microsoft.com/office/powerpoint/2010/main" val="298912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0" y="1049272"/>
            <a:ext cx="4422098" cy="3364960"/>
          </a:xfrm>
          <a:prstGeom prst="rect">
            <a:avLst/>
          </a:prstGeom>
          <a:noFill/>
        </p:spPr>
        <p:txBody>
          <a:bodyPr wrap="square" rtlCol="0">
            <a:spAutoFit/>
          </a:bodyPr>
          <a:lstStyle/>
          <a:p>
            <a:pPr algn="just">
              <a:lnSpc>
                <a:spcPct val="150000"/>
              </a:lnSpc>
            </a:pPr>
            <a:r>
              <a:rPr lang="en-US" i="1" dirty="0" smtClean="0">
                <a:latin typeface="Cambria" panose="02040503050406030204" pitchFamily="18" charset="0"/>
              </a:rPr>
              <a:t>This map illustrates a higher population density in the southeast portion of Canada. Density maps can be used to condense large amounts of data analyzed for correlations and trends. Further analysis could be completed to determine if the denser population is related to the proximity of the border or the proximity of water bodies.</a:t>
            </a:r>
            <a:endParaRPr lang="en-US" i="1" dirty="0">
              <a:latin typeface="Cambria" panose="02040503050406030204" pitchFamily="18" charset="0"/>
            </a:endParaRPr>
          </a:p>
        </p:txBody>
      </p:sp>
      <p:sp>
        <p:nvSpPr>
          <p:cNvPr id="10" name="TextBox 9"/>
          <p:cNvSpPr txBox="1"/>
          <p:nvPr/>
        </p:nvSpPr>
        <p:spPr>
          <a:xfrm>
            <a:off x="0" y="182591"/>
            <a:ext cx="4422098" cy="577787"/>
          </a:xfrm>
          <a:prstGeom prst="rect">
            <a:avLst/>
          </a:prstGeom>
          <a:noFill/>
        </p:spPr>
        <p:txBody>
          <a:bodyPr wrap="square" rtlCol="0">
            <a:spAutoFit/>
          </a:bodyPr>
          <a:lstStyle/>
          <a:p>
            <a:pPr algn="just">
              <a:lnSpc>
                <a:spcPct val="150000"/>
              </a:lnSpc>
            </a:pPr>
            <a:r>
              <a:rPr lang="en-US" sz="2400" b="1" i="1" dirty="0" smtClean="0">
                <a:solidFill>
                  <a:srgbClr val="FFFF00"/>
                </a:solidFill>
                <a:latin typeface="Cambria" panose="02040503050406030204" pitchFamily="18" charset="0"/>
              </a:rPr>
              <a:t>Map Densities</a:t>
            </a:r>
            <a:endParaRPr lang="en-US" sz="2400" b="1" i="1" dirty="0">
              <a:solidFill>
                <a:srgbClr val="FFFF00"/>
              </a:solidFill>
              <a:latin typeface="Cambria" panose="020405030504060302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2944" y="471485"/>
            <a:ext cx="8422481" cy="6386515"/>
          </a:xfrm>
          <a:prstGeom prst="rect">
            <a:avLst/>
          </a:prstGeom>
        </p:spPr>
      </p:pic>
    </p:spTree>
    <p:extLst>
      <p:ext uri="{BB962C8B-B14F-4D97-AF65-F5344CB8AC3E}">
        <p14:creationId xmlns:p14="http://schemas.microsoft.com/office/powerpoint/2010/main" val="33906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0" y="1049272"/>
            <a:ext cx="4422098" cy="2533963"/>
          </a:xfrm>
          <a:prstGeom prst="rect">
            <a:avLst/>
          </a:prstGeom>
          <a:noFill/>
        </p:spPr>
        <p:txBody>
          <a:bodyPr wrap="square" rtlCol="0">
            <a:spAutoFit/>
          </a:bodyPr>
          <a:lstStyle/>
          <a:p>
            <a:pPr algn="just">
              <a:lnSpc>
                <a:spcPct val="150000"/>
              </a:lnSpc>
            </a:pPr>
            <a:r>
              <a:rPr lang="en-US" i="1" dirty="0" smtClean="0">
                <a:latin typeface="Cambria" panose="02040503050406030204" pitchFamily="18" charset="0"/>
              </a:rPr>
              <a:t>This map illustrates the percentage of woman located in United States counties. Quantitative maps are often used to find trends; for example, there is a higher percentage of woman living in the eastern states shown on the map.</a:t>
            </a:r>
            <a:endParaRPr lang="en-US" i="1" dirty="0">
              <a:latin typeface="Cambria" panose="02040503050406030204" pitchFamily="18" charset="0"/>
            </a:endParaRPr>
          </a:p>
        </p:txBody>
      </p:sp>
      <p:sp>
        <p:nvSpPr>
          <p:cNvPr id="10" name="TextBox 9"/>
          <p:cNvSpPr txBox="1"/>
          <p:nvPr/>
        </p:nvSpPr>
        <p:spPr>
          <a:xfrm>
            <a:off x="0" y="182591"/>
            <a:ext cx="4422098" cy="577787"/>
          </a:xfrm>
          <a:prstGeom prst="rect">
            <a:avLst/>
          </a:prstGeom>
          <a:noFill/>
        </p:spPr>
        <p:txBody>
          <a:bodyPr wrap="square" rtlCol="0">
            <a:spAutoFit/>
          </a:bodyPr>
          <a:lstStyle/>
          <a:p>
            <a:pPr algn="just">
              <a:lnSpc>
                <a:spcPct val="150000"/>
              </a:lnSpc>
            </a:pPr>
            <a:r>
              <a:rPr lang="en-US" sz="2400" b="1" i="1" dirty="0" smtClean="0">
                <a:solidFill>
                  <a:srgbClr val="FFFF00"/>
                </a:solidFill>
                <a:latin typeface="Cambria" panose="02040503050406030204" pitchFamily="18" charset="0"/>
              </a:rPr>
              <a:t>Map Quantities</a:t>
            </a:r>
            <a:endParaRPr lang="en-US" sz="2400" b="1" i="1" dirty="0">
              <a:solidFill>
                <a:srgbClr val="FFFF00"/>
              </a:solidFill>
              <a:latin typeface="Cambria" panose="02040503050406030204" pitchFamily="18" charset="0"/>
            </a:endParaRPr>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2977"/>
          <a:stretch/>
        </p:blipFill>
        <p:spPr>
          <a:xfrm>
            <a:off x="4500563" y="437440"/>
            <a:ext cx="7915911" cy="6420559"/>
          </a:xfrm>
          <a:prstGeom prst="rect">
            <a:avLst/>
          </a:prstGeom>
        </p:spPr>
      </p:pic>
    </p:spTree>
    <p:extLst>
      <p:ext uri="{BB962C8B-B14F-4D97-AF65-F5344CB8AC3E}">
        <p14:creationId xmlns:p14="http://schemas.microsoft.com/office/powerpoint/2010/main" val="1171344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0" y="1049272"/>
            <a:ext cx="4422098" cy="2949462"/>
          </a:xfrm>
          <a:prstGeom prst="rect">
            <a:avLst/>
          </a:prstGeom>
          <a:noFill/>
        </p:spPr>
        <p:txBody>
          <a:bodyPr wrap="square" rtlCol="0">
            <a:spAutoFit/>
          </a:bodyPr>
          <a:lstStyle/>
          <a:p>
            <a:pPr algn="just">
              <a:lnSpc>
                <a:spcPct val="150000"/>
              </a:lnSpc>
            </a:pPr>
            <a:r>
              <a:rPr lang="en-US" i="1" dirty="0" smtClean="0">
                <a:latin typeface="Cambria" panose="02040503050406030204" pitchFamily="18" charset="0"/>
              </a:rPr>
              <a:t>This map illustrates school locations in relation to crime areas. Mapping what is inside can assist with monitoring and assessment. According to this map, schools located in Miami may be more at risk, since Miami has the highest number of crime reports.</a:t>
            </a:r>
            <a:endParaRPr lang="en-US" i="1" dirty="0">
              <a:latin typeface="Cambria" panose="02040503050406030204" pitchFamily="18" charset="0"/>
            </a:endParaRPr>
          </a:p>
        </p:txBody>
      </p:sp>
      <p:sp>
        <p:nvSpPr>
          <p:cNvPr id="10" name="TextBox 9"/>
          <p:cNvSpPr txBox="1"/>
          <p:nvPr/>
        </p:nvSpPr>
        <p:spPr>
          <a:xfrm>
            <a:off x="0" y="182591"/>
            <a:ext cx="4422098" cy="577787"/>
          </a:xfrm>
          <a:prstGeom prst="rect">
            <a:avLst/>
          </a:prstGeom>
          <a:noFill/>
        </p:spPr>
        <p:txBody>
          <a:bodyPr wrap="square" rtlCol="0">
            <a:spAutoFit/>
          </a:bodyPr>
          <a:lstStyle/>
          <a:p>
            <a:pPr algn="just">
              <a:lnSpc>
                <a:spcPct val="150000"/>
              </a:lnSpc>
            </a:pPr>
            <a:r>
              <a:rPr lang="en-US" sz="2400" b="1" i="1" dirty="0" smtClean="0">
                <a:solidFill>
                  <a:srgbClr val="FFFF00"/>
                </a:solidFill>
                <a:latin typeface="Cambria" panose="02040503050406030204" pitchFamily="18" charset="0"/>
              </a:rPr>
              <a:t>Map what is inside</a:t>
            </a:r>
            <a:endParaRPr lang="en-US" sz="2400" b="1" i="1" dirty="0">
              <a:solidFill>
                <a:srgbClr val="FFFF00"/>
              </a:solidFill>
              <a:latin typeface="Cambria" panose="02040503050406030204" pitchFamily="18" charset="0"/>
            </a:endParaRP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4468" t="1180" r="4572" b="1753"/>
          <a:stretch/>
        </p:blipFill>
        <p:spPr>
          <a:xfrm>
            <a:off x="4529138" y="331420"/>
            <a:ext cx="7672388" cy="6512294"/>
          </a:xfrm>
          <a:prstGeom prst="rect">
            <a:avLst/>
          </a:prstGeom>
        </p:spPr>
      </p:pic>
    </p:spTree>
    <p:extLst>
      <p:ext uri="{BB962C8B-B14F-4D97-AF65-F5344CB8AC3E}">
        <p14:creationId xmlns:p14="http://schemas.microsoft.com/office/powerpoint/2010/main" val="3066947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0" y="1049272"/>
            <a:ext cx="4422098" cy="3364960"/>
          </a:xfrm>
          <a:prstGeom prst="rect">
            <a:avLst/>
          </a:prstGeom>
          <a:noFill/>
        </p:spPr>
        <p:txBody>
          <a:bodyPr wrap="square" rtlCol="0">
            <a:spAutoFit/>
          </a:bodyPr>
          <a:lstStyle/>
          <a:p>
            <a:pPr algn="just">
              <a:lnSpc>
                <a:spcPct val="150000"/>
              </a:lnSpc>
            </a:pPr>
            <a:r>
              <a:rPr lang="en-US" i="1" dirty="0" smtClean="0">
                <a:latin typeface="Cambria" panose="02040503050406030204" pitchFamily="18" charset="0"/>
              </a:rPr>
              <a:t>This map illustrates the proximity of </a:t>
            </a:r>
            <a:r>
              <a:rPr lang="en-US" i="1" dirty="0" err="1" smtClean="0">
                <a:latin typeface="Cambria" panose="02040503050406030204" pitchFamily="18" charset="0"/>
              </a:rPr>
              <a:t>JMill</a:t>
            </a:r>
            <a:r>
              <a:rPr lang="en-US" i="1" dirty="0" smtClean="0">
                <a:latin typeface="Cambria" panose="02040503050406030204" pitchFamily="18" charset="0"/>
              </a:rPr>
              <a:t> retail stores to county spending potential. Mapping what is nearby is often used in risk assessment and predictions. </a:t>
            </a:r>
            <a:r>
              <a:rPr lang="en-US" i="1" dirty="0" err="1" smtClean="0">
                <a:latin typeface="Cambria" panose="02040503050406030204" pitchFamily="18" charset="0"/>
              </a:rPr>
              <a:t>JMill</a:t>
            </a:r>
            <a:r>
              <a:rPr lang="en-US" i="1" dirty="0" smtClean="0">
                <a:latin typeface="Cambria" panose="02040503050406030204" pitchFamily="18" charset="0"/>
              </a:rPr>
              <a:t> predicts higher revenue in the Massachusetts, Connecticut, and Rhode Island stores, since they are located within 20 miles of a higher potential spending index.</a:t>
            </a:r>
            <a:endParaRPr lang="en-US" i="1" dirty="0">
              <a:latin typeface="Cambria" panose="02040503050406030204" pitchFamily="18" charset="0"/>
            </a:endParaRPr>
          </a:p>
        </p:txBody>
      </p:sp>
      <p:sp>
        <p:nvSpPr>
          <p:cNvPr id="10" name="TextBox 9"/>
          <p:cNvSpPr txBox="1"/>
          <p:nvPr/>
        </p:nvSpPr>
        <p:spPr>
          <a:xfrm>
            <a:off x="0" y="182591"/>
            <a:ext cx="4422098" cy="646331"/>
          </a:xfrm>
          <a:prstGeom prst="rect">
            <a:avLst/>
          </a:prstGeom>
          <a:noFill/>
        </p:spPr>
        <p:txBody>
          <a:bodyPr wrap="square" rtlCol="0">
            <a:spAutoFit/>
          </a:bodyPr>
          <a:lstStyle/>
          <a:p>
            <a:pPr algn="just">
              <a:lnSpc>
                <a:spcPct val="150000"/>
              </a:lnSpc>
            </a:pPr>
            <a:r>
              <a:rPr lang="en-US" sz="2400" b="1" i="1" dirty="0" smtClean="0">
                <a:solidFill>
                  <a:srgbClr val="FFFF00"/>
                </a:solidFill>
                <a:latin typeface="Cambria" panose="02040503050406030204" pitchFamily="18" charset="0"/>
              </a:rPr>
              <a:t>Map what is near-by</a:t>
            </a:r>
            <a:endParaRPr lang="en-US" sz="2400" b="1" i="1" dirty="0">
              <a:solidFill>
                <a:srgbClr val="FFFF00"/>
              </a:solidFill>
              <a:latin typeface="Cambria" panose="020405030504060302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9138" y="702894"/>
            <a:ext cx="7662862" cy="5383581"/>
          </a:xfrm>
          <a:prstGeom prst="rect">
            <a:avLst/>
          </a:prstGeom>
        </p:spPr>
      </p:pic>
    </p:spTree>
    <p:extLst>
      <p:ext uri="{BB962C8B-B14F-4D97-AF65-F5344CB8AC3E}">
        <p14:creationId xmlns:p14="http://schemas.microsoft.com/office/powerpoint/2010/main" val="558810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2156" y="820668"/>
            <a:ext cx="4466410" cy="2533963"/>
          </a:xfrm>
          <a:prstGeom prst="rect">
            <a:avLst/>
          </a:prstGeom>
          <a:noFill/>
        </p:spPr>
        <p:txBody>
          <a:bodyPr wrap="square" rtlCol="0">
            <a:spAutoFit/>
          </a:bodyPr>
          <a:lstStyle/>
          <a:p>
            <a:pPr algn="just" fontAlgn="base">
              <a:lnSpc>
                <a:spcPct val="150000"/>
              </a:lnSpc>
            </a:pPr>
            <a:r>
              <a:rPr lang="en-US" i="1" dirty="0">
                <a:latin typeface="Cambria" panose="02040503050406030204" pitchFamily="18" charset="0"/>
              </a:rPr>
              <a:t>This map illustrates population change over the past ten years. The largest population changes occurred in the western and southeastern states. This can be used to assess future trends in urban sprawl and market demands.</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385763"/>
            <a:ext cx="7620000" cy="6472238"/>
          </a:xfrm>
          <a:prstGeom prst="rect">
            <a:avLst/>
          </a:prstGeom>
        </p:spPr>
      </p:pic>
      <p:sp>
        <p:nvSpPr>
          <p:cNvPr id="11" name="TextBox 10"/>
          <p:cNvSpPr txBox="1"/>
          <p:nvPr/>
        </p:nvSpPr>
        <p:spPr>
          <a:xfrm>
            <a:off x="0" y="182591"/>
            <a:ext cx="4422098" cy="577787"/>
          </a:xfrm>
          <a:prstGeom prst="rect">
            <a:avLst/>
          </a:prstGeom>
          <a:noFill/>
        </p:spPr>
        <p:txBody>
          <a:bodyPr wrap="square" rtlCol="0">
            <a:spAutoFit/>
          </a:bodyPr>
          <a:lstStyle/>
          <a:p>
            <a:pPr algn="just">
              <a:lnSpc>
                <a:spcPct val="150000"/>
              </a:lnSpc>
            </a:pPr>
            <a:r>
              <a:rPr lang="en-US" sz="2400" b="1" i="1" dirty="0" smtClean="0">
                <a:solidFill>
                  <a:srgbClr val="FFFF00"/>
                </a:solidFill>
                <a:latin typeface="Cambria" panose="02040503050406030204" pitchFamily="18" charset="0"/>
              </a:rPr>
              <a:t>Map Change</a:t>
            </a:r>
            <a:endParaRPr lang="en-US" sz="2400" b="1" i="1" dirty="0">
              <a:solidFill>
                <a:srgbClr val="FFFF00"/>
              </a:solidFill>
              <a:latin typeface="Cambria" panose="02040503050406030204" pitchFamily="18" charset="0"/>
            </a:endParaRPr>
          </a:p>
        </p:txBody>
      </p:sp>
    </p:spTree>
    <p:extLst>
      <p:ext uri="{BB962C8B-B14F-4D97-AF65-F5344CB8AC3E}">
        <p14:creationId xmlns:p14="http://schemas.microsoft.com/office/powerpoint/2010/main" val="3135602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0549" y="2562386"/>
            <a:ext cx="6799880" cy="1456267"/>
          </a:xfrm>
        </p:spPr>
        <p:txBody>
          <a:bodyPr>
            <a:normAutofit/>
          </a:bodyPr>
          <a:lstStyle/>
          <a:p>
            <a:pPr algn="ctr"/>
            <a:r>
              <a:rPr lang="en-US" sz="4800" b="1" i="1" dirty="0" smtClean="0">
                <a:solidFill>
                  <a:srgbClr val="00B050"/>
                </a:solidFill>
                <a:latin typeface="Cambria" panose="02040503050406030204" pitchFamily="18" charset="0"/>
              </a:rPr>
              <a:t>Applications of GIS </a:t>
            </a:r>
            <a:endParaRPr lang="en-US" sz="4800" b="1" i="1" dirty="0">
              <a:solidFill>
                <a:srgbClr val="00B050"/>
              </a:solidFill>
              <a:latin typeface="Cambria" panose="02040503050406030204" pitchFamily="18" charset="0"/>
            </a:endParaRPr>
          </a:p>
        </p:txBody>
      </p:sp>
    </p:spTree>
    <p:extLst>
      <p:ext uri="{BB962C8B-B14F-4D97-AF65-F5344CB8AC3E}">
        <p14:creationId xmlns:p14="http://schemas.microsoft.com/office/powerpoint/2010/main" val="80384804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462" y="418455"/>
            <a:ext cx="10131425" cy="805912"/>
          </a:xfrm>
        </p:spPr>
        <p:txBody>
          <a:bodyPr/>
          <a:lstStyle/>
          <a:p>
            <a:r>
              <a:rPr lang="en-US" b="1" i="1" dirty="0">
                <a:solidFill>
                  <a:srgbClr val="FFFF00"/>
                </a:solidFill>
              </a:rPr>
              <a:t>Natural Resources </a:t>
            </a:r>
            <a:r>
              <a:rPr lang="en-US" b="1" i="1" dirty="0" err="1" smtClean="0">
                <a:solidFill>
                  <a:srgbClr val="FFFF00"/>
                </a:solidFill>
              </a:rPr>
              <a:t>ManagemenT</a:t>
            </a:r>
            <a:endParaRPr lang="en-US" b="1" i="1" dirty="0" smtClean="0">
              <a:latin typeface="+mn-lt"/>
            </a:endParaRPr>
          </a:p>
        </p:txBody>
      </p:sp>
      <p:sp>
        <p:nvSpPr>
          <p:cNvPr id="4" name="Rectangle 3"/>
          <p:cNvSpPr/>
          <p:nvPr/>
        </p:nvSpPr>
        <p:spPr>
          <a:xfrm>
            <a:off x="774915" y="1224367"/>
            <a:ext cx="8446576" cy="5078313"/>
          </a:xfrm>
          <a:prstGeom prst="rect">
            <a:avLst/>
          </a:prstGeom>
        </p:spPr>
        <p:txBody>
          <a:bodyPr wrap="square">
            <a:spAutoFit/>
          </a:bodyPr>
          <a:lstStyle/>
          <a:p>
            <a:pPr marL="342900" indent="-342900">
              <a:lnSpc>
                <a:spcPct val="150000"/>
              </a:lnSpc>
              <a:buFont typeface="Arial" panose="020B0604020202020204" pitchFamily="34" charset="0"/>
              <a:buChar char="•"/>
            </a:pPr>
            <a:r>
              <a:rPr lang="en-US" sz="2000" b="1" i="1" dirty="0" smtClean="0"/>
              <a:t> </a:t>
            </a:r>
            <a:r>
              <a:rPr lang="en-US" sz="2400" b="1" i="1" dirty="0" smtClean="0"/>
              <a:t>Wildlife habitat</a:t>
            </a:r>
          </a:p>
          <a:p>
            <a:pPr marL="342900" indent="-342900">
              <a:lnSpc>
                <a:spcPct val="150000"/>
              </a:lnSpc>
              <a:buFont typeface="Arial" panose="020B0604020202020204" pitchFamily="34" charset="0"/>
              <a:buChar char="•"/>
            </a:pPr>
            <a:r>
              <a:rPr lang="en-US" sz="2400" b="1" i="1" dirty="0" smtClean="0"/>
              <a:t> Water resources</a:t>
            </a:r>
          </a:p>
          <a:p>
            <a:pPr marL="342900" indent="-342900">
              <a:lnSpc>
                <a:spcPct val="150000"/>
              </a:lnSpc>
              <a:buFont typeface="Arial" panose="020B0604020202020204" pitchFamily="34" charset="0"/>
              <a:buChar char="•"/>
            </a:pPr>
            <a:r>
              <a:rPr lang="en-US" sz="2400" b="1" i="1" dirty="0" smtClean="0"/>
              <a:t> Recreation resources</a:t>
            </a:r>
          </a:p>
          <a:p>
            <a:pPr marL="342900" indent="-342900">
              <a:lnSpc>
                <a:spcPct val="150000"/>
              </a:lnSpc>
              <a:buFont typeface="Arial" panose="020B0604020202020204" pitchFamily="34" charset="0"/>
              <a:buChar char="•"/>
            </a:pPr>
            <a:r>
              <a:rPr lang="en-US" sz="2400" b="1" i="1" dirty="0" smtClean="0"/>
              <a:t> Floodplains</a:t>
            </a:r>
          </a:p>
          <a:p>
            <a:pPr marL="342900" indent="-342900">
              <a:lnSpc>
                <a:spcPct val="150000"/>
              </a:lnSpc>
              <a:buFont typeface="Arial" panose="020B0604020202020204" pitchFamily="34" charset="0"/>
              <a:buChar char="•"/>
            </a:pPr>
            <a:r>
              <a:rPr lang="en-US" sz="2400" b="1" i="1" dirty="0" smtClean="0"/>
              <a:t> Wetlands</a:t>
            </a:r>
          </a:p>
          <a:p>
            <a:pPr marL="342900" indent="-342900">
              <a:lnSpc>
                <a:spcPct val="150000"/>
              </a:lnSpc>
              <a:buFont typeface="Arial" panose="020B0604020202020204" pitchFamily="34" charset="0"/>
              <a:buChar char="•"/>
            </a:pPr>
            <a:r>
              <a:rPr lang="en-US" sz="2400" b="1" i="1" dirty="0" smtClean="0"/>
              <a:t> Agricultural lands</a:t>
            </a:r>
          </a:p>
          <a:p>
            <a:pPr marL="342900" indent="-342900">
              <a:lnSpc>
                <a:spcPct val="150000"/>
              </a:lnSpc>
              <a:buFont typeface="Arial" panose="020B0604020202020204" pitchFamily="34" charset="0"/>
              <a:buChar char="•"/>
            </a:pPr>
            <a:r>
              <a:rPr lang="en-US" sz="2400" b="1" i="1" dirty="0" smtClean="0"/>
              <a:t> Aquifers</a:t>
            </a:r>
          </a:p>
          <a:p>
            <a:pPr marL="342900" indent="-342900">
              <a:lnSpc>
                <a:spcPct val="150000"/>
              </a:lnSpc>
              <a:buFont typeface="Arial" panose="020B0604020202020204" pitchFamily="34" charset="0"/>
              <a:buChar char="•"/>
            </a:pPr>
            <a:r>
              <a:rPr lang="en-US" sz="2400" b="1" i="1" dirty="0" smtClean="0"/>
              <a:t> Forests </a:t>
            </a:r>
          </a:p>
          <a:p>
            <a:pPr marL="342900" indent="-342900">
              <a:lnSpc>
                <a:spcPct val="150000"/>
              </a:lnSpc>
              <a:buFont typeface="Arial" panose="020B0604020202020204" pitchFamily="34" charset="0"/>
              <a:buChar char="•"/>
            </a:pPr>
            <a:r>
              <a:rPr lang="en-US" sz="2400" b="1" i="1" dirty="0" smtClean="0"/>
              <a:t>Geology</a:t>
            </a:r>
          </a:p>
        </p:txBody>
      </p:sp>
    </p:spTree>
    <p:extLst>
      <p:ext uri="{BB962C8B-B14F-4D97-AF65-F5344CB8AC3E}">
        <p14:creationId xmlns:p14="http://schemas.microsoft.com/office/powerpoint/2010/main" val="106084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462" y="418455"/>
            <a:ext cx="10131425" cy="805912"/>
          </a:xfrm>
        </p:spPr>
        <p:txBody>
          <a:bodyPr/>
          <a:lstStyle/>
          <a:p>
            <a:r>
              <a:rPr lang="en-US" b="1" i="1" dirty="0">
                <a:solidFill>
                  <a:srgbClr val="FFFF00"/>
                </a:solidFill>
              </a:rPr>
              <a:t>Facilities Management</a:t>
            </a:r>
          </a:p>
        </p:txBody>
      </p:sp>
      <p:sp>
        <p:nvSpPr>
          <p:cNvPr id="4" name="Rectangle 3"/>
          <p:cNvSpPr/>
          <p:nvPr/>
        </p:nvSpPr>
        <p:spPr>
          <a:xfrm>
            <a:off x="774915" y="1099552"/>
            <a:ext cx="8446576" cy="2308324"/>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b="1" i="1" dirty="0" smtClean="0"/>
              <a:t> Locating underground pipes and cables</a:t>
            </a:r>
          </a:p>
          <a:p>
            <a:pPr marL="342900" indent="-342900">
              <a:lnSpc>
                <a:spcPct val="150000"/>
              </a:lnSpc>
              <a:buFont typeface="Arial" panose="020B0604020202020204" pitchFamily="34" charset="0"/>
              <a:buChar char="•"/>
            </a:pPr>
            <a:r>
              <a:rPr lang="en-US" sz="2400" b="1" i="1" dirty="0" smtClean="0"/>
              <a:t> Balancing loads in electrical networks</a:t>
            </a:r>
          </a:p>
          <a:p>
            <a:pPr marL="342900" indent="-342900">
              <a:lnSpc>
                <a:spcPct val="150000"/>
              </a:lnSpc>
              <a:buFont typeface="Arial" panose="020B0604020202020204" pitchFamily="34" charset="0"/>
              <a:buChar char="•"/>
            </a:pPr>
            <a:r>
              <a:rPr lang="en-US" sz="2400" b="1" i="1" dirty="0" smtClean="0"/>
              <a:t> Planning facility maintenance</a:t>
            </a:r>
          </a:p>
          <a:p>
            <a:pPr marL="342900" indent="-342900">
              <a:lnSpc>
                <a:spcPct val="150000"/>
              </a:lnSpc>
              <a:buFont typeface="Arial" panose="020B0604020202020204" pitchFamily="34" charset="0"/>
              <a:buChar char="•"/>
            </a:pPr>
            <a:r>
              <a:rPr lang="en-US" sz="2400" b="1" i="1" dirty="0" smtClean="0"/>
              <a:t> Tracking energy use </a:t>
            </a:r>
          </a:p>
        </p:txBody>
      </p:sp>
      <p:sp>
        <p:nvSpPr>
          <p:cNvPr id="5" name="Title 1"/>
          <p:cNvSpPr txBox="1">
            <a:spLocks/>
          </p:cNvSpPr>
          <p:nvPr/>
        </p:nvSpPr>
        <p:spPr>
          <a:xfrm>
            <a:off x="356462" y="3329553"/>
            <a:ext cx="10131425" cy="805912"/>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i="1" dirty="0">
                <a:solidFill>
                  <a:srgbClr val="FFFF00"/>
                </a:solidFill>
              </a:rPr>
              <a:t> Land Management</a:t>
            </a:r>
          </a:p>
        </p:txBody>
      </p:sp>
      <p:sp>
        <p:nvSpPr>
          <p:cNvPr id="6" name="Rectangle 5"/>
          <p:cNvSpPr/>
          <p:nvPr/>
        </p:nvSpPr>
        <p:spPr>
          <a:xfrm>
            <a:off x="774915" y="3978821"/>
            <a:ext cx="8446576" cy="2862322"/>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b="1" i="1" dirty="0" smtClean="0"/>
              <a:t> Zoning and subdivision planning</a:t>
            </a:r>
          </a:p>
          <a:p>
            <a:pPr marL="342900" indent="-342900">
              <a:lnSpc>
                <a:spcPct val="150000"/>
              </a:lnSpc>
              <a:buFont typeface="Arial" panose="020B0604020202020204" pitchFamily="34" charset="0"/>
              <a:buChar char="•"/>
            </a:pPr>
            <a:r>
              <a:rPr lang="en-US" sz="2400" b="1" i="1" dirty="0" smtClean="0"/>
              <a:t> Land acquisition</a:t>
            </a:r>
          </a:p>
          <a:p>
            <a:pPr marL="342900" indent="-342900">
              <a:lnSpc>
                <a:spcPct val="150000"/>
              </a:lnSpc>
              <a:buFont typeface="Arial" panose="020B0604020202020204" pitchFamily="34" charset="0"/>
              <a:buChar char="•"/>
            </a:pPr>
            <a:r>
              <a:rPr lang="en-US" sz="2400" b="1" i="1" dirty="0" smtClean="0"/>
              <a:t> Environmental impact policy</a:t>
            </a:r>
          </a:p>
          <a:p>
            <a:pPr marL="342900" indent="-342900">
              <a:lnSpc>
                <a:spcPct val="150000"/>
              </a:lnSpc>
              <a:buFont typeface="Arial" panose="020B0604020202020204" pitchFamily="34" charset="0"/>
              <a:buChar char="•"/>
            </a:pPr>
            <a:r>
              <a:rPr lang="en-US" sz="2400" b="1" i="1" dirty="0" smtClean="0"/>
              <a:t> Water quality management</a:t>
            </a:r>
          </a:p>
          <a:p>
            <a:pPr marL="342900" indent="-342900">
              <a:lnSpc>
                <a:spcPct val="150000"/>
              </a:lnSpc>
              <a:buFont typeface="Arial" panose="020B0604020202020204" pitchFamily="34" charset="0"/>
              <a:buChar char="•"/>
            </a:pPr>
            <a:r>
              <a:rPr lang="en-US" sz="2400" b="1" i="1" dirty="0" smtClean="0"/>
              <a:t> Maintenance of ownership </a:t>
            </a:r>
          </a:p>
        </p:txBody>
      </p:sp>
    </p:spTree>
    <p:extLst>
      <p:ext uri="{BB962C8B-B14F-4D97-AF65-F5344CB8AC3E}">
        <p14:creationId xmlns:p14="http://schemas.microsoft.com/office/powerpoint/2010/main" val="629129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bwMode="auto">
          <a:xfrm>
            <a:off x="560388" y="173649"/>
            <a:ext cx="6642100" cy="701675"/>
          </a:xfrm>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88900" tIns="44450" rIns="88900" bIns="44450" numCol="1" rtlCol="0" anchor="ctr" anchorCtr="0" compatLnSpc="1">
            <a:prstTxWarp prst="textNoShape">
              <a:avLst/>
            </a:prstTxWarp>
            <a:normAutofit/>
          </a:bodyPr>
          <a:lstStyle/>
          <a:p>
            <a:r>
              <a:rPr lang="en-US" sz="4000" b="1" i="1" dirty="0">
                <a:solidFill>
                  <a:srgbClr val="FFFF00"/>
                </a:solidFill>
                <a:latin typeface="+mn-lt"/>
              </a:rPr>
              <a:t>CCM Analysis</a:t>
            </a:r>
          </a:p>
        </p:txBody>
      </p:sp>
      <p:pic>
        <p:nvPicPr>
          <p:cNvPr id="189443"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2117"/>
          <a:stretch/>
        </p:blipFill>
        <p:spPr bwMode="auto">
          <a:xfrm>
            <a:off x="2559050" y="1453662"/>
            <a:ext cx="7067550" cy="5188438"/>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2">
                        <a:gamma/>
                        <a:shade val="56078"/>
                        <a:invGamma/>
                      </a:schemeClr>
                    </a:gs>
                  </a:gsLst>
                  <a:lin ang="5400000" scaled="1"/>
                </a:gradFill>
              </a14:hiddenFill>
            </a:ex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78615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bwMode="auto">
          <a:xfrm>
            <a:off x="607280" y="314326"/>
            <a:ext cx="6642100" cy="701675"/>
          </a:xfrm>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88900" tIns="44450" rIns="88900" bIns="44450" numCol="1" rtlCol="0" anchor="ctr" anchorCtr="0" compatLnSpc="1">
            <a:prstTxWarp prst="textNoShape">
              <a:avLst/>
            </a:prstTxWarp>
            <a:normAutofit/>
          </a:bodyPr>
          <a:lstStyle/>
          <a:p>
            <a:r>
              <a:rPr lang="en-US" sz="4000" b="1" i="1" dirty="0">
                <a:solidFill>
                  <a:srgbClr val="FFFF00"/>
                </a:solidFill>
                <a:latin typeface="+mn-lt"/>
              </a:rPr>
              <a:t>CCM &amp; </a:t>
            </a:r>
            <a:r>
              <a:rPr lang="en-US" sz="4000" b="1" i="1" dirty="0" err="1">
                <a:solidFill>
                  <a:srgbClr val="FFFF00"/>
                </a:solidFill>
                <a:latin typeface="+mn-lt"/>
              </a:rPr>
              <a:t>Viewshed</a:t>
            </a:r>
            <a:endParaRPr lang="en-US" sz="4000" b="1" i="1" dirty="0">
              <a:solidFill>
                <a:srgbClr val="FFFF00"/>
              </a:solidFill>
              <a:latin typeface="+mn-lt"/>
            </a:endParaRPr>
          </a:p>
        </p:txBody>
      </p:sp>
      <p:pic>
        <p:nvPicPr>
          <p:cNvPr id="19046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2379"/>
          <a:stretch/>
        </p:blipFill>
        <p:spPr bwMode="auto">
          <a:xfrm>
            <a:off x="2578100" y="1465384"/>
            <a:ext cx="7035800" cy="5151315"/>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2">
                        <a:gamma/>
                        <a:shade val="56078"/>
                        <a:invGamma/>
                      </a:schemeClr>
                    </a:gs>
                  </a:gsLst>
                  <a:lin ang="5400000" scaled="1"/>
                </a:gradFill>
              </a14:hiddenFill>
            </a:ex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00284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1026"/>
          <p:cNvSpPr>
            <a:spLocks noGrp="1" noChangeArrowheads="1"/>
          </p:cNvSpPr>
          <p:nvPr>
            <p:ph type="title"/>
          </p:nvPr>
        </p:nvSpPr>
        <p:spPr bwMode="auto">
          <a:xfrm>
            <a:off x="513495" y="335757"/>
            <a:ext cx="6642100" cy="701675"/>
          </a:xfrm>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88900" tIns="44450" rIns="88900" bIns="44450" numCol="1" rtlCol="0" anchor="ctr" anchorCtr="0" compatLnSpc="1">
            <a:prstTxWarp prst="textNoShape">
              <a:avLst/>
            </a:prstTxWarp>
            <a:normAutofit/>
          </a:bodyPr>
          <a:lstStyle/>
          <a:p>
            <a:r>
              <a:rPr lang="en-US" sz="4000" b="1" i="1" dirty="0">
                <a:solidFill>
                  <a:srgbClr val="FFFF00"/>
                </a:solidFill>
                <a:latin typeface="+mn-lt"/>
              </a:rPr>
              <a:t>Facilities Management</a:t>
            </a:r>
          </a:p>
        </p:txBody>
      </p:sp>
      <p:pic>
        <p:nvPicPr>
          <p:cNvPr id="193539" name="Picture 1027" descr="F:\CONTENT\ARCVIEW\APPS\GRAPHICS\ELEC.GIF"/>
          <p:cNvPicPr>
            <a:picLocks noChangeAspect="1" noChangeArrowheads="1"/>
          </p:cNvPicPr>
          <p:nvPr/>
        </p:nvPicPr>
        <p:blipFill rotWithShape="1">
          <a:blip r:embed="rId3">
            <a:extLst>
              <a:ext uri="{28A0092B-C50C-407E-A947-70E740481C1C}">
                <a14:useLocalDpi xmlns:a14="http://schemas.microsoft.com/office/drawing/2010/main" val="0"/>
              </a:ext>
            </a:extLst>
          </a:blip>
          <a:srcRect t="2731"/>
          <a:stretch/>
        </p:blipFill>
        <p:spPr bwMode="auto">
          <a:xfrm>
            <a:off x="5715000" y="3528646"/>
            <a:ext cx="4400550" cy="3210293"/>
          </a:xfrm>
          <a:prstGeom prst="rect">
            <a:avLst/>
          </a:prstGeom>
          <a:noFill/>
          <a:extLst>
            <a:ext uri="{909E8E84-426E-40DD-AFC4-6F175D3DCCD1}">
              <a14:hiddenFill xmlns:a14="http://schemas.microsoft.com/office/drawing/2010/main">
                <a:solidFill>
                  <a:srgbClr val="FFFFFF"/>
                </a:solidFill>
              </a14:hiddenFill>
            </a:ext>
          </a:extLst>
        </p:spPr>
      </p:pic>
      <p:pic>
        <p:nvPicPr>
          <p:cNvPr id="193540" name="Picture 1028" descr="F:\CONTENT\ARCVIEW\APPS\GRAPHICS\LOCA.GIF"/>
          <p:cNvPicPr>
            <a:picLocks noChangeAspect="1" noChangeArrowheads="1"/>
          </p:cNvPicPr>
          <p:nvPr/>
        </p:nvPicPr>
        <p:blipFill rotWithShape="1">
          <a:blip r:embed="rId4">
            <a:extLst>
              <a:ext uri="{28A0092B-C50C-407E-A947-70E740481C1C}">
                <a14:useLocalDpi xmlns:a14="http://schemas.microsoft.com/office/drawing/2010/main" val="0"/>
              </a:ext>
            </a:extLst>
          </a:blip>
          <a:srcRect t="3140"/>
          <a:stretch/>
        </p:blipFill>
        <p:spPr bwMode="auto">
          <a:xfrm>
            <a:off x="2305050" y="1453662"/>
            <a:ext cx="3790950" cy="2580177"/>
          </a:xfrm>
          <a:prstGeom prst="rect">
            <a:avLst/>
          </a:prstGeom>
          <a:noFill/>
          <a:extLst>
            <a:ext uri="{909E8E84-426E-40DD-AFC4-6F175D3DCCD1}">
              <a14:hiddenFill xmlns:a14="http://schemas.microsoft.com/office/drawing/2010/main">
                <a:solidFill>
                  <a:srgbClr val="FFFFFF"/>
                </a:solidFill>
              </a14:hiddenFill>
            </a:ext>
          </a:extLst>
        </p:spPr>
      </p:pic>
      <p:pic>
        <p:nvPicPr>
          <p:cNvPr id="193541" name="Picture 1029" descr="F:\CONTENT\ARCVIEW\APPS\GRAPHICS\PIPE.GIF"/>
          <p:cNvPicPr>
            <a:picLocks noChangeAspect="1" noChangeArrowheads="1"/>
          </p:cNvPicPr>
          <p:nvPr/>
        </p:nvPicPr>
        <p:blipFill rotWithShape="1">
          <a:blip r:embed="rId5">
            <a:extLst>
              <a:ext uri="{28A0092B-C50C-407E-A947-70E740481C1C}">
                <a14:useLocalDpi xmlns:a14="http://schemas.microsoft.com/office/drawing/2010/main" val="0"/>
              </a:ext>
            </a:extLst>
          </a:blip>
          <a:srcRect t="3659"/>
          <a:stretch/>
        </p:blipFill>
        <p:spPr bwMode="auto">
          <a:xfrm>
            <a:off x="2305050" y="4126523"/>
            <a:ext cx="3409950" cy="2315553"/>
          </a:xfrm>
          <a:prstGeom prst="rect">
            <a:avLst/>
          </a:prstGeom>
          <a:noFill/>
          <a:extLst>
            <a:ext uri="{909E8E84-426E-40DD-AFC4-6F175D3DCCD1}">
              <a14:hiddenFill xmlns:a14="http://schemas.microsoft.com/office/drawing/2010/main">
                <a:solidFill>
                  <a:srgbClr val="FFFFFF"/>
                </a:solidFill>
              </a14:hiddenFill>
            </a:ext>
          </a:extLst>
        </p:spPr>
      </p:pic>
      <p:pic>
        <p:nvPicPr>
          <p:cNvPr id="193542" name="Picture 1030" descr="F:\CONTENT\ARCVIEW\APPS\GRAPHICS\PUBL.GIF"/>
          <p:cNvPicPr>
            <a:picLocks noChangeAspect="1" noChangeArrowheads="1"/>
          </p:cNvPicPr>
          <p:nvPr/>
        </p:nvPicPr>
        <p:blipFill rotWithShape="1">
          <a:blip r:embed="rId6">
            <a:extLst>
              <a:ext uri="{28A0092B-C50C-407E-A947-70E740481C1C}">
                <a14:useLocalDpi xmlns:a14="http://schemas.microsoft.com/office/drawing/2010/main" val="0"/>
              </a:ext>
            </a:extLst>
          </a:blip>
          <a:srcRect t="4528" b="1"/>
          <a:stretch/>
        </p:blipFill>
        <p:spPr bwMode="auto">
          <a:xfrm>
            <a:off x="6096000" y="1512276"/>
            <a:ext cx="3581400" cy="2564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69282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nodeType="clickEffect">
                                  <p:stCondLst>
                                    <p:cond delay="0"/>
                                  </p:stCondLst>
                                  <p:childTnLst>
                                    <p:set>
                                      <p:cBhvr>
                                        <p:cTn id="6" dur="1" fill="hold">
                                          <p:stCondLst>
                                            <p:cond delay="0"/>
                                          </p:stCondLst>
                                        </p:cTn>
                                        <p:tgtEl>
                                          <p:spTgt spid="193540"/>
                                        </p:tgtEl>
                                        <p:attrNameLst>
                                          <p:attrName>style.visibility</p:attrName>
                                        </p:attrNameLst>
                                      </p:cBhvr>
                                      <p:to>
                                        <p:strVal val="visible"/>
                                      </p:to>
                                    </p:set>
                                    <p:anim calcmode="lin" valueType="num">
                                      <p:cBhvr>
                                        <p:cTn id="7" dur="500" fill="hold"/>
                                        <p:tgtEl>
                                          <p:spTgt spid="193540"/>
                                        </p:tgtEl>
                                        <p:attrNameLst>
                                          <p:attrName>ppt_w</p:attrName>
                                        </p:attrNameLst>
                                      </p:cBhvr>
                                      <p:tavLst>
                                        <p:tav tm="0">
                                          <p:val>
                                            <p:fltVal val="0"/>
                                          </p:val>
                                        </p:tav>
                                        <p:tav tm="100000">
                                          <p:val>
                                            <p:strVal val="#ppt_w"/>
                                          </p:val>
                                        </p:tav>
                                      </p:tavLst>
                                    </p:anim>
                                    <p:anim calcmode="lin" valueType="num">
                                      <p:cBhvr>
                                        <p:cTn id="8" dur="500" fill="hold"/>
                                        <p:tgtEl>
                                          <p:spTgt spid="193540"/>
                                        </p:tgtEl>
                                        <p:attrNameLst>
                                          <p:attrName>ppt_h</p:attrName>
                                        </p:attrNameLst>
                                      </p:cBhvr>
                                      <p:tavLst>
                                        <p:tav tm="0">
                                          <p:val>
                                            <p:fltVal val="0"/>
                                          </p:val>
                                        </p:tav>
                                        <p:tav tm="100000">
                                          <p:val>
                                            <p:strVal val="#ppt_h"/>
                                          </p:val>
                                        </p:tav>
                                      </p:tavLst>
                                    </p:anim>
                                    <p:anim calcmode="lin" valueType="num">
                                      <p:cBhvr>
                                        <p:cTn id="9" dur="500" fill="hold"/>
                                        <p:tgtEl>
                                          <p:spTgt spid="193540"/>
                                        </p:tgtEl>
                                        <p:attrNameLst>
                                          <p:attrName>ppt_x</p:attrName>
                                        </p:attrNameLst>
                                      </p:cBhvr>
                                      <p:tavLst>
                                        <p:tav tm="0">
                                          <p:val>
                                            <p:fltVal val="0.5"/>
                                          </p:val>
                                        </p:tav>
                                        <p:tav tm="100000">
                                          <p:val>
                                            <p:strVal val="#ppt_x"/>
                                          </p:val>
                                        </p:tav>
                                      </p:tavLst>
                                    </p:anim>
                                    <p:anim calcmode="lin" valueType="num">
                                      <p:cBhvr>
                                        <p:cTn id="10" dur="500" fill="hold"/>
                                        <p:tgtEl>
                                          <p:spTgt spid="193540"/>
                                        </p:tgtEl>
                                        <p:attrNameLst>
                                          <p:attrName>ppt_y</p:attrName>
                                        </p:attrNameLst>
                                      </p:cBhvr>
                                      <p:tavLst>
                                        <p:tav tm="0">
                                          <p:val>
                                            <p:fltVal val="0.5"/>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nodeType="clickEffect">
                                  <p:stCondLst>
                                    <p:cond delay="0"/>
                                  </p:stCondLst>
                                  <p:childTnLst>
                                    <p:set>
                                      <p:cBhvr>
                                        <p:cTn id="14" dur="1" fill="hold">
                                          <p:stCondLst>
                                            <p:cond delay="0"/>
                                          </p:stCondLst>
                                        </p:cTn>
                                        <p:tgtEl>
                                          <p:spTgt spid="193539"/>
                                        </p:tgtEl>
                                        <p:attrNameLst>
                                          <p:attrName>style.visibility</p:attrName>
                                        </p:attrNameLst>
                                      </p:cBhvr>
                                      <p:to>
                                        <p:strVal val="visible"/>
                                      </p:to>
                                    </p:set>
                                    <p:anim calcmode="lin" valueType="num">
                                      <p:cBhvr>
                                        <p:cTn id="15" dur="500" fill="hold"/>
                                        <p:tgtEl>
                                          <p:spTgt spid="193539"/>
                                        </p:tgtEl>
                                        <p:attrNameLst>
                                          <p:attrName>ppt_w</p:attrName>
                                        </p:attrNameLst>
                                      </p:cBhvr>
                                      <p:tavLst>
                                        <p:tav tm="0">
                                          <p:val>
                                            <p:fltVal val="0"/>
                                          </p:val>
                                        </p:tav>
                                        <p:tav tm="100000">
                                          <p:val>
                                            <p:strVal val="#ppt_w"/>
                                          </p:val>
                                        </p:tav>
                                      </p:tavLst>
                                    </p:anim>
                                    <p:anim calcmode="lin" valueType="num">
                                      <p:cBhvr>
                                        <p:cTn id="16" dur="500" fill="hold"/>
                                        <p:tgtEl>
                                          <p:spTgt spid="193539"/>
                                        </p:tgtEl>
                                        <p:attrNameLst>
                                          <p:attrName>ppt_h</p:attrName>
                                        </p:attrNameLst>
                                      </p:cBhvr>
                                      <p:tavLst>
                                        <p:tav tm="0">
                                          <p:val>
                                            <p:fltVal val="0"/>
                                          </p:val>
                                        </p:tav>
                                        <p:tav tm="100000">
                                          <p:val>
                                            <p:strVal val="#ppt_h"/>
                                          </p:val>
                                        </p:tav>
                                      </p:tavLst>
                                    </p:anim>
                                    <p:anim calcmode="lin" valueType="num">
                                      <p:cBhvr>
                                        <p:cTn id="17" dur="500" fill="hold"/>
                                        <p:tgtEl>
                                          <p:spTgt spid="193539"/>
                                        </p:tgtEl>
                                        <p:attrNameLst>
                                          <p:attrName>ppt_x</p:attrName>
                                        </p:attrNameLst>
                                      </p:cBhvr>
                                      <p:tavLst>
                                        <p:tav tm="0">
                                          <p:val>
                                            <p:fltVal val="0.5"/>
                                          </p:val>
                                        </p:tav>
                                        <p:tav tm="100000">
                                          <p:val>
                                            <p:strVal val="#ppt_x"/>
                                          </p:val>
                                        </p:tav>
                                      </p:tavLst>
                                    </p:anim>
                                    <p:anim calcmode="lin" valueType="num">
                                      <p:cBhvr>
                                        <p:cTn id="18" dur="500" fill="hold"/>
                                        <p:tgtEl>
                                          <p:spTgt spid="193539"/>
                                        </p:tgtEl>
                                        <p:attrNameLst>
                                          <p:attrName>ppt_y</p:attrName>
                                        </p:attrNameLst>
                                      </p:cBhvr>
                                      <p:tavLst>
                                        <p:tav tm="0">
                                          <p:val>
                                            <p:fltVal val="0.5"/>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nodeType="clickEffect">
                                  <p:stCondLst>
                                    <p:cond delay="0"/>
                                  </p:stCondLst>
                                  <p:childTnLst>
                                    <p:set>
                                      <p:cBhvr>
                                        <p:cTn id="22" dur="1" fill="hold">
                                          <p:stCondLst>
                                            <p:cond delay="0"/>
                                          </p:stCondLst>
                                        </p:cTn>
                                        <p:tgtEl>
                                          <p:spTgt spid="193541"/>
                                        </p:tgtEl>
                                        <p:attrNameLst>
                                          <p:attrName>style.visibility</p:attrName>
                                        </p:attrNameLst>
                                      </p:cBhvr>
                                      <p:to>
                                        <p:strVal val="visible"/>
                                      </p:to>
                                    </p:set>
                                    <p:anim calcmode="lin" valueType="num">
                                      <p:cBhvr>
                                        <p:cTn id="23" dur="500" fill="hold"/>
                                        <p:tgtEl>
                                          <p:spTgt spid="193541"/>
                                        </p:tgtEl>
                                        <p:attrNameLst>
                                          <p:attrName>ppt_w</p:attrName>
                                        </p:attrNameLst>
                                      </p:cBhvr>
                                      <p:tavLst>
                                        <p:tav tm="0">
                                          <p:val>
                                            <p:fltVal val="0"/>
                                          </p:val>
                                        </p:tav>
                                        <p:tav tm="100000">
                                          <p:val>
                                            <p:strVal val="#ppt_w"/>
                                          </p:val>
                                        </p:tav>
                                      </p:tavLst>
                                    </p:anim>
                                    <p:anim calcmode="lin" valueType="num">
                                      <p:cBhvr>
                                        <p:cTn id="24" dur="500" fill="hold"/>
                                        <p:tgtEl>
                                          <p:spTgt spid="193541"/>
                                        </p:tgtEl>
                                        <p:attrNameLst>
                                          <p:attrName>ppt_h</p:attrName>
                                        </p:attrNameLst>
                                      </p:cBhvr>
                                      <p:tavLst>
                                        <p:tav tm="0">
                                          <p:val>
                                            <p:fltVal val="0"/>
                                          </p:val>
                                        </p:tav>
                                        <p:tav tm="100000">
                                          <p:val>
                                            <p:strVal val="#ppt_h"/>
                                          </p:val>
                                        </p:tav>
                                      </p:tavLst>
                                    </p:anim>
                                    <p:anim calcmode="lin" valueType="num">
                                      <p:cBhvr>
                                        <p:cTn id="25" dur="500" fill="hold"/>
                                        <p:tgtEl>
                                          <p:spTgt spid="193541"/>
                                        </p:tgtEl>
                                        <p:attrNameLst>
                                          <p:attrName>ppt_x</p:attrName>
                                        </p:attrNameLst>
                                      </p:cBhvr>
                                      <p:tavLst>
                                        <p:tav tm="0">
                                          <p:val>
                                            <p:fltVal val="0.5"/>
                                          </p:val>
                                        </p:tav>
                                        <p:tav tm="100000">
                                          <p:val>
                                            <p:strVal val="#ppt_x"/>
                                          </p:val>
                                        </p:tav>
                                      </p:tavLst>
                                    </p:anim>
                                    <p:anim calcmode="lin" valueType="num">
                                      <p:cBhvr>
                                        <p:cTn id="26" dur="500" fill="hold"/>
                                        <p:tgtEl>
                                          <p:spTgt spid="193541"/>
                                        </p:tgtEl>
                                        <p:attrNameLst>
                                          <p:attrName>ppt_y</p:attrName>
                                        </p:attrNameLst>
                                      </p:cBhvr>
                                      <p:tavLst>
                                        <p:tav tm="0">
                                          <p:val>
                                            <p:fltVal val="0.5"/>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528" fill="hold" nodeType="clickEffect">
                                  <p:stCondLst>
                                    <p:cond delay="0"/>
                                  </p:stCondLst>
                                  <p:childTnLst>
                                    <p:set>
                                      <p:cBhvr>
                                        <p:cTn id="30" dur="1" fill="hold">
                                          <p:stCondLst>
                                            <p:cond delay="0"/>
                                          </p:stCondLst>
                                        </p:cTn>
                                        <p:tgtEl>
                                          <p:spTgt spid="193542"/>
                                        </p:tgtEl>
                                        <p:attrNameLst>
                                          <p:attrName>style.visibility</p:attrName>
                                        </p:attrNameLst>
                                      </p:cBhvr>
                                      <p:to>
                                        <p:strVal val="visible"/>
                                      </p:to>
                                    </p:set>
                                    <p:anim calcmode="lin" valueType="num">
                                      <p:cBhvr>
                                        <p:cTn id="31" dur="500" fill="hold"/>
                                        <p:tgtEl>
                                          <p:spTgt spid="193542"/>
                                        </p:tgtEl>
                                        <p:attrNameLst>
                                          <p:attrName>ppt_w</p:attrName>
                                        </p:attrNameLst>
                                      </p:cBhvr>
                                      <p:tavLst>
                                        <p:tav tm="0">
                                          <p:val>
                                            <p:fltVal val="0"/>
                                          </p:val>
                                        </p:tav>
                                        <p:tav tm="100000">
                                          <p:val>
                                            <p:strVal val="#ppt_w"/>
                                          </p:val>
                                        </p:tav>
                                      </p:tavLst>
                                    </p:anim>
                                    <p:anim calcmode="lin" valueType="num">
                                      <p:cBhvr>
                                        <p:cTn id="32" dur="500" fill="hold"/>
                                        <p:tgtEl>
                                          <p:spTgt spid="193542"/>
                                        </p:tgtEl>
                                        <p:attrNameLst>
                                          <p:attrName>ppt_h</p:attrName>
                                        </p:attrNameLst>
                                      </p:cBhvr>
                                      <p:tavLst>
                                        <p:tav tm="0">
                                          <p:val>
                                            <p:fltVal val="0"/>
                                          </p:val>
                                        </p:tav>
                                        <p:tav tm="100000">
                                          <p:val>
                                            <p:strVal val="#ppt_h"/>
                                          </p:val>
                                        </p:tav>
                                      </p:tavLst>
                                    </p:anim>
                                    <p:anim calcmode="lin" valueType="num">
                                      <p:cBhvr>
                                        <p:cTn id="33" dur="500" fill="hold"/>
                                        <p:tgtEl>
                                          <p:spTgt spid="193542"/>
                                        </p:tgtEl>
                                        <p:attrNameLst>
                                          <p:attrName>ppt_x</p:attrName>
                                        </p:attrNameLst>
                                      </p:cBhvr>
                                      <p:tavLst>
                                        <p:tav tm="0">
                                          <p:val>
                                            <p:fltVal val="0.5"/>
                                          </p:val>
                                        </p:tav>
                                        <p:tav tm="100000">
                                          <p:val>
                                            <p:strVal val="#ppt_x"/>
                                          </p:val>
                                        </p:tav>
                                      </p:tavLst>
                                    </p:anim>
                                    <p:anim calcmode="lin" valueType="num">
                                      <p:cBhvr>
                                        <p:cTn id="34" dur="500" fill="hold"/>
                                        <p:tgtEl>
                                          <p:spTgt spid="193542"/>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bwMode="auto">
          <a:xfrm>
            <a:off x="665896" y="302603"/>
            <a:ext cx="6642100" cy="701675"/>
          </a:xfrm>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88900" tIns="44450" rIns="88900" bIns="44450" numCol="1" rtlCol="0" anchor="ctr" anchorCtr="0" compatLnSpc="1">
            <a:prstTxWarp prst="textNoShape">
              <a:avLst/>
            </a:prstTxWarp>
            <a:normAutofit/>
          </a:bodyPr>
          <a:lstStyle/>
          <a:p>
            <a:r>
              <a:rPr lang="en-US" sz="4000" b="1" i="1" dirty="0">
                <a:solidFill>
                  <a:srgbClr val="FFFF00"/>
                </a:solidFill>
                <a:latin typeface="+mn-lt"/>
              </a:rPr>
              <a:t>Airfields</a:t>
            </a:r>
          </a:p>
        </p:txBody>
      </p:sp>
      <p:pic>
        <p:nvPicPr>
          <p:cNvPr id="19149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2302"/>
          <a:stretch/>
        </p:blipFill>
        <p:spPr bwMode="auto">
          <a:xfrm>
            <a:off x="2482850" y="1477108"/>
            <a:ext cx="7213600" cy="5285642"/>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2">
                        <a:gamma/>
                        <a:shade val="56078"/>
                        <a:invGamma/>
                      </a:schemeClr>
                    </a:gs>
                  </a:gsLst>
                  <a:lin ang="5400000" scaled="1"/>
                </a:gradFill>
              </a14:hiddenFill>
            </a:ex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8685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bwMode="auto">
          <a:xfrm>
            <a:off x="536942" y="314326"/>
            <a:ext cx="6642100" cy="701675"/>
          </a:xfrm>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88900" tIns="44450" rIns="88900" bIns="44450" numCol="1" rtlCol="0" anchor="ctr" anchorCtr="0" compatLnSpc="1">
            <a:prstTxWarp prst="textNoShape">
              <a:avLst/>
            </a:prstTxWarp>
            <a:normAutofit/>
          </a:bodyPr>
          <a:lstStyle/>
          <a:p>
            <a:r>
              <a:rPr lang="en-US" sz="4000" b="1" i="1" dirty="0">
                <a:solidFill>
                  <a:srgbClr val="FFFF00"/>
                </a:solidFill>
                <a:latin typeface="+mn-lt"/>
              </a:rPr>
              <a:t>Network Analysis</a:t>
            </a:r>
          </a:p>
        </p:txBody>
      </p:sp>
      <p:pic>
        <p:nvPicPr>
          <p:cNvPr id="195587" name="Picture 3" descr="C:\Temp\net13.TIF"/>
          <p:cNvPicPr>
            <a:picLocks noChangeAspect="1" noChangeArrowheads="1"/>
          </p:cNvPicPr>
          <p:nvPr/>
        </p:nvPicPr>
        <p:blipFill rotWithShape="1">
          <a:blip r:embed="rId3">
            <a:extLst>
              <a:ext uri="{28A0092B-C50C-407E-A947-70E740481C1C}">
                <a14:useLocalDpi xmlns:a14="http://schemas.microsoft.com/office/drawing/2010/main" val="0"/>
              </a:ext>
            </a:extLst>
          </a:blip>
          <a:srcRect t="5012"/>
          <a:stretch/>
        </p:blipFill>
        <p:spPr bwMode="auto">
          <a:xfrm>
            <a:off x="2635251" y="1559169"/>
            <a:ext cx="6931025" cy="5240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4129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1955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bwMode="auto">
          <a:xfrm>
            <a:off x="618392" y="181708"/>
            <a:ext cx="9873762" cy="838200"/>
          </a:xfrm>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88900" tIns="44450" rIns="88900" bIns="44450" numCol="1" rtlCol="0" anchor="ctr" anchorCtr="0" compatLnSpc="1">
            <a:prstTxWarp prst="textNoShape">
              <a:avLst/>
            </a:prstTxWarp>
            <a:normAutofit/>
          </a:bodyPr>
          <a:lstStyle/>
          <a:p>
            <a:r>
              <a:rPr lang="en-US" sz="4000" b="1" i="1" dirty="0">
                <a:solidFill>
                  <a:srgbClr val="FFFF00"/>
                </a:solidFill>
                <a:latin typeface="+mn-lt"/>
              </a:rPr>
              <a:t>Antenna Propagation </a:t>
            </a:r>
            <a:r>
              <a:rPr lang="en-US" sz="4000" b="1" i="1" dirty="0" err="1">
                <a:solidFill>
                  <a:srgbClr val="FFFF00"/>
                </a:solidFill>
                <a:latin typeface="+mn-lt"/>
              </a:rPr>
              <a:t>Coverages</a:t>
            </a:r>
            <a:endParaRPr lang="en-US" sz="4000" b="1" i="1" dirty="0">
              <a:solidFill>
                <a:srgbClr val="FFFF00"/>
              </a:solidFill>
              <a:latin typeface="+mn-lt"/>
            </a:endParaRPr>
          </a:p>
        </p:txBody>
      </p:sp>
      <p:pic>
        <p:nvPicPr>
          <p:cNvPr id="24985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2642"/>
          <a:stretch/>
        </p:blipFill>
        <p:spPr bwMode="auto">
          <a:xfrm>
            <a:off x="2362200" y="1348154"/>
            <a:ext cx="7467600" cy="5452696"/>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2">
                        <a:gamma/>
                        <a:shade val="56078"/>
                        <a:invGamma/>
                      </a:schemeClr>
                    </a:gs>
                  </a:gsLst>
                  <a:lin ang="5400000" scaled="1"/>
                </a:gradFill>
              </a14:hiddenFill>
            </a:ex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771101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bwMode="auto">
          <a:xfrm>
            <a:off x="465991" y="199292"/>
            <a:ext cx="9146931" cy="762000"/>
          </a:xfrm>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88900" tIns="44450" rIns="88900" bIns="44450" numCol="1" rtlCol="0" anchor="ctr" anchorCtr="0" compatLnSpc="1">
            <a:prstTxWarp prst="textNoShape">
              <a:avLst/>
            </a:prstTxWarp>
            <a:normAutofit/>
          </a:bodyPr>
          <a:lstStyle/>
          <a:p>
            <a:r>
              <a:rPr lang="en-US" sz="4000" b="1" i="1" dirty="0">
                <a:solidFill>
                  <a:srgbClr val="FFFF00"/>
                </a:solidFill>
                <a:latin typeface="+mn-lt"/>
              </a:rPr>
              <a:t>Observation Post Siting Analysis</a:t>
            </a:r>
          </a:p>
        </p:txBody>
      </p:sp>
      <p:pic>
        <p:nvPicPr>
          <p:cNvPr id="250883" name="Picture 3" descr="C:\TEMP\jdscrnsh.bmp"/>
          <p:cNvPicPr>
            <a:picLocks noChangeAspect="1" noChangeArrowheads="1"/>
          </p:cNvPicPr>
          <p:nvPr/>
        </p:nvPicPr>
        <p:blipFill rotWithShape="1">
          <a:blip r:embed="rId2">
            <a:extLst>
              <a:ext uri="{28A0092B-C50C-407E-A947-70E740481C1C}">
                <a14:useLocalDpi xmlns:a14="http://schemas.microsoft.com/office/drawing/2010/main" val="0"/>
              </a:ext>
            </a:extLst>
          </a:blip>
          <a:srcRect t="2432"/>
          <a:stretch/>
        </p:blipFill>
        <p:spPr bwMode="auto">
          <a:xfrm>
            <a:off x="2362200" y="1277814"/>
            <a:ext cx="7391400" cy="5408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865414"/>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bwMode="auto">
          <a:xfrm>
            <a:off x="947250" y="326049"/>
            <a:ext cx="6642100" cy="701675"/>
          </a:xfrm>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88900" tIns="44450" rIns="88900" bIns="44450" numCol="1" rtlCol="0" anchor="ctr" anchorCtr="0" compatLnSpc="1">
            <a:prstTxWarp prst="textNoShape">
              <a:avLst/>
            </a:prstTxWarp>
            <a:normAutofit/>
          </a:bodyPr>
          <a:lstStyle/>
          <a:p>
            <a:r>
              <a:rPr lang="en-US" sz="4000" b="1" i="1" dirty="0">
                <a:solidFill>
                  <a:srgbClr val="FFFF00"/>
                </a:solidFill>
                <a:latin typeface="+mn-lt"/>
              </a:rPr>
              <a:t>Perspective Views</a:t>
            </a:r>
          </a:p>
        </p:txBody>
      </p:sp>
      <p:pic>
        <p:nvPicPr>
          <p:cNvPr id="194563" name="Picture 3" descr="D:\temp\3d_1.tif"/>
          <p:cNvPicPr>
            <a:picLocks noChangeAspect="1" noChangeArrowheads="1"/>
          </p:cNvPicPr>
          <p:nvPr/>
        </p:nvPicPr>
        <p:blipFill rotWithShape="1">
          <a:blip r:embed="rId3">
            <a:extLst>
              <a:ext uri="{28A0092B-C50C-407E-A947-70E740481C1C}">
                <a14:useLocalDpi xmlns:a14="http://schemas.microsoft.com/office/drawing/2010/main" val="0"/>
              </a:ext>
            </a:extLst>
          </a:blip>
          <a:srcRect t="3674"/>
          <a:stretch/>
        </p:blipFill>
        <p:spPr bwMode="auto">
          <a:xfrm>
            <a:off x="2884488" y="1582615"/>
            <a:ext cx="6413500" cy="4865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36484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1162</TotalTime>
  <Words>1921</Words>
  <Application>Microsoft Office PowerPoint</Application>
  <PresentationFormat>Widescreen</PresentationFormat>
  <Paragraphs>223</Paragraphs>
  <Slides>43</Slides>
  <Notes>17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43</vt:i4>
      </vt:variant>
    </vt:vector>
  </HeadingPairs>
  <TitlesOfParts>
    <vt:vector size="51" baseType="lpstr">
      <vt:lpstr>Arial</vt:lpstr>
      <vt:lpstr>Arial Black</vt:lpstr>
      <vt:lpstr>Calibri</vt:lpstr>
      <vt:lpstr>Calibri Light</vt:lpstr>
      <vt:lpstr>Cambria</vt:lpstr>
      <vt:lpstr>Celestial</vt:lpstr>
      <vt:lpstr>Photo Editor Photo</vt:lpstr>
      <vt:lpstr>Clip</vt:lpstr>
      <vt:lpstr>Introdution to geographic information systems</vt:lpstr>
      <vt:lpstr>Presentation Outline</vt:lpstr>
      <vt:lpstr>Lesson Objectives</vt:lpstr>
      <vt:lpstr>“gis” stands for?</vt:lpstr>
      <vt:lpstr>Geographic</vt:lpstr>
      <vt:lpstr>Information</vt:lpstr>
      <vt:lpstr>System</vt:lpstr>
      <vt:lpstr>What is an Information System?</vt:lpstr>
      <vt:lpstr>What is a “gis”?</vt:lpstr>
      <vt:lpstr>Defining a “gis”?</vt:lpstr>
      <vt:lpstr>Contd…</vt:lpstr>
      <vt:lpstr>The Feature Model</vt:lpstr>
      <vt:lpstr>Features</vt:lpstr>
      <vt:lpstr>PowerPoint Presentation</vt:lpstr>
      <vt:lpstr>Gis in the planning process</vt:lpstr>
      <vt:lpstr>Gis work in layers</vt:lpstr>
      <vt:lpstr>Capabilities of GIS / Subsystems</vt:lpstr>
      <vt:lpstr>Capabilities of GIS / Subsystems</vt:lpstr>
      <vt:lpstr>Key activities/tasks in a “gis”</vt:lpstr>
      <vt:lpstr>“gis” processing flow</vt:lpstr>
      <vt:lpstr>How “gis” works?</vt:lpstr>
      <vt:lpstr>“gis” Data</vt:lpstr>
      <vt:lpstr>“gis” Softwares</vt:lpstr>
      <vt:lpstr>“gis” Hardware</vt:lpstr>
      <vt:lpstr>“gis” workflows</vt:lpstr>
      <vt:lpstr>SPATIAL ANALYSIS METHODS</vt:lpstr>
      <vt:lpstr>What “gis” can do for us?</vt:lpstr>
      <vt:lpstr>PowerPoint Presentation</vt:lpstr>
      <vt:lpstr>PowerPoint Presentation</vt:lpstr>
      <vt:lpstr>PowerPoint Presentation</vt:lpstr>
      <vt:lpstr>PowerPoint Presentation</vt:lpstr>
      <vt:lpstr>PowerPoint Presentation</vt:lpstr>
      <vt:lpstr>Applications of GIS </vt:lpstr>
      <vt:lpstr>Natural Resources ManagemenT</vt:lpstr>
      <vt:lpstr>Facilities Management</vt:lpstr>
      <vt:lpstr>CCM Analysis</vt:lpstr>
      <vt:lpstr>CCM &amp; Viewshed</vt:lpstr>
      <vt:lpstr>Facilities Management</vt:lpstr>
      <vt:lpstr>Airfields</vt:lpstr>
      <vt:lpstr>Network Analysis</vt:lpstr>
      <vt:lpstr>Antenna Propagation Coverages</vt:lpstr>
      <vt:lpstr>Observation Post Siting Analysis</vt:lpstr>
      <vt:lpstr>Perspective Views</vt:lpstr>
    </vt:vector>
  </TitlesOfParts>
  <Company>IGIS - NUST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 Projections and Coordinate System</dc:title>
  <dc:creator>Junaid Aziz Khan</dc:creator>
  <cp:lastModifiedBy>Mr. Junaid Aziz Khan</cp:lastModifiedBy>
  <cp:revision>39</cp:revision>
  <dcterms:created xsi:type="dcterms:W3CDTF">2013-09-21T01:20:28Z</dcterms:created>
  <dcterms:modified xsi:type="dcterms:W3CDTF">2015-10-02T06:23:31Z</dcterms:modified>
</cp:coreProperties>
</file>